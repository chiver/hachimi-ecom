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8" r:id="rId4"/>
    <p:sldId id="260" r:id="rId5"/>
    <p:sldId id="264" r:id="rId7"/>
    <p:sldId id="265" r:id="rId8"/>
    <p:sldId id="266" r:id="rId9"/>
    <p:sldId id="267" r:id="rId10"/>
    <p:sldId id="268" r:id="rId11"/>
    <p:sldId id="285" r:id="rId12"/>
    <p:sldId id="270" r:id="rId13"/>
    <p:sldId id="272" r:id="rId14"/>
    <p:sldId id="273" r:id="rId15"/>
    <p:sldId id="278" r:id="rId16"/>
    <p:sldId id="274" r:id="rId17"/>
    <p:sldId id="275" r:id="rId18"/>
    <p:sldId id="276" r:id="rId19"/>
    <p:sldId id="279" r:id="rId20"/>
    <p:sldId id="280" r:id="rId21"/>
    <p:sldId id="281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-291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hyperlink" Target="http://shop554257226.taobao.com/index.ht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268208" y="611284"/>
            <a:ext cx="7810512" cy="142873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C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89493" y="3953087"/>
            <a:ext cx="307255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</a:rPr>
              <a:t>2017/05/25  </a:t>
            </a:r>
            <a:r>
              <a:rPr lang="zh-CN" altLang="en-US" sz="1600" dirty="0">
                <a:solidFill>
                  <a:schemeClr val="bg1"/>
                </a:solidFill>
              </a:rPr>
              <a:t>品牌部 </a:t>
            </a: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06133" y="679873"/>
            <a:ext cx="7179733" cy="912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335" dirty="0">
                <a:solidFill>
                  <a:srgbClr val="0076D0"/>
                </a:solidFill>
              </a:rPr>
              <a:t>      </a:t>
            </a:r>
            <a:r>
              <a:rPr lang="zh-CN" altLang="zh-CN" sz="5335" dirty="0">
                <a:solidFill>
                  <a:srgbClr val="0076D0"/>
                </a:solidFill>
              </a:rPr>
              <a:t>产品市场调研分析</a:t>
            </a:r>
            <a:endParaRPr lang="zh-CN" altLang="zh-CN" sz="5335" dirty="0">
              <a:solidFill>
                <a:srgbClr val="0076D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581525" y="29049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3">
            <a:hlinkClick r:id="rId1"/>
          </p:cNvPr>
          <p:cNvSpPr>
            <a:spLocks noChangeArrowheads="1"/>
          </p:cNvSpPr>
          <p:nvPr/>
        </p:nvSpPr>
        <p:spPr bwMode="auto">
          <a:xfrm>
            <a:off x="4581525" y="60926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21831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b="1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背景概述</a:t>
            </a:r>
            <a:r>
              <a:rPr lang="en-US" altLang="zh-CN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60" y="1316567"/>
            <a:ext cx="393615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8"/>
          <p:cNvSpPr txBox="1"/>
          <p:nvPr/>
        </p:nvSpPr>
        <p:spPr>
          <a:xfrm>
            <a:off x="728716" y="5342804"/>
            <a:ext cx="129370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针对一个或多个具体的产品进行用户评价调研的过程。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31893" y="1935480"/>
            <a:ext cx="4987713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>
                <a:solidFill>
                  <a:srgbClr val="0076D0"/>
                </a:solidFill>
                <a:latin typeface="微软雅黑" panose="020B0503020204020204" charset="-122"/>
                <a:ea typeface="微软雅黑" panose="020B0503020204020204" charset="-122"/>
              </a:rPr>
              <a:t>Best sellers</a:t>
            </a:r>
            <a:r>
              <a:rPr lang="zh-CN" altLang="en-US" sz="1865" dirty="0">
                <a:solidFill>
                  <a:srgbClr val="0076D0"/>
                </a:solidFill>
                <a:latin typeface="微软雅黑" panose="020B0503020204020204" charset="-122"/>
                <a:ea typeface="微软雅黑" panose="020B0503020204020204" charset="-122"/>
              </a:rPr>
              <a:t>目录调研</a:t>
            </a:r>
            <a:endParaRPr lang="zh-CN" altLang="en-US" sz="1865" dirty="0">
              <a:solidFill>
                <a:srgbClr val="0076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8"/>
          <p:cNvSpPr txBox="1"/>
          <p:nvPr/>
        </p:nvSpPr>
        <p:spPr>
          <a:xfrm>
            <a:off x="331893" y="3351107"/>
            <a:ext cx="6142567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65" dirty="0">
                <a:solidFill>
                  <a:srgbClr val="0076D0"/>
                </a:solidFill>
                <a:latin typeface="微软雅黑" panose="020B0503020204020204" charset="-122"/>
                <a:ea typeface="微软雅黑" panose="020B0503020204020204" charset="-122"/>
              </a:rPr>
              <a:t>同类竞品调研</a:t>
            </a:r>
            <a:endParaRPr lang="zh-CN" altLang="en-US" sz="1865" dirty="0">
              <a:solidFill>
                <a:srgbClr val="0076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8"/>
          <p:cNvSpPr txBox="1"/>
          <p:nvPr/>
        </p:nvSpPr>
        <p:spPr>
          <a:xfrm>
            <a:off x="331893" y="4872567"/>
            <a:ext cx="6142567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65" dirty="0">
                <a:solidFill>
                  <a:srgbClr val="0076D0"/>
                </a:solidFill>
                <a:latin typeface="微软雅黑" panose="020B0503020204020204" charset="-122"/>
                <a:ea typeface="微软雅黑" panose="020B0503020204020204" charset="-122"/>
              </a:rPr>
              <a:t>用户反馈调研</a:t>
            </a:r>
            <a:endParaRPr lang="zh-CN" altLang="en-US" sz="1865" dirty="0">
              <a:solidFill>
                <a:srgbClr val="0076D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8"/>
          <p:cNvSpPr txBox="1"/>
          <p:nvPr/>
        </p:nvSpPr>
        <p:spPr>
          <a:xfrm>
            <a:off x="728716" y="2404975"/>
            <a:ext cx="129370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针对一个具体的目录进行包含市场调研、竞品调研和用户调研的全面调研过程。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8"/>
          <p:cNvSpPr txBox="1"/>
          <p:nvPr/>
        </p:nvSpPr>
        <p:spPr>
          <a:xfrm>
            <a:off x="728716" y="2788520"/>
            <a:ext cx="129370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适用情况：存在准确详细的目录；目录中的目标产品数量占比较多；评论数有一定基础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8"/>
          <p:cNvSpPr txBox="1"/>
          <p:nvPr/>
        </p:nvSpPr>
        <p:spPr>
          <a:xfrm>
            <a:off x="728716" y="3741509"/>
            <a:ext cx="129370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针对一个或多个具体的品牌、产品进行对比调研的过程。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8"/>
          <p:cNvSpPr txBox="1"/>
          <p:nvPr/>
        </p:nvSpPr>
        <p:spPr>
          <a:xfrm>
            <a:off x="796449" y="4229239"/>
            <a:ext cx="129370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适用情况：竞争产品非常明确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8"/>
          <p:cNvSpPr txBox="1"/>
          <p:nvPr/>
        </p:nvSpPr>
        <p:spPr>
          <a:xfrm>
            <a:off x="728716" y="5830533"/>
            <a:ext cx="1293707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适用情况：已有产品的优化；创新产品的研发</a:t>
            </a:r>
            <a:endParaRPr lang="zh-CN" alt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10"/>
          <p:cNvSpPr txBox="1"/>
          <p:nvPr/>
        </p:nvSpPr>
        <p:spPr>
          <a:xfrm>
            <a:off x="-2086187" y="1316944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根据调研样本和产品定位的不同，主要有三种调研方式</a:t>
            </a:r>
            <a:r>
              <a:rPr lang="en-US" altLang="zh-CN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5" grpId="0"/>
      <p:bldP spid="36" grpId="0"/>
      <p:bldP spid="37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822547" y="257436"/>
            <a:ext cx="2156935" cy="911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6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altLang="en-US" sz="26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26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zh-CN" altLang="en-US" sz="2665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324" y="1478551"/>
            <a:ext cx="2880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1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31688" y="3040099"/>
            <a:ext cx="2880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3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92903" y="4095911"/>
            <a:ext cx="2880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4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39920" y="1561524"/>
            <a:ext cx="4903497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35" dirty="0">
                <a:latin typeface="+mn-ea"/>
              </a:rPr>
              <a:t>    </a:t>
            </a:r>
            <a:r>
              <a:rPr lang="en-US" altLang="zh-CN" sz="1865" dirty="0">
                <a:latin typeface="+mn-ea"/>
              </a:rPr>
              <a:t>  基本信息</a:t>
            </a:r>
            <a:endParaRPr lang="en-US" altLang="zh-CN" sz="1865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39996" y="3040389"/>
            <a:ext cx="4903497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>
                <a:latin typeface="+mn-ea"/>
              </a:rPr>
              <a:t>     </a:t>
            </a:r>
            <a:r>
              <a:rPr lang="zh-CN" altLang="en-US" sz="1865" dirty="0">
                <a:latin typeface="+mn-ea"/>
              </a:rPr>
              <a:t>竞品分析</a:t>
            </a:r>
            <a:endParaRPr lang="zh-CN" altLang="en-US" sz="1865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39707" y="2266940"/>
            <a:ext cx="4903497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>
                <a:latin typeface="+mn-ea"/>
              </a:rPr>
              <a:t>     市场分析</a:t>
            </a:r>
            <a:endParaRPr lang="en-US" altLang="zh-CN" sz="1865" dirty="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84376" y="3837134"/>
            <a:ext cx="4903497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65" dirty="0">
                <a:latin typeface="+mn-ea"/>
              </a:rPr>
              <a:t>用户需求分析</a:t>
            </a:r>
            <a:endParaRPr lang="en-US" altLang="zh-CN" sz="1865" dirty="0">
              <a:latin typeface="+mn-ea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1005324" y="2266797"/>
            <a:ext cx="2880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2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11" name="TextBox 17"/>
          <p:cNvSpPr txBox="1"/>
          <p:nvPr/>
        </p:nvSpPr>
        <p:spPr>
          <a:xfrm>
            <a:off x="2876896" y="5587737"/>
            <a:ext cx="2880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6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13" name="TextBox 17"/>
          <p:cNvSpPr txBox="1"/>
          <p:nvPr/>
        </p:nvSpPr>
        <p:spPr>
          <a:xfrm>
            <a:off x="3943696" y="4942577"/>
            <a:ext cx="28803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5</a:t>
            </a:r>
            <a:endParaRPr lang="en-US" altLang="zh-CN" sz="2400" dirty="0">
              <a:solidFill>
                <a:schemeClr val="bg1"/>
              </a:solidFill>
            </a:endParaRPr>
          </a:p>
        </p:txBody>
      </p:sp>
      <p:sp>
        <p:nvSpPr>
          <p:cNvPr id="14" name="TextBox 23"/>
          <p:cNvSpPr txBox="1"/>
          <p:nvPr/>
        </p:nvSpPr>
        <p:spPr>
          <a:xfrm>
            <a:off x="2584376" y="4655014"/>
            <a:ext cx="4903497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65" dirty="0">
                <a:latin typeface="+mn-ea"/>
              </a:rPr>
              <a:t>产品定位</a:t>
            </a:r>
            <a:endParaRPr lang="zh-CN" altLang="en-US" sz="1865" dirty="0">
              <a:latin typeface="+mn-ea"/>
            </a:endParaRPr>
          </a:p>
        </p:txBody>
      </p:sp>
      <p:sp>
        <p:nvSpPr>
          <p:cNvPr id="5" name="TextBox 23"/>
          <p:cNvSpPr txBox="1"/>
          <p:nvPr/>
        </p:nvSpPr>
        <p:spPr>
          <a:xfrm>
            <a:off x="2584376" y="5445166"/>
            <a:ext cx="4903497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65" dirty="0">
                <a:latin typeface="+mn-ea"/>
              </a:rPr>
              <a:t>供应商资源</a:t>
            </a:r>
            <a:endParaRPr lang="zh-CN" altLang="en-US" sz="1865" dirty="0">
              <a:latin typeface="+mn-ea"/>
            </a:endParaRPr>
          </a:p>
        </p:txBody>
      </p:sp>
      <p:sp>
        <p:nvSpPr>
          <p:cNvPr id="20" name="TextBox 10"/>
          <p:cNvSpPr txBox="1"/>
          <p:nvPr/>
        </p:nvSpPr>
        <p:spPr>
          <a:xfrm>
            <a:off x="0" y="633684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en-US" altLang="zh-CN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4175760" y="1316567"/>
            <a:ext cx="393615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流程图: 可选过程 3"/>
          <p:cNvSpPr/>
          <p:nvPr/>
        </p:nvSpPr>
        <p:spPr>
          <a:xfrm>
            <a:off x="911013" y="1605280"/>
            <a:ext cx="960120" cy="2878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1</a:t>
            </a:r>
            <a:endParaRPr lang="en-US" altLang="zh-CN" sz="2400"/>
          </a:p>
        </p:txBody>
      </p:sp>
      <p:sp>
        <p:nvSpPr>
          <p:cNvPr id="8" name="流程图: 可选过程 7"/>
          <p:cNvSpPr/>
          <p:nvPr/>
        </p:nvSpPr>
        <p:spPr>
          <a:xfrm>
            <a:off x="911013" y="2312670"/>
            <a:ext cx="960120" cy="2878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2</a:t>
            </a:r>
            <a:endParaRPr lang="en-US" altLang="zh-CN" sz="2400"/>
          </a:p>
        </p:txBody>
      </p:sp>
      <p:sp>
        <p:nvSpPr>
          <p:cNvPr id="15" name="流程图: 可选过程 14"/>
          <p:cNvSpPr/>
          <p:nvPr/>
        </p:nvSpPr>
        <p:spPr>
          <a:xfrm>
            <a:off x="911013" y="3085677"/>
            <a:ext cx="960120" cy="2878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3</a:t>
            </a:r>
            <a:endParaRPr lang="en-US" altLang="zh-CN" sz="2400"/>
          </a:p>
        </p:txBody>
      </p:sp>
      <p:sp>
        <p:nvSpPr>
          <p:cNvPr id="16" name="流程图: 可选过程 15"/>
          <p:cNvSpPr/>
          <p:nvPr/>
        </p:nvSpPr>
        <p:spPr>
          <a:xfrm>
            <a:off x="911013" y="3882178"/>
            <a:ext cx="960120" cy="2878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4</a:t>
            </a:r>
            <a:endParaRPr lang="en-US" altLang="zh-CN" sz="2400"/>
          </a:p>
        </p:txBody>
      </p:sp>
      <p:sp>
        <p:nvSpPr>
          <p:cNvPr id="19" name="流程图: 可选过程 18"/>
          <p:cNvSpPr/>
          <p:nvPr/>
        </p:nvSpPr>
        <p:spPr>
          <a:xfrm>
            <a:off x="911013" y="4654973"/>
            <a:ext cx="960120" cy="2878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5</a:t>
            </a:r>
            <a:endParaRPr lang="en-US" altLang="zh-CN" sz="2400"/>
          </a:p>
        </p:txBody>
      </p:sp>
      <p:sp>
        <p:nvSpPr>
          <p:cNvPr id="25" name="流程图: 可选过程 24"/>
          <p:cNvSpPr/>
          <p:nvPr/>
        </p:nvSpPr>
        <p:spPr>
          <a:xfrm>
            <a:off x="911013" y="5490210"/>
            <a:ext cx="960120" cy="2878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6</a:t>
            </a:r>
            <a:endParaRPr lang="en-US" altLang="zh-CN" sz="2400"/>
          </a:p>
        </p:txBody>
      </p:sp>
      <p:sp>
        <p:nvSpPr>
          <p:cNvPr id="10" name="流程图: 可选过程 9"/>
          <p:cNvSpPr/>
          <p:nvPr/>
        </p:nvSpPr>
        <p:spPr>
          <a:xfrm>
            <a:off x="911013" y="6324388"/>
            <a:ext cx="960120" cy="28786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7</a:t>
            </a:r>
            <a:endParaRPr lang="en-US" altLang="zh-CN" sz="2400"/>
          </a:p>
        </p:txBody>
      </p:sp>
      <p:sp>
        <p:nvSpPr>
          <p:cNvPr id="12" name="TextBox 23"/>
          <p:cNvSpPr txBox="1"/>
          <p:nvPr/>
        </p:nvSpPr>
        <p:spPr>
          <a:xfrm>
            <a:off x="2584376" y="6278709"/>
            <a:ext cx="4903497" cy="378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65" dirty="0">
                <a:latin typeface="+mn-ea"/>
              </a:rPr>
              <a:t>个人总结与建议</a:t>
            </a:r>
            <a:endParaRPr lang="zh-CN" altLang="en-US" sz="1865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33684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基本信息</a:t>
            </a:r>
            <a:r>
              <a:rPr lang="en-US" altLang="zh-CN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60" y="1316567"/>
            <a:ext cx="393615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203960" y="1316355"/>
            <a:ext cx="9378950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algn="l"/>
            <a:r>
              <a:rPr lang="en-US" altLang="zh-CN" sz="1400" b="0" u="non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Wingdings" panose="05000000000000000000" charset="0"/>
                <a:ea typeface="Wingdings" panose="05000000000000000000" charset="0"/>
                <a:cs typeface="Wingdings" panose="05000000000000000000" charset="0"/>
              </a:rPr>
              <a:t>l</a:t>
            </a:r>
            <a:r>
              <a:rPr lang="en-US" altLang="zh-CN" sz="1400" b="0" u="none">
                <a:latin typeface="Wingdings" panose="05000000000000000000" charset="0"/>
                <a:ea typeface="Wingdings" panose="05000000000000000000" charset="0"/>
                <a:cs typeface="Wingdings" panose="05000000000000000000" charset="0"/>
              </a:rPr>
              <a:t> 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时间：</a:t>
            </a:r>
            <a:r>
              <a:rPr lang="en-US" altLang="zh-CN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14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4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en-US" altLang="zh-CN" sz="1400" b="0" u="non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Wingdings" panose="05000000000000000000" charset="0"/>
                <a:ea typeface="Wingdings" panose="05000000000000000000" charset="0"/>
                <a:cs typeface="Wingdings" panose="05000000000000000000" charset="0"/>
              </a:rPr>
              <a:t>l</a:t>
            </a:r>
            <a:r>
              <a:rPr lang="en-US" altLang="zh-CN" sz="1400" b="0" u="none">
                <a:latin typeface="Wingdings" panose="05000000000000000000" charset="0"/>
                <a:ea typeface="Wingdings" panose="05000000000000000000" charset="0"/>
                <a:cs typeface="Wingdings" panose="05000000000000000000" charset="0"/>
              </a:rPr>
              <a:t> 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平台：美国亚马逊</a:t>
            </a:r>
            <a:r>
              <a:rPr lang="zh-CN" altLang="zh-CN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Best sellers top 100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4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en-US" altLang="zh-CN" sz="14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en-US" altLang="zh-CN" sz="1400" b="0" u="none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Wingdings" panose="05000000000000000000" charset="0"/>
                <a:ea typeface="Wingdings" panose="05000000000000000000" charset="0"/>
                <a:cs typeface="Wingdings" panose="05000000000000000000" charset="0"/>
              </a:rPr>
              <a:t>l</a:t>
            </a:r>
            <a:r>
              <a:rPr lang="en-US" altLang="zh-CN" sz="1400" b="0" u="none">
                <a:latin typeface="Wingdings" panose="05000000000000000000" charset="0"/>
                <a:ea typeface="Wingdings" panose="05000000000000000000" charset="0"/>
                <a:cs typeface="Wingdings" panose="05000000000000000000" charset="0"/>
              </a:rPr>
              <a:t> 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目录：体育和户外运动</a:t>
            </a:r>
            <a:r>
              <a:rPr lang="en-US" altLang="zh-CN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&gt;&gt;户外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娱乐</a:t>
            </a:r>
            <a:r>
              <a:rPr lang="en-US" altLang="zh-CN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&gt;&gt;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配件</a:t>
            </a:r>
            <a:r>
              <a:rPr lang="en-US" altLang="zh-CN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&gt;&gt;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运动医学</a:t>
            </a:r>
            <a:r>
              <a:rPr lang="en-US" altLang="zh-CN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&gt;&gt;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支架、夹板及吊索的腿和脚支撑</a:t>
            </a:r>
            <a:r>
              <a:rPr lang="en-US" altLang="zh-CN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&gt;&gt;</a:t>
            </a:r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护膝</a:t>
            </a:r>
            <a:endParaRPr lang="zh-CN" altLang="en-US" sz="14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https://www.amazon.com/gp/bestsellers/sporting-goods/13106351/ref=pd_zg_hrsr_sg_2_7_last</a:t>
            </a:r>
            <a:endParaRPr lang="zh-CN" altLang="en-US" sz="14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zh-CN" altLang="en-US" sz="14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endParaRPr lang="zh-CN" altLang="en-US" sz="14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4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2400"/>
          </a:p>
          <a:p>
            <a:pPr marL="266700" indent="-266700" algn="l"/>
            <a:endParaRPr lang="zh-CN" altLang="en-US" sz="2400"/>
          </a:p>
          <a:p>
            <a:pPr marL="266700" indent="-266700" algn="l"/>
            <a:endParaRPr lang="zh-CN" altLang="en-US" sz="2400"/>
          </a:p>
          <a:p>
            <a:pPr marL="266700" indent="-266700" algn="l"/>
            <a:endParaRPr lang="zh-CN" altLang="en-US" sz="2400"/>
          </a:p>
          <a:p>
            <a:pPr marL="266700" indent="-266700" algn="l"/>
            <a:endParaRPr lang="zh-CN" altLang="en-US" sz="2400"/>
          </a:p>
          <a:p>
            <a:pPr marL="266700" indent="-266700" algn="l"/>
            <a:endParaRPr lang="zh-CN" altLang="en-US" sz="2400"/>
          </a:p>
          <a:p>
            <a:pPr marL="266700" indent="-266700" algn="l"/>
            <a:endParaRPr lang="zh-CN" altLang="en-US" sz="2400"/>
          </a:p>
        </p:txBody>
      </p:sp>
      <p:pic>
        <p:nvPicPr>
          <p:cNvPr id="2" name="图片 1" descr="护膝1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410" y="2659380"/>
            <a:ext cx="8189595" cy="4126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44691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sym typeface="+mn-ea"/>
              </a:rPr>
              <a:t>市场分析</a:t>
            </a:r>
            <a:r>
              <a:rPr lang="en-US" altLang="zh-CN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60" y="1316567"/>
            <a:ext cx="393615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843280" y="1796415"/>
            <a:ext cx="9370060" cy="2965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135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135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、市场容量分析及潜力预测</a:t>
            </a:r>
            <a:endParaRPr lang="zh-CN" altLang="en-US" sz="2135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135" b="1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65">
                <a:solidFill>
                  <a:srgbClr val="0070C0"/>
                </a:solidFill>
              </a:rPr>
              <a:t>市场容量</a:t>
            </a:r>
            <a:endParaRPr lang="zh-CN" altLang="en-US" sz="1865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统计一个月内目标调研目录的评论总数，再根据评论数与销售量（1:100）的比例合算出产品销量，最终根据产品单价计算市场容量  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335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评论总数: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67549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（排名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第一和第二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的总共有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11295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条）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推算出市场容量: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67549*100*16.68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（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仅供参考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销售额:(USD)：（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缺少每天的销售数据，故没有总结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产品均价：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16.68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好评率: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84.34%, </a:t>
            </a:r>
            <a:r>
              <a:rPr lang="zh-CN" altLang="zh-CN" sz="1600">
                <a:latin typeface="微软雅黑" panose="020B0503020204020204" charset="-122"/>
                <a:ea typeface="微软雅黑" panose="020B0503020204020204" charset="-122"/>
              </a:rPr>
              <a:t>平均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4.36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3280" y="5260975"/>
            <a:ext cx="9728200" cy="870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865">
                <a:solidFill>
                  <a:srgbClr val="0070C0"/>
                </a:solidFill>
              </a:rPr>
              <a:t>市场潜力</a:t>
            </a:r>
            <a:endParaRPr lang="zh-CN" altLang="en-US" sz="1865">
              <a:solidFill>
                <a:srgbClr val="0070C0"/>
              </a:solidFill>
            </a:endParaRPr>
          </a:p>
          <a:p>
            <a:r>
              <a:rPr lang="zh-CN" altLang="en-US" sz="1600"/>
              <a:t>与已有的或已熟悉的市场进行横向的对比分析，例如相同排名下的产品月销售量与月销售额，以此估计市场容量及潜力大小</a:t>
            </a:r>
            <a:r>
              <a:rPr lang="en-US" altLang="zh-CN" sz="1600"/>
              <a:t>,</a:t>
            </a:r>
            <a:r>
              <a:rPr lang="zh-CN" altLang="zh-CN" sz="1600"/>
              <a:t>可以根据月销售额的数量</a:t>
            </a:r>
            <a:r>
              <a:rPr lang="zh-CN" altLang="en-US" sz="1600"/>
              <a:t>作为优劣标准。</a:t>
            </a:r>
            <a:endParaRPr lang="zh-CN" altLang="en-US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44691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市场分析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87" y="1316765"/>
            <a:ext cx="1872208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047995" y="1316765"/>
            <a:ext cx="1872208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51087" y="1506220"/>
            <a:ext cx="11179387" cy="964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algn="l"/>
            <a:r>
              <a:rPr lang="en-US" altLang="zh-CN" sz="2135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135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、统计分析各品牌的市场占比，对于细分市场，绘制相应的细分市场品牌占比</a:t>
            </a:r>
            <a:endParaRPr lang="zh-CN" altLang="en-US" sz="2135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2135" i="1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400" b="0" i="1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175760" y="1316567"/>
            <a:ext cx="393615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186180" y="2133600"/>
            <a:ext cx="90830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chemeClr val="tx1"/>
                </a:solidFill>
              </a:rPr>
              <a:t>前</a:t>
            </a:r>
            <a:r>
              <a:rPr lang="en-US" altLang="zh-CN" sz="1600" b="1">
                <a:solidFill>
                  <a:schemeClr val="tx1"/>
                </a:solidFill>
              </a:rPr>
              <a:t>100</a:t>
            </a:r>
            <a:r>
              <a:rPr lang="zh-CN" altLang="en-US" sz="1600" b="1">
                <a:solidFill>
                  <a:schemeClr val="tx1"/>
                </a:solidFill>
              </a:rPr>
              <a:t>产品中，品牌太多，绝大多数一个产品一个品牌，没有绝对的垄断性品牌，这里不做具体分析。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pic>
        <p:nvPicPr>
          <p:cNvPr id="5" name="图片 4" descr="品牌占比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5770" y="2540635"/>
            <a:ext cx="5775960" cy="3954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44691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市场分析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87" y="1316765"/>
            <a:ext cx="1872208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047995" y="1316765"/>
            <a:ext cx="1872208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4175760" y="1316567"/>
            <a:ext cx="393615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607820" y="5779135"/>
            <a:ext cx="89757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前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100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中主要有三种不同款式的护膝，其中长款的占比达到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84%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，又以长款全包型的占比最大，达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67%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，短款的占比</a:t>
            </a:r>
            <a:r>
              <a:rPr lang="en-US" altLang="zh-CN" b="1">
                <a:solidFill>
                  <a:schemeClr val="tx1"/>
                </a:solidFill>
                <a:sym typeface="+mn-ea"/>
              </a:rPr>
              <a:t>16%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，通过占比来看，侧重长款护膝的开发。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359025" y="1621155"/>
            <a:ext cx="28130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/>
              <a:t>亚马逊护膝目录前</a:t>
            </a:r>
            <a:r>
              <a:rPr lang="en-US" altLang="zh-CN" sz="2400"/>
              <a:t>100</a:t>
            </a:r>
            <a:r>
              <a:rPr lang="zh-CN" altLang="en-US" sz="2400"/>
              <a:t>产品款式占比</a:t>
            </a:r>
            <a:endParaRPr lang="zh-CN" altLang="en-US" sz="2400"/>
          </a:p>
        </p:txBody>
      </p:sp>
      <p:sp>
        <p:nvSpPr>
          <p:cNvPr id="15" name="文本框 14"/>
          <p:cNvSpPr txBox="1"/>
          <p:nvPr/>
        </p:nvSpPr>
        <p:spPr>
          <a:xfrm>
            <a:off x="7770495" y="1620520"/>
            <a:ext cx="28130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/>
              <a:t>细分款式评价数与价格图</a:t>
            </a:r>
            <a:endParaRPr lang="zh-CN" altLang="en-US" sz="2400"/>
          </a:p>
        </p:txBody>
      </p:sp>
      <p:pic>
        <p:nvPicPr>
          <p:cNvPr id="18" name="图片 17" descr="款式价格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4010" y="2451100"/>
            <a:ext cx="4560570" cy="2889885"/>
          </a:xfrm>
          <a:prstGeom prst="rect">
            <a:avLst/>
          </a:prstGeom>
        </p:spPr>
      </p:pic>
      <p:pic>
        <p:nvPicPr>
          <p:cNvPr id="19" name="图片 18" descr="款式占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330" y="2450465"/>
            <a:ext cx="4790440" cy="289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44691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市场分析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87" y="1316765"/>
            <a:ext cx="1872208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047995" y="1316765"/>
            <a:ext cx="1872208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4175760" y="1316567"/>
            <a:ext cx="393615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919720" y="173609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/>
              <a:t>长款露膝型</a:t>
            </a:r>
            <a:endParaRPr lang="zh-CN" altLang="en-US" sz="2400"/>
          </a:p>
        </p:txBody>
      </p:sp>
      <p:pic>
        <p:nvPicPr>
          <p:cNvPr id="3" name="图片 2" descr="不漏膝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755" y="2315210"/>
            <a:ext cx="2698750" cy="2966085"/>
          </a:xfrm>
          <a:prstGeom prst="rect">
            <a:avLst/>
          </a:prstGeom>
        </p:spPr>
      </p:pic>
      <p:pic>
        <p:nvPicPr>
          <p:cNvPr id="5" name="图片 4" descr="漏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720" y="2315210"/>
            <a:ext cx="2574925" cy="296735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552315" y="1403350"/>
            <a:ext cx="3230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长款护膝主要细分市场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19605" y="1736090"/>
            <a:ext cx="28130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/>
              <a:t>长款全包型</a:t>
            </a: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2869565" y="5439410"/>
            <a:ext cx="60674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根据固定方式细分：粘贴、捆绑、紧缩式</a:t>
            </a:r>
            <a:endParaRPr lang="zh-CN" altLang="en-US"/>
          </a:p>
          <a:p>
            <a:r>
              <a:rPr lang="zh-CN" altLang="en-US"/>
              <a:t>根据用途细分：运动、医疗、健康</a:t>
            </a:r>
            <a:endParaRPr lang="zh-CN" altLang="en-US"/>
          </a:p>
          <a:p>
            <a:r>
              <a:rPr lang="zh-CN" altLang="en-US"/>
              <a:t>根据适用人群：运动员、中老年人、膝部疾病患者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4175760" y="1316567"/>
            <a:ext cx="3648287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0" y="6597352"/>
            <a:ext cx="12192000" cy="260647"/>
          </a:xfrm>
          <a:prstGeom prst="rect">
            <a:avLst/>
          </a:prstGeom>
          <a:solidFill>
            <a:srgbClr val="007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65" dirty="0">
                <a:latin typeface="+mn-ea"/>
              </a:rPr>
              <a:t>EXPERIENCE IS EVERYTHING</a:t>
            </a:r>
            <a:endParaRPr lang="zh-CN" altLang="en-US" sz="1065" dirty="0">
              <a:latin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52873" y="1405467"/>
            <a:ext cx="10704407" cy="12820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algn="l"/>
            <a:r>
              <a:rPr lang="en-US" altLang="zh-CN" sz="2135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135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135" b="0" u="none">
                <a:solidFill>
                  <a:srgbClr val="0070C0"/>
                </a:solidFill>
                <a:latin typeface="Wingdings" panose="05000000000000000000" charset="0"/>
                <a:ea typeface="宋体" panose="02010600030101010101" pitchFamily="2" charset="-122"/>
                <a:cs typeface="Wingdings" panose="05000000000000000000" charset="0"/>
              </a:rPr>
              <a:t>价格分析</a:t>
            </a:r>
            <a:endParaRPr lang="zh-CN" altLang="en-US" sz="2135" b="0" u="none">
              <a:solidFill>
                <a:srgbClr val="0070C0"/>
              </a:solidFill>
              <a:latin typeface="Wingdings" panose="05000000000000000000" charset="0"/>
              <a:ea typeface="宋体" panose="02010600030101010101" pitchFamily="2" charset="-122"/>
              <a:cs typeface="Wingdings" panose="05000000000000000000" charset="0"/>
            </a:endParaRPr>
          </a:p>
          <a:p>
            <a:pPr marL="266700" indent="-266700" algn="l"/>
            <a:endParaRPr lang="zh-CN" altLang="en-US" sz="1400" b="0" u="none">
              <a:latin typeface="Wingdings" panose="05000000000000000000" charset="0"/>
              <a:ea typeface="宋体" panose="02010600030101010101" pitchFamily="2" charset="-122"/>
              <a:cs typeface="Wingdings" panose="05000000000000000000" charset="0"/>
            </a:endParaRPr>
          </a:p>
          <a:p>
            <a:pPr marL="266700" indent="-266700" algn="l"/>
            <a:r>
              <a:rPr lang="zh-CN" altLang="en-US" sz="1400" b="0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绘制价格分布图、计算平均价、中位价， 价格</a:t>
            </a:r>
            <a:r>
              <a:rPr lang="en-US" altLang="zh-CN" sz="1400" b="0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lang="zh-CN" altLang="en-US" sz="1400" b="0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评论数</a:t>
            </a:r>
            <a:endParaRPr lang="zh-CN" altLang="en-US" sz="1400" b="0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400" b="0" i="1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zh-CN" altLang="en-US" sz="1400" b="0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护膝价格分析散点图</a:t>
            </a:r>
            <a:endParaRPr lang="zh-CN" altLang="en-US" sz="1400" b="0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0" y="646384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市场分析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91587" y="2918460"/>
            <a:ext cx="4608407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>
                <a:solidFill>
                  <a:srgbClr val="0070C0"/>
                </a:solidFill>
              </a:rPr>
              <a:t>1</a:t>
            </a:r>
            <a:r>
              <a:rPr lang="zh-CN" altLang="en-US" sz="1600">
                <a:solidFill>
                  <a:srgbClr val="0070C0"/>
                </a:solidFill>
              </a:rPr>
              <a:t>、售价主要集中在$</a:t>
            </a:r>
            <a:r>
              <a:rPr lang="en-US" altLang="zh-CN" sz="1600">
                <a:solidFill>
                  <a:srgbClr val="0070C0"/>
                </a:solidFill>
              </a:rPr>
              <a:t>5</a:t>
            </a:r>
            <a:r>
              <a:rPr lang="zh-CN" altLang="en-US" sz="1600">
                <a:solidFill>
                  <a:srgbClr val="0070C0"/>
                </a:solidFill>
              </a:rPr>
              <a:t>-</a:t>
            </a:r>
            <a:r>
              <a:rPr lang="en-US" altLang="zh-CN" sz="1600">
                <a:solidFill>
                  <a:srgbClr val="0070C0"/>
                </a:solidFill>
              </a:rPr>
              <a:t>20</a:t>
            </a:r>
            <a:r>
              <a:rPr lang="zh-CN" altLang="en-US" sz="1600">
                <a:solidFill>
                  <a:srgbClr val="0070C0"/>
                </a:solidFill>
              </a:rPr>
              <a:t>之间。</a:t>
            </a:r>
            <a:endParaRPr lang="zh-CN" altLang="en-US" sz="1600">
              <a:solidFill>
                <a:srgbClr val="0070C0"/>
              </a:solidFill>
            </a:endParaRPr>
          </a:p>
          <a:p>
            <a:endParaRPr lang="zh-CN" altLang="en-US" sz="1600">
              <a:solidFill>
                <a:srgbClr val="0070C0"/>
              </a:solidFill>
            </a:endParaRPr>
          </a:p>
          <a:p>
            <a:r>
              <a:rPr lang="en-US" altLang="zh-CN" sz="1600">
                <a:solidFill>
                  <a:srgbClr val="0070C0"/>
                </a:solidFill>
              </a:rPr>
              <a:t>2</a:t>
            </a:r>
            <a:r>
              <a:rPr lang="zh-CN" altLang="en-US" sz="1600">
                <a:solidFill>
                  <a:srgbClr val="0070C0"/>
                </a:solidFill>
              </a:rPr>
              <a:t>、价格的差异的来源：</a:t>
            </a:r>
            <a:r>
              <a:rPr lang="en-US" altLang="zh-CN" sz="1600">
                <a:solidFill>
                  <a:srgbClr val="0070C0"/>
                </a:solidFill>
              </a:rPr>
              <a:t>5-10</a:t>
            </a:r>
            <a:r>
              <a:rPr lang="zh-CN" altLang="en-US" sz="1600">
                <a:solidFill>
                  <a:srgbClr val="0070C0"/>
                </a:solidFill>
              </a:rPr>
              <a:t>美金主要是短款护膝，由于用材少，价格相对偏低；</a:t>
            </a:r>
            <a:r>
              <a:rPr lang="en-US" altLang="zh-CN" sz="1600">
                <a:solidFill>
                  <a:srgbClr val="0070C0"/>
                </a:solidFill>
              </a:rPr>
              <a:t>10-20</a:t>
            </a:r>
            <a:r>
              <a:rPr lang="zh-CN" altLang="en-US" sz="1600">
                <a:solidFill>
                  <a:srgbClr val="0070C0"/>
                </a:solidFill>
              </a:rPr>
              <a:t>美金主要是长款全包型护膝。</a:t>
            </a:r>
            <a:endParaRPr lang="zh-CN" altLang="en-US" sz="1600">
              <a:solidFill>
                <a:srgbClr val="0070C0"/>
              </a:solidFill>
            </a:endParaRPr>
          </a:p>
          <a:p>
            <a:endParaRPr lang="zh-CN" altLang="en-US" sz="1600">
              <a:solidFill>
                <a:srgbClr val="0070C0"/>
              </a:solidFill>
            </a:endParaRPr>
          </a:p>
          <a:p>
            <a:r>
              <a:rPr lang="en-US" altLang="zh-CN" sz="1600">
                <a:solidFill>
                  <a:srgbClr val="0070C0"/>
                </a:solidFill>
              </a:rPr>
              <a:t>3</a:t>
            </a:r>
            <a:r>
              <a:rPr lang="zh-CN" altLang="en-US" sz="1600">
                <a:solidFill>
                  <a:srgbClr val="0070C0"/>
                </a:solidFill>
              </a:rPr>
              <a:t>、</a:t>
            </a:r>
            <a:r>
              <a:rPr lang="en-US" altLang="zh-CN" sz="1600">
                <a:solidFill>
                  <a:srgbClr val="0070C0"/>
                </a:solidFill>
              </a:rPr>
              <a:t>20</a:t>
            </a:r>
            <a:r>
              <a:rPr lang="zh-CN" altLang="en-US" sz="1600">
                <a:solidFill>
                  <a:srgbClr val="0070C0"/>
                </a:solidFill>
              </a:rPr>
              <a:t>美金以上的主要有部分长款全包型护膝与长款露膝型的护膝，主要由于护膝材料偏向于高端的原因，以及露膝型的使用特殊性导致。</a:t>
            </a:r>
            <a:endParaRPr lang="zh-CN" altLang="en-US" sz="1600">
              <a:solidFill>
                <a:srgbClr val="0070C0"/>
              </a:solidFill>
            </a:endParaRPr>
          </a:p>
          <a:p>
            <a:endParaRPr lang="zh-CN" altLang="en-US" sz="1600">
              <a:solidFill>
                <a:srgbClr val="0070C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52873" y="5742093"/>
            <a:ext cx="66387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   </a:t>
            </a:r>
            <a:r>
              <a:rPr lang="zh-CN" altLang="en-US" sz="1600"/>
              <a:t>产品均价</a:t>
            </a:r>
            <a:r>
              <a:rPr lang="en-US" altLang="zh-CN" sz="1600"/>
              <a:t>:16.68</a:t>
            </a:r>
            <a:r>
              <a:rPr lang="zh-CN" altLang="en-US" sz="1600"/>
              <a:t>美金                        产品中位价：</a:t>
            </a:r>
            <a:r>
              <a:rPr lang="en-US" altLang="zh-CN" sz="1600"/>
              <a:t>14.92</a:t>
            </a:r>
            <a:r>
              <a:rPr lang="zh-CN" altLang="en-US" sz="1600"/>
              <a:t>美金</a:t>
            </a:r>
            <a:endParaRPr lang="zh-CN" altLang="en-US" sz="1600"/>
          </a:p>
        </p:txBody>
      </p:sp>
      <p:pic>
        <p:nvPicPr>
          <p:cNvPr id="2" name="图片 1" descr="价格散点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843530"/>
            <a:ext cx="4734560" cy="2774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/>
        </p:nvCxnSpPr>
        <p:spPr>
          <a:xfrm>
            <a:off x="4175760" y="1316567"/>
            <a:ext cx="3648287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0" y="6597352"/>
            <a:ext cx="12192000" cy="260647"/>
          </a:xfrm>
          <a:prstGeom prst="rect">
            <a:avLst/>
          </a:prstGeom>
          <a:solidFill>
            <a:srgbClr val="007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65" dirty="0">
                <a:latin typeface="+mn-ea"/>
              </a:rPr>
              <a:t>EXPERIENCE IS EVERYTHING</a:t>
            </a:r>
            <a:endParaRPr lang="zh-CN" altLang="en-US" sz="1065" dirty="0">
              <a:latin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52873" y="1424517"/>
            <a:ext cx="10704407" cy="4203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zh-CN" sz="2135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135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 sz="2135" b="0">
                <a:solidFill>
                  <a:srgbClr val="0070C0"/>
                </a:solidFill>
                <a:latin typeface="Wingdings" panose="05000000000000000000" charset="0"/>
                <a:ea typeface="宋体" panose="02010600030101010101" pitchFamily="2" charset="-122"/>
                <a:cs typeface="Wingdings" panose="05000000000000000000" charset="0"/>
              </a:rPr>
              <a:t>价格分析</a:t>
            </a:r>
            <a:endParaRPr lang="zh-CN" altLang="en-US" sz="1400" b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0" y="646384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市场分析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7488" y="1844887"/>
            <a:ext cx="10704407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/>
            <a:r>
              <a:rPr lang="en-US" altLang="zh-CN" b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lang="zh-CN" altLang="en-US" b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长款全包型价格与评论数关系图                                         长款露膝型价格与评论数关系图</a:t>
            </a:r>
            <a:endParaRPr lang="zh-CN" altLang="en-US" b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32700" y="5433695"/>
            <a:ext cx="31705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   </a:t>
            </a:r>
            <a:r>
              <a:rPr lang="zh-CN" altLang="en-US" sz="1600"/>
              <a:t>定价在</a:t>
            </a:r>
            <a:r>
              <a:rPr lang="en-US" altLang="zh-CN" sz="1600"/>
              <a:t>10</a:t>
            </a:r>
            <a:r>
              <a:rPr lang="zh-CN" altLang="en-US" sz="1600"/>
              <a:t>美金左右，销量最高，其次在</a:t>
            </a:r>
            <a:r>
              <a:rPr lang="en-US" altLang="zh-CN" sz="1600"/>
              <a:t>30</a:t>
            </a:r>
            <a:r>
              <a:rPr lang="zh-CN" altLang="en-US" sz="1600"/>
              <a:t>美金左右销量第二。                        </a:t>
            </a:r>
            <a:endParaRPr lang="zh-CN" altLang="en-US" sz="1600"/>
          </a:p>
        </p:txBody>
      </p:sp>
      <p:pic>
        <p:nvPicPr>
          <p:cNvPr id="4" name="图片 3" descr="露膝型销量价格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2590" y="2481580"/>
            <a:ext cx="4504690" cy="2675890"/>
          </a:xfrm>
          <a:prstGeom prst="rect">
            <a:avLst/>
          </a:prstGeom>
        </p:spPr>
      </p:pic>
      <p:pic>
        <p:nvPicPr>
          <p:cNvPr id="11" name="图片 10" descr="全包型销量价格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85" y="2481580"/>
            <a:ext cx="4914265" cy="295211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424940" y="5556885"/>
            <a:ext cx="31705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   </a:t>
            </a:r>
            <a:r>
              <a:rPr lang="zh-CN" altLang="en-US" sz="1600"/>
              <a:t>定价在</a:t>
            </a:r>
            <a:r>
              <a:rPr lang="en-US" altLang="zh-CN" sz="1600"/>
              <a:t>19</a:t>
            </a:r>
            <a:r>
              <a:rPr lang="zh-CN" altLang="en-US" sz="1600"/>
              <a:t>美金左右，销量最高                        </a:t>
            </a:r>
            <a:endParaRPr lang="zh-CN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4175760" y="1316567"/>
            <a:ext cx="3648287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10"/>
          <p:cNvSpPr txBox="1"/>
          <p:nvPr/>
        </p:nvSpPr>
        <p:spPr>
          <a:xfrm>
            <a:off x="0" y="646384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市场分析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0993" y="1461347"/>
            <a:ext cx="10977880" cy="4154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</a:rPr>
              <a:t> </a:t>
            </a:r>
            <a:r>
              <a:rPr lang="en-US" altLang="zh-CN" sz="2400">
                <a:solidFill>
                  <a:srgbClr val="0070C0"/>
                </a:solidFill>
              </a:rPr>
              <a:t>4</a:t>
            </a:r>
            <a:r>
              <a:rPr lang="zh-CN" altLang="en-US" sz="2400">
                <a:solidFill>
                  <a:srgbClr val="0070C0"/>
                </a:solidFill>
              </a:rPr>
              <a:t>、切入门槛</a:t>
            </a:r>
            <a:endParaRPr lang="zh-CN" altLang="en-US" sz="2400">
              <a:solidFill>
                <a:srgbClr val="0070C0"/>
              </a:solidFill>
            </a:endParaRPr>
          </a:p>
          <a:p>
            <a:r>
              <a:rPr lang="zh-CN" altLang="en-US" sz="1600"/>
              <a:t>初步总结以上得出的分析数据，从竞争对手的市场占比、实力大小分析切入市场的难度，明确产品的门槛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                       </a:t>
            </a:r>
            <a:endParaRPr lang="zh-CN" altLang="en-US" sz="1600"/>
          </a:p>
          <a:p>
            <a:r>
              <a:rPr lang="zh-CN" altLang="en-US" sz="1600"/>
              <a:t>                      </a:t>
            </a:r>
            <a:endParaRPr lang="zh-CN" altLang="en-US" sz="1600"/>
          </a:p>
          <a:p>
            <a:r>
              <a:rPr lang="zh-CN" altLang="en-US" sz="160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        </a:t>
            </a:r>
            <a:r>
              <a:rPr lang="zh-CN" altLang="en-US" sz="1600"/>
              <a:t>是否存在市场垄断：没有形成大的品牌垄断，小品牌很多，进入门槛低，竞争激烈。</a:t>
            </a:r>
            <a:endParaRPr lang="zh-CN" altLang="en-US" sz="16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zh-CN" altLang="en-US" sz="160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   </a:t>
            </a:r>
            <a:endParaRPr lang="zh-CN" altLang="en-US" sz="16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zh-CN" altLang="en-US" sz="160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        </a:t>
            </a:r>
            <a:r>
              <a:rPr lang="zh-CN" altLang="en-US" sz="1600"/>
              <a:t>行业技术成熟度，产品覆盖率</a:t>
            </a:r>
            <a:r>
              <a:rPr lang="en-US" altLang="zh-CN" sz="1600"/>
              <a:t>......</a:t>
            </a:r>
            <a:r>
              <a:rPr lang="zh-CN" altLang="en-US" sz="1600"/>
              <a:t> 等：平均4.3</a:t>
            </a:r>
            <a:r>
              <a:rPr lang="en-US" altLang="zh-CN" sz="1600"/>
              <a:t>6</a:t>
            </a:r>
            <a:r>
              <a:rPr lang="zh-CN" altLang="en-US" sz="1600"/>
              <a:t>分，好评</a:t>
            </a:r>
            <a:r>
              <a:rPr lang="en-US" altLang="zh-CN" sz="1600"/>
              <a:t>84.34</a:t>
            </a:r>
            <a:r>
              <a:rPr lang="zh-CN" altLang="en-US" sz="1600"/>
              <a:t>，没什么技术难度。</a:t>
            </a:r>
            <a:endParaRPr lang="zh-CN" altLang="en-US" sz="1600"/>
          </a:p>
          <a:p>
            <a:endParaRPr lang="zh-CN" altLang="en-US" sz="16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r>
              <a:rPr lang="zh-CN" altLang="en-US" sz="160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        </a:t>
            </a:r>
            <a:r>
              <a:rPr lang="zh-CN" altLang="en-US" sz="1600"/>
              <a:t>电子产品的技术限制：无。</a:t>
            </a:r>
            <a:endParaRPr lang="zh-CN" altLang="en-US" sz="16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zh-CN" altLang="en-US" sz="160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l"/>
            <a:r>
              <a:rPr lang="zh-CN" altLang="en-US" sz="1600">
                <a:solidFill>
                  <a:schemeClr val="tx2">
                    <a:lumMod val="60000"/>
                    <a:lumOff val="40000"/>
                  </a:schemeClr>
                </a:solidFill>
              </a:rPr>
              <a:t>                      </a:t>
            </a:r>
            <a:r>
              <a:rPr lang="zh-CN" altLang="en-US" sz="1600"/>
              <a:t>       特殊的认证</a:t>
            </a:r>
            <a:r>
              <a:rPr lang="en-US" altLang="zh-CN" sz="1600"/>
              <a:t>(CE ROH</a:t>
            </a:r>
            <a:r>
              <a:rPr lang="zh-CN" altLang="en-US" sz="1600"/>
              <a:t>S FCC......)：</a:t>
            </a:r>
            <a:r>
              <a:rPr lang="en-US" altLang="zh-CN" sz="1600"/>
              <a:t>CE/ROHS</a:t>
            </a:r>
            <a:r>
              <a:rPr lang="zh-CN" altLang="en-US" sz="1600"/>
              <a:t>。</a:t>
            </a:r>
            <a:endParaRPr lang="zh-CN" altLang="en-US" sz="1600"/>
          </a:p>
          <a:p>
            <a:pPr algn="l"/>
            <a:endParaRPr lang="zh-CN" altLang="en-US" sz="1600"/>
          </a:p>
          <a:p>
            <a:pPr algn="l"/>
            <a:r>
              <a:rPr lang="zh-CN" altLang="en-US" sz="1600"/>
              <a:t>                             外形&amp;图标专利：未知</a:t>
            </a:r>
            <a:endParaRPr lang="zh-CN" altLang="en-US" sz="1600"/>
          </a:p>
          <a:p>
            <a:pPr algn="l"/>
            <a:r>
              <a:rPr lang="zh-CN" altLang="en-US" sz="1600"/>
              <a:t>                       </a:t>
            </a:r>
            <a:endParaRPr lang="zh-CN" altLang="en-US" sz="1600"/>
          </a:p>
          <a:p>
            <a:pPr algn="l"/>
            <a:r>
              <a:rPr lang="zh-CN" altLang="en-US" sz="1600"/>
              <a:t>                              产品的潜在风险 ： 材料耐用度   </a:t>
            </a:r>
            <a:endParaRPr lang="zh-CN" altLang="en-US" sz="1600"/>
          </a:p>
        </p:txBody>
      </p:sp>
      <p:sp>
        <p:nvSpPr>
          <p:cNvPr id="7" name="五边形 6"/>
          <p:cNvSpPr/>
          <p:nvPr/>
        </p:nvSpPr>
        <p:spPr>
          <a:xfrm>
            <a:off x="1020868" y="4787688"/>
            <a:ext cx="1072727" cy="28786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五边形 7"/>
          <p:cNvSpPr/>
          <p:nvPr/>
        </p:nvSpPr>
        <p:spPr>
          <a:xfrm>
            <a:off x="1021715" y="4318423"/>
            <a:ext cx="1071880" cy="28786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五边形 8"/>
          <p:cNvSpPr/>
          <p:nvPr/>
        </p:nvSpPr>
        <p:spPr>
          <a:xfrm>
            <a:off x="1021927" y="5248910"/>
            <a:ext cx="1072727" cy="28786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0" name="五边形 9"/>
          <p:cNvSpPr/>
          <p:nvPr/>
        </p:nvSpPr>
        <p:spPr>
          <a:xfrm>
            <a:off x="1021927" y="2811992"/>
            <a:ext cx="1071880" cy="28786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1" name="五边形 10"/>
          <p:cNvSpPr/>
          <p:nvPr/>
        </p:nvSpPr>
        <p:spPr>
          <a:xfrm>
            <a:off x="1021503" y="3285702"/>
            <a:ext cx="1071880" cy="28786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五边形 11"/>
          <p:cNvSpPr/>
          <p:nvPr/>
        </p:nvSpPr>
        <p:spPr>
          <a:xfrm>
            <a:off x="1021927" y="3816562"/>
            <a:ext cx="1071880" cy="287867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1368848" y="5947833"/>
            <a:ext cx="103598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>
                <a:solidFill>
                  <a:schemeClr val="tx1"/>
                </a:solidFill>
              </a:rPr>
              <a:t>综上，根据市场占有量，以及成本售价考虑，明确优先开发方向为长款全包型护膝</a:t>
            </a:r>
            <a:endParaRPr lang="zh-CN" alt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548171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竞品分析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60" y="1060873"/>
            <a:ext cx="383963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17525" y="1190625"/>
            <a:ext cx="11155680" cy="17837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algn="l"/>
            <a:r>
              <a:rPr lang="en-US" altLang="zh-CN" sz="16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6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、竞品基本信息：链接、价格分布区间、排名、用户评分、销售量、上架时间（通常以最早一条</a:t>
            </a:r>
            <a:r>
              <a:rPr lang="en-US" altLang="zh-CN" sz="16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</a:t>
            </a:r>
            <a:r>
              <a:rPr lang="zh-CN" altLang="en-US" sz="16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的时间为准）</a:t>
            </a:r>
            <a:endParaRPr lang="zh-CN" altLang="en-US" sz="16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en-US" altLang="zh-CN" sz="1600" b="0" u="none">
              <a:latin typeface="Wingdings" panose="05000000000000000000" charset="0"/>
              <a:ea typeface="Wingdings" panose="05000000000000000000" charset="0"/>
              <a:cs typeface="Wingdings" panose="05000000000000000000" charset="0"/>
            </a:endParaRPr>
          </a:p>
          <a:p>
            <a:pPr marL="266700" indent="-266700" algn="l"/>
            <a:r>
              <a:rPr lang="en-US" altLang="zh-CN" sz="16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6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、竞品主要功能点：竞品的功能特点 、优势、竞争机会</a:t>
            </a:r>
            <a:endParaRPr lang="en-US" altLang="zh-CN" sz="16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6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1600" b="0" u="none">
                <a:latin typeface="Wingdings" panose="05000000000000000000" charset="0"/>
                <a:ea typeface="宋体" panose="02010600030101010101" pitchFamily="2" charset="-122"/>
                <a:cs typeface="Wingdings" panose="05000000000000000000" charset="0"/>
              </a:rPr>
              <a:t>、</a:t>
            </a:r>
            <a:r>
              <a:rPr lang="zh-CN" altLang="en-US" sz="1600" b="0" u="none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竞品的实力卖家：卖家的业务范围、卖家的实力大小</a:t>
            </a:r>
            <a:endParaRPr lang="zh-CN" altLang="en-US" sz="16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en-US" altLang="zh-CN" sz="14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en-US" altLang="zh-CN" sz="1600">
              <a:solidFill>
                <a:srgbClr val="0070C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23200" y="2843953"/>
            <a:ext cx="4117340" cy="6661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algn="l"/>
            <a:endParaRPr lang="zh-CN" altLang="en-US" sz="1335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2400"/>
          </a:p>
        </p:txBody>
      </p:sp>
      <p:pic>
        <p:nvPicPr>
          <p:cNvPr id="4" name="图片 3" descr="竞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60" y="2437765"/>
            <a:ext cx="8766175" cy="43662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378315" y="3157220"/>
            <a:ext cx="271970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制作材料：棉、尼龙、硅胶、橡胶等；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痛点：掉落、开线、压缩不紧；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卖点：防滑，透气，压缩合适，除味，轻盈等；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核心竞争力：价格、用材</a:t>
            </a:r>
            <a:endParaRPr lang="zh-CN" altLang="en-US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548171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竞品分析</a:t>
            </a:r>
            <a:endParaRPr lang="zh-CN" altLang="zh-CN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60" y="1060873"/>
            <a:ext cx="383963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130300" y="1292860"/>
            <a:ext cx="502327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产品优缺点因素分析</a:t>
            </a:r>
            <a:endParaRPr lang="en-US" altLang="zh-CN" sz="2400"/>
          </a:p>
        </p:txBody>
      </p:sp>
      <p:sp>
        <p:nvSpPr>
          <p:cNvPr id="5" name="TextBox 10"/>
          <p:cNvSpPr txBox="1"/>
          <p:nvPr/>
        </p:nvSpPr>
        <p:spPr>
          <a:xfrm>
            <a:off x="0" y="534624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竞品分析</a:t>
            </a:r>
            <a:endParaRPr lang="zh-CN" altLang="zh-CN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175760" y="1047327"/>
            <a:ext cx="383963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差评评价数明细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5115" y="2045970"/>
            <a:ext cx="4504690" cy="2952115"/>
          </a:xfrm>
          <a:prstGeom prst="rect">
            <a:avLst/>
          </a:prstGeom>
        </p:spPr>
      </p:pic>
      <p:pic>
        <p:nvPicPr>
          <p:cNvPr id="8" name="图片 7" descr="优点评价数明细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0" y="2045335"/>
            <a:ext cx="4620895" cy="295275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30935" y="5157470"/>
            <a:ext cx="46202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大部分好评主要是护膝能够有效缓解疼痛，这个应该是产品的特性，产品用材与压缩做到行业水准，都可达到目的，同时包装书可以赠送膝盖保护手册读物。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6982460" y="5157470"/>
            <a:ext cx="40341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开线的问题是最多的，需要避免，产品太薄的主要是轻薄款的反馈较多，厚度定性在</a:t>
            </a:r>
            <a:r>
              <a:rPr lang="en-US" altLang="zh-CN" sz="1600"/>
              <a:t>4mm</a:t>
            </a:r>
            <a:r>
              <a:rPr lang="zh-CN" altLang="en-US" sz="1600"/>
              <a:t>左右不厚不薄，比较好；过敏引人体质而异，不做探讨，尺寸需要重新做符合美国买家的新标准。</a:t>
            </a:r>
            <a:endParaRPr lang="zh-CN" alt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32837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用户需求分析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60" y="1316567"/>
            <a:ext cx="3743960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641773" y="1316567"/>
            <a:ext cx="6773333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algn="l"/>
            <a:r>
              <a:rPr lang="en-US" altLang="zh-CN" sz="1400" b="0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 b="0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、产品的使用场景</a:t>
            </a:r>
            <a:endParaRPr lang="zh-CN" altLang="en-US" sz="1400" b="0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en-US" altLang="zh-CN" sz="1400" b="0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400" b="0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、目标用户的需求点与痛点</a:t>
            </a:r>
            <a:r>
              <a:rPr lang="en-US" altLang="zh-CN" sz="1400" b="0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1400" b="0" i="1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大概了解主要竞品下的差评点，以此明确用户痛点</a:t>
            </a:r>
            <a:r>
              <a:rPr lang="en-US" altLang="zh-CN" sz="1400" b="0" i="1" u="non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1400" b="0" i="1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08053" y="2691553"/>
            <a:ext cx="1808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用户需求</a:t>
            </a: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1325880" y="3697393"/>
            <a:ext cx="2388447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70C0"/>
                </a:solidFill>
              </a:rPr>
              <a:t>运动、健身</a:t>
            </a:r>
            <a:endParaRPr lang="zh-CN" altLang="en-US" sz="1600">
              <a:solidFill>
                <a:srgbClr val="0070C0"/>
              </a:solidFill>
            </a:endParaRPr>
          </a:p>
          <a:p>
            <a:r>
              <a:rPr lang="zh-CN" altLang="en-US" sz="1600">
                <a:solidFill>
                  <a:srgbClr val="0070C0"/>
                </a:solidFill>
              </a:rPr>
              <a:t>做完膝盖手术后疗养</a:t>
            </a:r>
            <a:endParaRPr lang="zh-CN" altLang="en-US" sz="1600">
              <a:solidFill>
                <a:srgbClr val="0070C0"/>
              </a:solidFill>
            </a:endParaRPr>
          </a:p>
          <a:p>
            <a:endParaRPr lang="zh-CN" altLang="en-US" sz="1600">
              <a:solidFill>
                <a:srgbClr val="0070C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73390" y="3697605"/>
            <a:ext cx="144335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70C0"/>
                </a:solidFill>
              </a:rPr>
              <a:t>不掉落</a:t>
            </a:r>
            <a:endParaRPr lang="zh-CN" altLang="en-US" sz="1600">
              <a:solidFill>
                <a:srgbClr val="0070C0"/>
              </a:solidFill>
            </a:endParaRPr>
          </a:p>
          <a:p>
            <a:r>
              <a:rPr lang="zh-CN" altLang="en-US" sz="1600">
                <a:solidFill>
                  <a:srgbClr val="0070C0"/>
                </a:solidFill>
              </a:rPr>
              <a:t>透气</a:t>
            </a:r>
            <a:endParaRPr lang="zh-CN" altLang="en-US" sz="1600">
              <a:solidFill>
                <a:srgbClr val="0070C0"/>
              </a:solidFill>
            </a:endParaRPr>
          </a:p>
          <a:p>
            <a:r>
              <a:rPr lang="zh-CN" altLang="en-US" sz="1600">
                <a:solidFill>
                  <a:srgbClr val="0070C0"/>
                </a:solidFill>
              </a:rPr>
              <a:t>合适的压缩</a:t>
            </a:r>
            <a:endParaRPr lang="zh-CN" altLang="en-US" sz="1600">
              <a:solidFill>
                <a:srgbClr val="0070C0"/>
              </a:solidFill>
            </a:endParaRPr>
          </a:p>
          <a:p>
            <a:r>
              <a:rPr lang="zh-CN" altLang="en-US" sz="1600">
                <a:solidFill>
                  <a:srgbClr val="0070C0"/>
                </a:solidFill>
              </a:rPr>
              <a:t>轻盈</a:t>
            </a:r>
            <a:endParaRPr lang="zh-CN" altLang="en-US" sz="1600">
              <a:solidFill>
                <a:srgbClr val="0070C0"/>
              </a:solidFill>
            </a:endParaRPr>
          </a:p>
          <a:p>
            <a:r>
              <a:rPr lang="zh-CN" altLang="en-US" sz="1600">
                <a:solidFill>
                  <a:srgbClr val="0070C0"/>
                </a:solidFill>
              </a:rPr>
              <a:t>无异味</a:t>
            </a:r>
            <a:endParaRPr lang="zh-CN" altLang="en-US" sz="1600">
              <a:solidFill>
                <a:srgbClr val="0070C0"/>
              </a:solidFill>
            </a:endParaRPr>
          </a:p>
          <a:p>
            <a:r>
              <a:rPr lang="zh-CN" altLang="en-US" sz="1600">
                <a:solidFill>
                  <a:srgbClr val="0070C0"/>
                </a:solidFill>
              </a:rPr>
              <a:t>耐用</a:t>
            </a:r>
            <a:endParaRPr lang="zh-CN" altLang="en-US" sz="1600">
              <a:solidFill>
                <a:srgbClr val="0070C0"/>
              </a:solidFill>
            </a:endParaRPr>
          </a:p>
        </p:txBody>
      </p:sp>
      <p:sp>
        <p:nvSpPr>
          <p:cNvPr id="2" name="燕尾形 1"/>
          <p:cNvSpPr/>
          <p:nvPr/>
        </p:nvSpPr>
        <p:spPr>
          <a:xfrm>
            <a:off x="1408007" y="2691553"/>
            <a:ext cx="2225040" cy="5765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使用场景</a:t>
            </a:r>
            <a:endParaRPr lang="zh-CN" altLang="zh-CN" sz="2400"/>
          </a:p>
        </p:txBody>
      </p:sp>
      <p:sp>
        <p:nvSpPr>
          <p:cNvPr id="4" name="燕尾形 3"/>
          <p:cNvSpPr/>
          <p:nvPr/>
        </p:nvSpPr>
        <p:spPr>
          <a:xfrm>
            <a:off x="4491567" y="2691553"/>
            <a:ext cx="2225040" cy="5765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用户目标</a:t>
            </a:r>
            <a:endParaRPr lang="zh-CN" altLang="zh-CN" sz="2400"/>
          </a:p>
        </p:txBody>
      </p:sp>
      <p:sp>
        <p:nvSpPr>
          <p:cNvPr id="5" name="燕尾形 4"/>
          <p:cNvSpPr/>
          <p:nvPr/>
        </p:nvSpPr>
        <p:spPr>
          <a:xfrm>
            <a:off x="7575127" y="2691553"/>
            <a:ext cx="2225040" cy="57658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用户需求 </a:t>
            </a:r>
            <a:endParaRPr lang="zh-CN" altLang="zh-CN" sz="2400"/>
          </a:p>
        </p:txBody>
      </p:sp>
      <p:sp>
        <p:nvSpPr>
          <p:cNvPr id="7" name="文本框 6"/>
          <p:cNvSpPr txBox="1"/>
          <p:nvPr/>
        </p:nvSpPr>
        <p:spPr>
          <a:xfrm>
            <a:off x="5088890" y="3697605"/>
            <a:ext cx="10293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0070C0"/>
                </a:solidFill>
              </a:rPr>
              <a:t>运动保护</a:t>
            </a:r>
            <a:endParaRPr lang="zh-CN" altLang="en-US" sz="1600">
              <a:solidFill>
                <a:srgbClr val="0070C0"/>
              </a:solidFill>
            </a:endParaRPr>
          </a:p>
          <a:p>
            <a:r>
              <a:rPr lang="zh-CN" altLang="en-US" sz="1600">
                <a:solidFill>
                  <a:srgbClr val="0070C0"/>
                </a:solidFill>
              </a:rPr>
              <a:t>防寒保暖</a:t>
            </a:r>
            <a:endParaRPr lang="zh-CN" altLang="en-US" sz="1600">
              <a:solidFill>
                <a:srgbClr val="0070C0"/>
              </a:solidFill>
            </a:endParaRPr>
          </a:p>
          <a:p>
            <a:r>
              <a:rPr lang="zh-CN" altLang="en-US" sz="1600">
                <a:solidFill>
                  <a:srgbClr val="0070C0"/>
                </a:solidFill>
              </a:rPr>
              <a:t>关节养护</a:t>
            </a:r>
            <a:endParaRPr lang="zh-CN" altLang="en-US" sz="1600">
              <a:solidFill>
                <a:srgbClr val="0070C0"/>
              </a:solidFill>
            </a:endParaRPr>
          </a:p>
          <a:p>
            <a:endParaRPr lang="zh-CN" altLang="en-US" sz="1600">
              <a:solidFill>
                <a:srgbClr val="0070C0"/>
              </a:solidFill>
            </a:endParaRPr>
          </a:p>
          <a:p>
            <a:endParaRPr lang="zh-CN" altLang="en-US" sz="1600">
              <a:solidFill>
                <a:srgbClr val="0070C0"/>
              </a:solidFill>
            </a:endParaRPr>
          </a:p>
          <a:p>
            <a:endParaRPr lang="zh-CN" altLang="en-US" sz="16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32837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用户需求分析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224020" y="1145540"/>
            <a:ext cx="3743960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13"/>
          <p:cNvSpPr txBox="1"/>
          <p:nvPr/>
        </p:nvSpPr>
        <p:spPr>
          <a:xfrm>
            <a:off x="7952740" y="5414010"/>
            <a:ext cx="1551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乳胶注入，富弹力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3410676" y="2011524"/>
            <a:ext cx="4841240" cy="4533369"/>
            <a:chOff x="6220495" y="1319727"/>
            <a:chExt cx="4841241" cy="4533369"/>
          </a:xfrm>
        </p:grpSpPr>
        <p:grpSp>
          <p:nvGrpSpPr>
            <p:cNvPr id="35" name="组合 34"/>
            <p:cNvGrpSpPr/>
            <p:nvPr/>
          </p:nvGrpSpPr>
          <p:grpSpPr>
            <a:xfrm>
              <a:off x="6220495" y="1319727"/>
              <a:ext cx="4840583" cy="4533369"/>
              <a:chOff x="2343047" y="1309778"/>
              <a:chExt cx="3954359" cy="3703390"/>
            </a:xfrm>
          </p:grpSpPr>
          <p:sp>
            <p:nvSpPr>
              <p:cNvPr id="36" name="椭圆 35"/>
              <p:cNvSpPr/>
              <p:nvPr/>
            </p:nvSpPr>
            <p:spPr>
              <a:xfrm>
                <a:off x="2343047" y="2537225"/>
                <a:ext cx="1241831" cy="1241831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3004850" y="3763513"/>
                <a:ext cx="1241831" cy="1241831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4378610" y="3733750"/>
                <a:ext cx="1241831" cy="1241831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5055575" y="2564105"/>
                <a:ext cx="1241831" cy="1241831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4388135" y="1327601"/>
                <a:ext cx="1241831" cy="1241831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3047707" y="1327601"/>
                <a:ext cx="1241831" cy="1241831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54" name="Freeform 71922"/>
              <p:cNvSpPr/>
              <p:nvPr/>
            </p:nvSpPr>
            <p:spPr bwMode="auto">
              <a:xfrm>
                <a:off x="3095614" y="3809164"/>
                <a:ext cx="2406146" cy="1091836"/>
              </a:xfrm>
              <a:custGeom>
                <a:avLst/>
                <a:gdLst>
                  <a:gd name="T0" fmla="*/ 2222 w 2861"/>
                  <a:gd name="T1" fmla="*/ 1397 h 1397"/>
                  <a:gd name="T2" fmla="*/ 1752 w 2861"/>
                  <a:gd name="T3" fmla="*/ 1171 h 1397"/>
                  <a:gd name="T4" fmla="*/ 1433 w 2861"/>
                  <a:gd name="T5" fmla="*/ 1056 h 1397"/>
                  <a:gd name="T6" fmla="*/ 1109 w 2861"/>
                  <a:gd name="T7" fmla="*/ 1171 h 1397"/>
                  <a:gd name="T8" fmla="*/ 900 w 2861"/>
                  <a:gd name="T9" fmla="*/ 1336 h 1397"/>
                  <a:gd name="T10" fmla="*/ 639 w 2861"/>
                  <a:gd name="T11" fmla="*/ 1397 h 1397"/>
                  <a:gd name="T12" fmla="*/ 0 w 2861"/>
                  <a:gd name="T13" fmla="*/ 699 h 1397"/>
                  <a:gd name="T14" fmla="*/ 639 w 2861"/>
                  <a:gd name="T15" fmla="*/ 0 h 1397"/>
                  <a:gd name="T16" fmla="*/ 1109 w 2861"/>
                  <a:gd name="T17" fmla="*/ 226 h 1397"/>
                  <a:gd name="T18" fmla="*/ 1109 w 2861"/>
                  <a:gd name="T19" fmla="*/ 226 h 1397"/>
                  <a:gd name="T20" fmla="*/ 1438 w 2861"/>
                  <a:gd name="T21" fmla="*/ 339 h 1397"/>
                  <a:gd name="T22" fmla="*/ 1752 w 2861"/>
                  <a:gd name="T23" fmla="*/ 226 h 1397"/>
                  <a:gd name="T24" fmla="*/ 2222 w 2861"/>
                  <a:gd name="T25" fmla="*/ 0 h 1397"/>
                  <a:gd name="T26" fmla="*/ 2861 w 2861"/>
                  <a:gd name="T27" fmla="*/ 699 h 1397"/>
                  <a:gd name="T28" fmla="*/ 2222 w 2861"/>
                  <a:gd name="T29" fmla="*/ 1397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61" h="1397">
                    <a:moveTo>
                      <a:pt x="2222" y="1397"/>
                    </a:moveTo>
                    <a:cubicBezTo>
                      <a:pt x="2048" y="1397"/>
                      <a:pt x="1881" y="1317"/>
                      <a:pt x="1752" y="1171"/>
                    </a:cubicBezTo>
                    <a:cubicBezTo>
                      <a:pt x="1688" y="1099"/>
                      <a:pt x="1569" y="1056"/>
                      <a:pt x="1433" y="1056"/>
                    </a:cubicBezTo>
                    <a:cubicBezTo>
                      <a:pt x="1294" y="1056"/>
                      <a:pt x="1170" y="1100"/>
                      <a:pt x="1109" y="1171"/>
                    </a:cubicBezTo>
                    <a:cubicBezTo>
                      <a:pt x="1049" y="1242"/>
                      <a:pt x="979" y="1297"/>
                      <a:pt x="900" y="1336"/>
                    </a:cubicBezTo>
                    <a:cubicBezTo>
                      <a:pt x="817" y="1377"/>
                      <a:pt x="729" y="1397"/>
                      <a:pt x="639" y="1397"/>
                    </a:cubicBezTo>
                    <a:cubicBezTo>
                      <a:pt x="286" y="1397"/>
                      <a:pt x="0" y="1084"/>
                      <a:pt x="0" y="699"/>
                    </a:cubicBezTo>
                    <a:cubicBezTo>
                      <a:pt x="0" y="313"/>
                      <a:pt x="286" y="0"/>
                      <a:pt x="639" y="0"/>
                    </a:cubicBezTo>
                    <a:cubicBezTo>
                      <a:pt x="817" y="0"/>
                      <a:pt x="988" y="82"/>
                      <a:pt x="1109" y="226"/>
                    </a:cubicBezTo>
                    <a:cubicBezTo>
                      <a:pt x="1109" y="226"/>
                      <a:pt x="1109" y="226"/>
                      <a:pt x="1109" y="226"/>
                    </a:cubicBezTo>
                    <a:cubicBezTo>
                      <a:pt x="1177" y="297"/>
                      <a:pt x="1299" y="339"/>
                      <a:pt x="1438" y="339"/>
                    </a:cubicBezTo>
                    <a:cubicBezTo>
                      <a:pt x="1576" y="339"/>
                      <a:pt x="1696" y="296"/>
                      <a:pt x="1752" y="226"/>
                    </a:cubicBezTo>
                    <a:cubicBezTo>
                      <a:pt x="1873" y="82"/>
                      <a:pt x="2044" y="0"/>
                      <a:pt x="2222" y="0"/>
                    </a:cubicBezTo>
                    <a:cubicBezTo>
                      <a:pt x="2575" y="0"/>
                      <a:pt x="2861" y="313"/>
                      <a:pt x="2861" y="699"/>
                    </a:cubicBezTo>
                    <a:cubicBezTo>
                      <a:pt x="2861" y="1084"/>
                      <a:pt x="2575" y="1397"/>
                      <a:pt x="2222" y="1397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5" name="Freeform 71929"/>
              <p:cNvSpPr/>
              <p:nvPr/>
            </p:nvSpPr>
            <p:spPr bwMode="auto">
              <a:xfrm>
                <a:off x="2347876" y="2524091"/>
                <a:ext cx="1896662" cy="2489077"/>
              </a:xfrm>
              <a:custGeom>
                <a:avLst/>
                <a:gdLst>
                  <a:gd name="T0" fmla="*/ 1283 w 2251"/>
                  <a:gd name="T1" fmla="*/ 448 h 3095"/>
                  <a:gd name="T2" fmla="*/ 1339 w 2251"/>
                  <a:gd name="T3" fmla="*/ 1007 h 3095"/>
                  <a:gd name="T4" fmla="*/ 1407 w 2251"/>
                  <a:gd name="T5" fmla="*/ 1366 h 3095"/>
                  <a:gd name="T6" fmla="*/ 1660 w 2251"/>
                  <a:gd name="T7" fmla="*/ 1616 h 3095"/>
                  <a:gd name="T8" fmla="*/ 1896 w 2251"/>
                  <a:gd name="T9" fmla="*/ 1731 h 3095"/>
                  <a:gd name="T10" fmla="*/ 2075 w 2251"/>
                  <a:gd name="T11" fmla="*/ 1948 h 3095"/>
                  <a:gd name="T12" fmla="*/ 1841 w 2251"/>
                  <a:gd name="T13" fmla="*/ 2903 h 3095"/>
                  <a:gd name="T14" fmla="*/ 968 w 2251"/>
                  <a:gd name="T15" fmla="*/ 2647 h 3095"/>
                  <a:gd name="T16" fmla="*/ 912 w 2251"/>
                  <a:gd name="T17" fmla="*/ 2088 h 3095"/>
                  <a:gd name="T18" fmla="*/ 912 w 2251"/>
                  <a:gd name="T19" fmla="*/ 2088 h 3095"/>
                  <a:gd name="T20" fmla="*/ 837 w 2251"/>
                  <a:gd name="T21" fmla="*/ 1720 h 3095"/>
                  <a:gd name="T22" fmla="*/ 590 w 2251"/>
                  <a:gd name="T23" fmla="*/ 1479 h 3095"/>
                  <a:gd name="T24" fmla="*/ 176 w 2251"/>
                  <a:gd name="T25" fmla="*/ 1147 h 3095"/>
                  <a:gd name="T26" fmla="*/ 410 w 2251"/>
                  <a:gd name="T27" fmla="*/ 192 h 3095"/>
                  <a:gd name="T28" fmla="*/ 1283 w 2251"/>
                  <a:gd name="T29" fmla="*/ 448 h 3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51" h="3095">
                    <a:moveTo>
                      <a:pt x="1283" y="448"/>
                    </a:moveTo>
                    <a:cubicBezTo>
                      <a:pt x="1370" y="613"/>
                      <a:pt x="1390" y="811"/>
                      <a:pt x="1339" y="1007"/>
                    </a:cubicBezTo>
                    <a:cubicBezTo>
                      <a:pt x="1314" y="1104"/>
                      <a:pt x="1339" y="1238"/>
                      <a:pt x="1407" y="1366"/>
                    </a:cubicBezTo>
                    <a:cubicBezTo>
                      <a:pt x="1477" y="1498"/>
                      <a:pt x="1574" y="1594"/>
                      <a:pt x="1660" y="1616"/>
                    </a:cubicBezTo>
                    <a:cubicBezTo>
                      <a:pt x="1746" y="1637"/>
                      <a:pt x="1825" y="1676"/>
                      <a:pt x="1896" y="1731"/>
                    </a:cubicBezTo>
                    <a:cubicBezTo>
                      <a:pt x="1969" y="1789"/>
                      <a:pt x="2029" y="1862"/>
                      <a:pt x="2075" y="1948"/>
                    </a:cubicBezTo>
                    <a:cubicBezTo>
                      <a:pt x="2251" y="2282"/>
                      <a:pt x="2146" y="2710"/>
                      <a:pt x="1841" y="2903"/>
                    </a:cubicBezTo>
                    <a:cubicBezTo>
                      <a:pt x="1536" y="3095"/>
                      <a:pt x="1144" y="2980"/>
                      <a:pt x="968" y="2647"/>
                    </a:cubicBezTo>
                    <a:cubicBezTo>
                      <a:pt x="879" y="2478"/>
                      <a:pt x="858" y="2274"/>
                      <a:pt x="912" y="2088"/>
                    </a:cubicBezTo>
                    <a:cubicBezTo>
                      <a:pt x="912" y="2088"/>
                      <a:pt x="912" y="2088"/>
                      <a:pt x="912" y="2088"/>
                    </a:cubicBezTo>
                    <a:cubicBezTo>
                      <a:pt x="934" y="1989"/>
                      <a:pt x="907" y="1851"/>
                      <a:pt x="837" y="1720"/>
                    </a:cubicBezTo>
                    <a:cubicBezTo>
                      <a:pt x="768" y="1589"/>
                      <a:pt x="674" y="1497"/>
                      <a:pt x="590" y="1479"/>
                    </a:cubicBezTo>
                    <a:cubicBezTo>
                      <a:pt x="416" y="1437"/>
                      <a:pt x="265" y="1316"/>
                      <a:pt x="176" y="1147"/>
                    </a:cubicBezTo>
                    <a:cubicBezTo>
                      <a:pt x="0" y="813"/>
                      <a:pt x="105" y="385"/>
                      <a:pt x="410" y="192"/>
                    </a:cubicBezTo>
                    <a:cubicBezTo>
                      <a:pt x="715" y="0"/>
                      <a:pt x="1107" y="114"/>
                      <a:pt x="1283" y="448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6" name="Freeform 71928"/>
              <p:cNvSpPr/>
              <p:nvPr/>
            </p:nvSpPr>
            <p:spPr bwMode="auto">
              <a:xfrm rot="7240418">
                <a:off x="2066002" y="2005067"/>
                <a:ext cx="2483084" cy="1092506"/>
              </a:xfrm>
              <a:custGeom>
                <a:avLst/>
                <a:gdLst>
                  <a:gd name="T0" fmla="*/ 2222 w 2861"/>
                  <a:gd name="T1" fmla="*/ 1398 h 1398"/>
                  <a:gd name="T2" fmla="*/ 1752 w 2861"/>
                  <a:gd name="T3" fmla="*/ 1172 h 1398"/>
                  <a:gd name="T4" fmla="*/ 1433 w 2861"/>
                  <a:gd name="T5" fmla="*/ 1056 h 1398"/>
                  <a:gd name="T6" fmla="*/ 1109 w 2861"/>
                  <a:gd name="T7" fmla="*/ 1172 h 1398"/>
                  <a:gd name="T8" fmla="*/ 900 w 2861"/>
                  <a:gd name="T9" fmla="*/ 1337 h 1398"/>
                  <a:gd name="T10" fmla="*/ 639 w 2861"/>
                  <a:gd name="T11" fmla="*/ 1398 h 1398"/>
                  <a:gd name="T12" fmla="*/ 0 w 2861"/>
                  <a:gd name="T13" fmla="*/ 699 h 1398"/>
                  <a:gd name="T14" fmla="*/ 639 w 2861"/>
                  <a:gd name="T15" fmla="*/ 0 h 1398"/>
                  <a:gd name="T16" fmla="*/ 1109 w 2861"/>
                  <a:gd name="T17" fmla="*/ 226 h 1398"/>
                  <a:gd name="T18" fmla="*/ 1109 w 2861"/>
                  <a:gd name="T19" fmla="*/ 227 h 1398"/>
                  <a:gd name="T20" fmla="*/ 1438 w 2861"/>
                  <a:gd name="T21" fmla="*/ 340 h 1398"/>
                  <a:gd name="T22" fmla="*/ 1752 w 2861"/>
                  <a:gd name="T23" fmla="*/ 226 h 1398"/>
                  <a:gd name="T24" fmla="*/ 2222 w 2861"/>
                  <a:gd name="T25" fmla="*/ 0 h 1398"/>
                  <a:gd name="T26" fmla="*/ 2861 w 2861"/>
                  <a:gd name="T27" fmla="*/ 699 h 1398"/>
                  <a:gd name="T28" fmla="*/ 2222 w 2861"/>
                  <a:gd name="T29" fmla="*/ 1398 h 1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61" h="1398">
                    <a:moveTo>
                      <a:pt x="2222" y="1398"/>
                    </a:moveTo>
                    <a:cubicBezTo>
                      <a:pt x="2048" y="1398"/>
                      <a:pt x="1881" y="1317"/>
                      <a:pt x="1752" y="1172"/>
                    </a:cubicBezTo>
                    <a:cubicBezTo>
                      <a:pt x="1688" y="1099"/>
                      <a:pt x="1569" y="1056"/>
                      <a:pt x="1433" y="1056"/>
                    </a:cubicBezTo>
                    <a:cubicBezTo>
                      <a:pt x="1294" y="1056"/>
                      <a:pt x="1170" y="1100"/>
                      <a:pt x="1109" y="1172"/>
                    </a:cubicBezTo>
                    <a:cubicBezTo>
                      <a:pt x="1049" y="1242"/>
                      <a:pt x="979" y="1298"/>
                      <a:pt x="900" y="1337"/>
                    </a:cubicBezTo>
                    <a:cubicBezTo>
                      <a:pt x="817" y="1377"/>
                      <a:pt x="729" y="1398"/>
                      <a:pt x="639" y="1398"/>
                    </a:cubicBezTo>
                    <a:cubicBezTo>
                      <a:pt x="286" y="1398"/>
                      <a:pt x="0" y="1084"/>
                      <a:pt x="0" y="699"/>
                    </a:cubicBezTo>
                    <a:cubicBezTo>
                      <a:pt x="0" y="314"/>
                      <a:pt x="286" y="0"/>
                      <a:pt x="639" y="0"/>
                    </a:cubicBezTo>
                    <a:cubicBezTo>
                      <a:pt x="817" y="0"/>
                      <a:pt x="988" y="83"/>
                      <a:pt x="1109" y="226"/>
                    </a:cubicBezTo>
                    <a:cubicBezTo>
                      <a:pt x="1109" y="227"/>
                      <a:pt x="1109" y="227"/>
                      <a:pt x="1109" y="227"/>
                    </a:cubicBezTo>
                    <a:cubicBezTo>
                      <a:pt x="1177" y="297"/>
                      <a:pt x="1299" y="340"/>
                      <a:pt x="1438" y="340"/>
                    </a:cubicBezTo>
                    <a:cubicBezTo>
                      <a:pt x="1576" y="340"/>
                      <a:pt x="1696" y="296"/>
                      <a:pt x="1752" y="226"/>
                    </a:cubicBezTo>
                    <a:cubicBezTo>
                      <a:pt x="1873" y="83"/>
                      <a:pt x="2044" y="0"/>
                      <a:pt x="2222" y="0"/>
                    </a:cubicBezTo>
                    <a:cubicBezTo>
                      <a:pt x="2575" y="0"/>
                      <a:pt x="2861" y="314"/>
                      <a:pt x="2861" y="699"/>
                    </a:cubicBezTo>
                    <a:cubicBezTo>
                      <a:pt x="2861" y="1084"/>
                      <a:pt x="2575" y="1398"/>
                      <a:pt x="2222" y="1398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71922"/>
              <p:cNvSpPr/>
              <p:nvPr/>
            </p:nvSpPr>
            <p:spPr bwMode="auto">
              <a:xfrm>
                <a:off x="3132179" y="1402680"/>
                <a:ext cx="2405790" cy="1091675"/>
              </a:xfrm>
              <a:custGeom>
                <a:avLst/>
                <a:gdLst>
                  <a:gd name="T0" fmla="*/ 2222 w 2861"/>
                  <a:gd name="T1" fmla="*/ 1397 h 1397"/>
                  <a:gd name="T2" fmla="*/ 1752 w 2861"/>
                  <a:gd name="T3" fmla="*/ 1171 h 1397"/>
                  <a:gd name="T4" fmla="*/ 1433 w 2861"/>
                  <a:gd name="T5" fmla="*/ 1056 h 1397"/>
                  <a:gd name="T6" fmla="*/ 1109 w 2861"/>
                  <a:gd name="T7" fmla="*/ 1171 h 1397"/>
                  <a:gd name="T8" fmla="*/ 900 w 2861"/>
                  <a:gd name="T9" fmla="*/ 1336 h 1397"/>
                  <a:gd name="T10" fmla="*/ 639 w 2861"/>
                  <a:gd name="T11" fmla="*/ 1397 h 1397"/>
                  <a:gd name="T12" fmla="*/ 0 w 2861"/>
                  <a:gd name="T13" fmla="*/ 699 h 1397"/>
                  <a:gd name="T14" fmla="*/ 639 w 2861"/>
                  <a:gd name="T15" fmla="*/ 0 h 1397"/>
                  <a:gd name="T16" fmla="*/ 1109 w 2861"/>
                  <a:gd name="T17" fmla="*/ 226 h 1397"/>
                  <a:gd name="T18" fmla="*/ 1109 w 2861"/>
                  <a:gd name="T19" fmla="*/ 226 h 1397"/>
                  <a:gd name="T20" fmla="*/ 1438 w 2861"/>
                  <a:gd name="T21" fmla="*/ 339 h 1397"/>
                  <a:gd name="T22" fmla="*/ 1752 w 2861"/>
                  <a:gd name="T23" fmla="*/ 226 h 1397"/>
                  <a:gd name="T24" fmla="*/ 2222 w 2861"/>
                  <a:gd name="T25" fmla="*/ 0 h 1397"/>
                  <a:gd name="T26" fmla="*/ 2861 w 2861"/>
                  <a:gd name="T27" fmla="*/ 699 h 1397"/>
                  <a:gd name="T28" fmla="*/ 2222 w 2861"/>
                  <a:gd name="T29" fmla="*/ 1397 h 13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861" h="1397">
                    <a:moveTo>
                      <a:pt x="2222" y="1397"/>
                    </a:moveTo>
                    <a:cubicBezTo>
                      <a:pt x="2048" y="1397"/>
                      <a:pt x="1881" y="1317"/>
                      <a:pt x="1752" y="1171"/>
                    </a:cubicBezTo>
                    <a:cubicBezTo>
                      <a:pt x="1688" y="1099"/>
                      <a:pt x="1569" y="1056"/>
                      <a:pt x="1433" y="1056"/>
                    </a:cubicBezTo>
                    <a:cubicBezTo>
                      <a:pt x="1294" y="1056"/>
                      <a:pt x="1170" y="1100"/>
                      <a:pt x="1109" y="1171"/>
                    </a:cubicBezTo>
                    <a:cubicBezTo>
                      <a:pt x="1049" y="1242"/>
                      <a:pt x="979" y="1297"/>
                      <a:pt x="900" y="1336"/>
                    </a:cubicBezTo>
                    <a:cubicBezTo>
                      <a:pt x="817" y="1377"/>
                      <a:pt x="729" y="1397"/>
                      <a:pt x="639" y="1397"/>
                    </a:cubicBezTo>
                    <a:cubicBezTo>
                      <a:pt x="286" y="1397"/>
                      <a:pt x="0" y="1084"/>
                      <a:pt x="0" y="699"/>
                    </a:cubicBezTo>
                    <a:cubicBezTo>
                      <a:pt x="0" y="313"/>
                      <a:pt x="286" y="0"/>
                      <a:pt x="639" y="0"/>
                    </a:cubicBezTo>
                    <a:cubicBezTo>
                      <a:pt x="817" y="0"/>
                      <a:pt x="988" y="82"/>
                      <a:pt x="1109" y="226"/>
                    </a:cubicBezTo>
                    <a:cubicBezTo>
                      <a:pt x="1109" y="226"/>
                      <a:pt x="1109" y="226"/>
                      <a:pt x="1109" y="226"/>
                    </a:cubicBezTo>
                    <a:cubicBezTo>
                      <a:pt x="1177" y="297"/>
                      <a:pt x="1299" y="339"/>
                      <a:pt x="1438" y="339"/>
                    </a:cubicBezTo>
                    <a:cubicBezTo>
                      <a:pt x="1576" y="339"/>
                      <a:pt x="1696" y="296"/>
                      <a:pt x="1752" y="226"/>
                    </a:cubicBezTo>
                    <a:cubicBezTo>
                      <a:pt x="1873" y="82"/>
                      <a:pt x="2044" y="0"/>
                      <a:pt x="2222" y="0"/>
                    </a:cubicBezTo>
                    <a:cubicBezTo>
                      <a:pt x="2575" y="0"/>
                      <a:pt x="2861" y="313"/>
                      <a:pt x="2861" y="699"/>
                    </a:cubicBezTo>
                    <a:cubicBezTo>
                      <a:pt x="2861" y="1084"/>
                      <a:pt x="2575" y="1397"/>
                      <a:pt x="2222" y="1397"/>
                    </a:cubicBezTo>
                    <a:close/>
                  </a:path>
                </a:pathLst>
              </a:custGeom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reeform 71924"/>
              <p:cNvSpPr/>
              <p:nvPr/>
            </p:nvSpPr>
            <p:spPr bwMode="auto">
              <a:xfrm>
                <a:off x="4413384" y="1324710"/>
                <a:ext cx="1870765" cy="2489077"/>
              </a:xfrm>
              <a:custGeom>
                <a:avLst/>
                <a:gdLst>
                  <a:gd name="T0" fmla="*/ 1283 w 2251"/>
                  <a:gd name="T1" fmla="*/ 449 h 3096"/>
                  <a:gd name="T2" fmla="*/ 1339 w 2251"/>
                  <a:gd name="T3" fmla="*/ 1007 h 3096"/>
                  <a:gd name="T4" fmla="*/ 1407 w 2251"/>
                  <a:gd name="T5" fmla="*/ 1367 h 3096"/>
                  <a:gd name="T6" fmla="*/ 1661 w 2251"/>
                  <a:gd name="T7" fmla="*/ 1616 h 3096"/>
                  <a:gd name="T8" fmla="*/ 1896 w 2251"/>
                  <a:gd name="T9" fmla="*/ 1732 h 3096"/>
                  <a:gd name="T10" fmla="*/ 2075 w 2251"/>
                  <a:gd name="T11" fmla="*/ 1949 h 3096"/>
                  <a:gd name="T12" fmla="*/ 1841 w 2251"/>
                  <a:gd name="T13" fmla="*/ 2903 h 3096"/>
                  <a:gd name="T14" fmla="*/ 968 w 2251"/>
                  <a:gd name="T15" fmla="*/ 2647 h 3096"/>
                  <a:gd name="T16" fmla="*/ 912 w 2251"/>
                  <a:gd name="T17" fmla="*/ 2089 h 3096"/>
                  <a:gd name="T18" fmla="*/ 912 w 2251"/>
                  <a:gd name="T19" fmla="*/ 2088 h 3096"/>
                  <a:gd name="T20" fmla="*/ 838 w 2251"/>
                  <a:gd name="T21" fmla="*/ 1721 h 3096"/>
                  <a:gd name="T22" fmla="*/ 590 w 2251"/>
                  <a:gd name="T23" fmla="*/ 1480 h 3096"/>
                  <a:gd name="T24" fmla="*/ 177 w 2251"/>
                  <a:gd name="T25" fmla="*/ 1147 h 3096"/>
                  <a:gd name="T26" fmla="*/ 410 w 2251"/>
                  <a:gd name="T27" fmla="*/ 193 h 3096"/>
                  <a:gd name="T28" fmla="*/ 1283 w 2251"/>
                  <a:gd name="T29" fmla="*/ 449 h 30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51" h="3096">
                    <a:moveTo>
                      <a:pt x="1283" y="449"/>
                    </a:moveTo>
                    <a:cubicBezTo>
                      <a:pt x="1370" y="613"/>
                      <a:pt x="1390" y="812"/>
                      <a:pt x="1339" y="1007"/>
                    </a:cubicBezTo>
                    <a:cubicBezTo>
                      <a:pt x="1314" y="1104"/>
                      <a:pt x="1340" y="1239"/>
                      <a:pt x="1407" y="1367"/>
                    </a:cubicBezTo>
                    <a:cubicBezTo>
                      <a:pt x="1477" y="1499"/>
                      <a:pt x="1574" y="1594"/>
                      <a:pt x="1661" y="1616"/>
                    </a:cubicBezTo>
                    <a:cubicBezTo>
                      <a:pt x="1746" y="1638"/>
                      <a:pt x="1826" y="1677"/>
                      <a:pt x="1896" y="1732"/>
                    </a:cubicBezTo>
                    <a:cubicBezTo>
                      <a:pt x="1969" y="1790"/>
                      <a:pt x="2029" y="1863"/>
                      <a:pt x="2075" y="1949"/>
                    </a:cubicBezTo>
                    <a:cubicBezTo>
                      <a:pt x="2251" y="2282"/>
                      <a:pt x="2146" y="2711"/>
                      <a:pt x="1841" y="2903"/>
                    </a:cubicBezTo>
                    <a:cubicBezTo>
                      <a:pt x="1536" y="3096"/>
                      <a:pt x="1145" y="2981"/>
                      <a:pt x="968" y="2647"/>
                    </a:cubicBezTo>
                    <a:cubicBezTo>
                      <a:pt x="879" y="2479"/>
                      <a:pt x="859" y="2275"/>
                      <a:pt x="912" y="2089"/>
                    </a:cubicBezTo>
                    <a:cubicBezTo>
                      <a:pt x="912" y="2088"/>
                      <a:pt x="912" y="2088"/>
                      <a:pt x="912" y="2088"/>
                    </a:cubicBezTo>
                    <a:cubicBezTo>
                      <a:pt x="935" y="1989"/>
                      <a:pt x="907" y="1852"/>
                      <a:pt x="838" y="1721"/>
                    </a:cubicBezTo>
                    <a:cubicBezTo>
                      <a:pt x="769" y="1590"/>
                      <a:pt x="674" y="1498"/>
                      <a:pt x="590" y="1480"/>
                    </a:cubicBezTo>
                    <a:cubicBezTo>
                      <a:pt x="417" y="1437"/>
                      <a:pt x="266" y="1316"/>
                      <a:pt x="177" y="1147"/>
                    </a:cubicBezTo>
                    <a:cubicBezTo>
                      <a:pt x="0" y="814"/>
                      <a:pt x="105" y="386"/>
                      <a:pt x="410" y="193"/>
                    </a:cubicBezTo>
                    <a:cubicBezTo>
                      <a:pt x="715" y="0"/>
                      <a:pt x="1107" y="115"/>
                      <a:pt x="1283" y="449"/>
                    </a:cubicBezTo>
                    <a:close/>
                  </a:path>
                </a:pathLst>
              </a:custGeom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9" name="Freeform 71926"/>
              <p:cNvSpPr/>
              <p:nvPr/>
            </p:nvSpPr>
            <p:spPr bwMode="auto">
              <a:xfrm>
                <a:off x="4413160" y="2557960"/>
                <a:ext cx="1865014" cy="2411107"/>
              </a:xfrm>
              <a:custGeom>
                <a:avLst/>
                <a:gdLst>
                  <a:gd name="T0" fmla="*/ 968 w 2250"/>
                  <a:gd name="T1" fmla="*/ 448 h 3096"/>
                  <a:gd name="T2" fmla="*/ 912 w 2250"/>
                  <a:gd name="T3" fmla="*/ 1007 h 3096"/>
                  <a:gd name="T4" fmla="*/ 844 w 2250"/>
                  <a:gd name="T5" fmla="*/ 1366 h 3096"/>
                  <a:gd name="T6" fmla="*/ 590 w 2250"/>
                  <a:gd name="T7" fmla="*/ 1616 h 3096"/>
                  <a:gd name="T8" fmla="*/ 355 w 2250"/>
                  <a:gd name="T9" fmla="*/ 1732 h 3096"/>
                  <a:gd name="T10" fmla="*/ 176 w 2250"/>
                  <a:gd name="T11" fmla="*/ 1948 h 3096"/>
                  <a:gd name="T12" fmla="*/ 410 w 2250"/>
                  <a:gd name="T13" fmla="*/ 2903 h 3096"/>
                  <a:gd name="T14" fmla="*/ 1282 w 2250"/>
                  <a:gd name="T15" fmla="*/ 2647 h 3096"/>
                  <a:gd name="T16" fmla="*/ 1339 w 2250"/>
                  <a:gd name="T17" fmla="*/ 2089 h 3096"/>
                  <a:gd name="T18" fmla="*/ 1338 w 2250"/>
                  <a:gd name="T19" fmla="*/ 2088 h 3096"/>
                  <a:gd name="T20" fmla="*/ 1413 w 2250"/>
                  <a:gd name="T21" fmla="*/ 1721 h 3096"/>
                  <a:gd name="T22" fmla="*/ 1660 w 2250"/>
                  <a:gd name="T23" fmla="*/ 1480 h 3096"/>
                  <a:gd name="T24" fmla="*/ 2074 w 2250"/>
                  <a:gd name="T25" fmla="*/ 1147 h 3096"/>
                  <a:gd name="T26" fmla="*/ 1840 w 2250"/>
                  <a:gd name="T27" fmla="*/ 193 h 3096"/>
                  <a:gd name="T28" fmla="*/ 968 w 2250"/>
                  <a:gd name="T29" fmla="*/ 448 h 30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250" h="3096">
                    <a:moveTo>
                      <a:pt x="968" y="448"/>
                    </a:moveTo>
                    <a:cubicBezTo>
                      <a:pt x="881" y="613"/>
                      <a:pt x="861" y="812"/>
                      <a:pt x="912" y="1007"/>
                    </a:cubicBezTo>
                    <a:cubicBezTo>
                      <a:pt x="937" y="1104"/>
                      <a:pt x="911" y="1238"/>
                      <a:pt x="844" y="1366"/>
                    </a:cubicBezTo>
                    <a:cubicBezTo>
                      <a:pt x="774" y="1499"/>
                      <a:pt x="677" y="1594"/>
                      <a:pt x="590" y="1616"/>
                    </a:cubicBezTo>
                    <a:cubicBezTo>
                      <a:pt x="504" y="1637"/>
                      <a:pt x="425" y="1677"/>
                      <a:pt x="355" y="1732"/>
                    </a:cubicBezTo>
                    <a:cubicBezTo>
                      <a:pt x="281" y="1790"/>
                      <a:pt x="221" y="1863"/>
                      <a:pt x="176" y="1948"/>
                    </a:cubicBezTo>
                    <a:cubicBezTo>
                      <a:pt x="0" y="2282"/>
                      <a:pt x="105" y="2710"/>
                      <a:pt x="410" y="2903"/>
                    </a:cubicBezTo>
                    <a:cubicBezTo>
                      <a:pt x="715" y="3096"/>
                      <a:pt x="1106" y="2981"/>
                      <a:pt x="1282" y="2647"/>
                    </a:cubicBezTo>
                    <a:cubicBezTo>
                      <a:pt x="1371" y="2478"/>
                      <a:pt x="1392" y="2275"/>
                      <a:pt x="1339" y="2089"/>
                    </a:cubicBezTo>
                    <a:cubicBezTo>
                      <a:pt x="1338" y="2088"/>
                      <a:pt x="1338" y="2088"/>
                      <a:pt x="1338" y="2088"/>
                    </a:cubicBezTo>
                    <a:cubicBezTo>
                      <a:pt x="1316" y="1989"/>
                      <a:pt x="1344" y="1852"/>
                      <a:pt x="1413" y="1721"/>
                    </a:cubicBezTo>
                    <a:cubicBezTo>
                      <a:pt x="1482" y="1590"/>
                      <a:pt x="1577" y="1498"/>
                      <a:pt x="1660" y="1480"/>
                    </a:cubicBezTo>
                    <a:cubicBezTo>
                      <a:pt x="1834" y="1437"/>
                      <a:pt x="1985" y="1316"/>
                      <a:pt x="2074" y="1147"/>
                    </a:cubicBezTo>
                    <a:cubicBezTo>
                      <a:pt x="2250" y="813"/>
                      <a:pt x="2145" y="385"/>
                      <a:pt x="1840" y="193"/>
                    </a:cubicBezTo>
                    <a:cubicBezTo>
                      <a:pt x="1535" y="0"/>
                      <a:pt x="1144" y="115"/>
                      <a:pt x="968" y="448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0" name="任意多边形 59"/>
              <p:cNvSpPr/>
              <p:nvPr/>
            </p:nvSpPr>
            <p:spPr bwMode="auto">
              <a:xfrm>
                <a:off x="4346312" y="3809164"/>
                <a:ext cx="1202895" cy="1091675"/>
              </a:xfrm>
              <a:custGeom>
                <a:avLst/>
                <a:gdLst>
                  <a:gd name="connsiteX0" fmla="*/ 665566 w 1202895"/>
                  <a:gd name="connsiteY0" fmla="*/ 0 h 1091675"/>
                  <a:gd name="connsiteX1" fmla="*/ 1202895 w 1202895"/>
                  <a:gd name="connsiteY1" fmla="*/ 546228 h 1091675"/>
                  <a:gd name="connsiteX2" fmla="*/ 665566 w 1202895"/>
                  <a:gd name="connsiteY2" fmla="*/ 1091675 h 1091675"/>
                  <a:gd name="connsiteX3" fmla="*/ 270346 w 1202895"/>
                  <a:gd name="connsiteY3" fmla="*/ 915069 h 1091675"/>
                  <a:gd name="connsiteX4" fmla="*/ 2102 w 1202895"/>
                  <a:gd name="connsiteY4" fmla="*/ 825203 h 1091675"/>
                  <a:gd name="connsiteX5" fmla="*/ 0 w 1202895"/>
                  <a:gd name="connsiteY5" fmla="*/ 825358 h 1091675"/>
                  <a:gd name="connsiteX6" fmla="*/ 0 w 1202895"/>
                  <a:gd name="connsiteY6" fmla="*/ 264462 h 1091675"/>
                  <a:gd name="connsiteX7" fmla="*/ 6307 w 1202895"/>
                  <a:gd name="connsiteY7" fmla="*/ 264909 h 1091675"/>
                  <a:gd name="connsiteX8" fmla="*/ 270346 w 1202895"/>
                  <a:gd name="connsiteY8" fmla="*/ 176606 h 1091675"/>
                  <a:gd name="connsiteX9" fmla="*/ 665566 w 1202895"/>
                  <a:gd name="connsiteY9" fmla="*/ 0 h 1091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02895" h="1091675">
                    <a:moveTo>
                      <a:pt x="665566" y="0"/>
                    </a:moveTo>
                    <a:cubicBezTo>
                      <a:pt x="962400" y="0"/>
                      <a:pt x="1202895" y="244592"/>
                      <a:pt x="1202895" y="546228"/>
                    </a:cubicBezTo>
                    <a:cubicBezTo>
                      <a:pt x="1202895" y="847084"/>
                      <a:pt x="962400" y="1091675"/>
                      <a:pt x="665566" y="1091675"/>
                    </a:cubicBezTo>
                    <a:cubicBezTo>
                      <a:pt x="519250" y="1091675"/>
                      <a:pt x="378822" y="1029160"/>
                      <a:pt x="270346" y="915069"/>
                    </a:cubicBezTo>
                    <a:cubicBezTo>
                      <a:pt x="216530" y="858805"/>
                      <a:pt x="116464" y="825203"/>
                      <a:pt x="2102" y="825203"/>
                    </a:cubicBezTo>
                    <a:lnTo>
                      <a:pt x="0" y="825358"/>
                    </a:lnTo>
                    <a:lnTo>
                      <a:pt x="0" y="264462"/>
                    </a:lnTo>
                    <a:lnTo>
                      <a:pt x="6307" y="264909"/>
                    </a:lnTo>
                    <a:cubicBezTo>
                      <a:pt x="122350" y="264909"/>
                      <a:pt x="223257" y="231307"/>
                      <a:pt x="270346" y="176606"/>
                    </a:cubicBezTo>
                    <a:cubicBezTo>
                      <a:pt x="372094" y="64078"/>
                      <a:pt x="515887" y="0"/>
                      <a:pt x="665566" y="0"/>
                    </a:cubicBezTo>
                    <a:close/>
                  </a:path>
                </a:pathLst>
              </a:cu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685800">
                  <a:defRPr/>
                </a:pPr>
                <a:endParaRPr lang="zh-CN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3205655" y="1485549"/>
                <a:ext cx="925933" cy="925933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4565171" y="1491581"/>
                <a:ext cx="925933" cy="925933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5213523" y="2706139"/>
                <a:ext cx="925933" cy="925933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4529968" y="3900789"/>
                <a:ext cx="925933" cy="925933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3162798" y="3927560"/>
                <a:ext cx="925933" cy="925933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2490109" y="2680659"/>
                <a:ext cx="925933" cy="925933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sp>
          <p:nvSpPr>
            <p:cNvPr id="67" name="文本框 13"/>
            <p:cNvSpPr txBox="1"/>
            <p:nvPr/>
          </p:nvSpPr>
          <p:spPr>
            <a:xfrm>
              <a:off x="8186455" y="3087567"/>
              <a:ext cx="944245" cy="95313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800" b="1" dirty="0">
                  <a:solidFill>
                    <a:srgbClr val="2C2C34"/>
                  </a:solidFill>
                  <a:latin typeface="微软雅黑" panose="020B0503020204020204" charset="-122"/>
                  <a:ea typeface="微软雅黑" panose="020B0503020204020204" charset="-122"/>
                </a:rPr>
                <a:t>需求</a:t>
              </a:r>
              <a:endParaRPr lang="en-US" altLang="zh-CN" sz="2800" b="1" dirty="0">
                <a:solidFill>
                  <a:srgbClr val="2C2C3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r>
                <a:rPr lang="zh-CN" altLang="en-US" sz="2800" b="1" dirty="0">
                  <a:solidFill>
                    <a:srgbClr val="2C2C34"/>
                  </a:solidFill>
                  <a:latin typeface="微软雅黑" panose="020B0503020204020204" charset="-122"/>
                  <a:ea typeface="微软雅黑" panose="020B0503020204020204" charset="-122"/>
                </a:rPr>
                <a:t>痛点</a:t>
              </a:r>
              <a:endParaRPr lang="zh-CN" altLang="en-US" sz="2800" b="1" dirty="0">
                <a:solidFill>
                  <a:srgbClr val="2C2C3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文本框 13"/>
            <p:cNvSpPr txBox="1"/>
            <p:nvPr/>
          </p:nvSpPr>
          <p:spPr>
            <a:xfrm>
              <a:off x="7276424" y="1870358"/>
              <a:ext cx="1210891" cy="39878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rgbClr val="2C2C34"/>
                  </a:solidFill>
                  <a:latin typeface="微软雅黑" panose="020B0503020204020204" charset="-122"/>
                  <a:ea typeface="微软雅黑" panose="020B0503020204020204" charset="-122"/>
                </a:rPr>
                <a:t>材      料</a:t>
              </a:r>
              <a:endParaRPr lang="zh-CN" altLang="en-US" sz="2000" b="1" dirty="0">
                <a:solidFill>
                  <a:srgbClr val="2C2C3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文本框 13"/>
            <p:cNvSpPr txBox="1"/>
            <p:nvPr/>
          </p:nvSpPr>
          <p:spPr>
            <a:xfrm>
              <a:off x="8878182" y="1740520"/>
              <a:ext cx="1352973" cy="39878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rgbClr val="2C2C34"/>
                  </a:solidFill>
                  <a:latin typeface="微软雅黑" panose="020B0503020204020204" charset="-122"/>
                  <a:ea typeface="微软雅黑" panose="020B0503020204020204" charset="-122"/>
                </a:rPr>
                <a:t>防        滑</a:t>
              </a:r>
              <a:endParaRPr lang="zh-CN" altLang="en-US" sz="2000" b="1" dirty="0">
                <a:solidFill>
                  <a:srgbClr val="2C2C3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文本框 13"/>
            <p:cNvSpPr txBox="1"/>
            <p:nvPr/>
          </p:nvSpPr>
          <p:spPr>
            <a:xfrm>
              <a:off x="6375120" y="3226944"/>
              <a:ext cx="1210891" cy="39878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rgbClr val="2C2C34"/>
                  </a:solidFill>
                  <a:latin typeface="微软雅黑" panose="020B0503020204020204" charset="-122"/>
                  <a:ea typeface="微软雅黑" panose="020B0503020204020204" charset="-122"/>
                </a:rPr>
                <a:t>厚      度</a:t>
              </a:r>
              <a:endParaRPr lang="zh-CN" altLang="en-US" sz="2000" b="1" dirty="0">
                <a:solidFill>
                  <a:srgbClr val="2C2C3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文本框 13"/>
            <p:cNvSpPr txBox="1"/>
            <p:nvPr/>
          </p:nvSpPr>
          <p:spPr>
            <a:xfrm>
              <a:off x="7159259" y="4911551"/>
              <a:ext cx="1210891" cy="39878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000" b="1" dirty="0">
                <a:solidFill>
                  <a:srgbClr val="2C2C3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文本框 13"/>
            <p:cNvSpPr txBox="1"/>
            <p:nvPr/>
          </p:nvSpPr>
          <p:spPr>
            <a:xfrm>
              <a:off x="9694369" y="3246740"/>
              <a:ext cx="1367367" cy="39878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rgbClr val="2C2C34"/>
                  </a:solidFill>
                  <a:latin typeface="微软雅黑" panose="020B0503020204020204" charset="-122"/>
                  <a:ea typeface="微软雅黑" panose="020B0503020204020204" charset="-122"/>
                </a:rPr>
                <a:t>透        气</a:t>
              </a:r>
              <a:endParaRPr lang="zh-CN" altLang="en-US" sz="2000" b="1" dirty="0">
                <a:solidFill>
                  <a:srgbClr val="2C2C3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3" name="文本框 13"/>
            <p:cNvSpPr txBox="1"/>
            <p:nvPr/>
          </p:nvSpPr>
          <p:spPr>
            <a:xfrm>
              <a:off x="8879029" y="4722480"/>
              <a:ext cx="1363980" cy="39878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rgbClr val="2C2C34"/>
                  </a:solidFill>
                  <a:latin typeface="微软雅黑" panose="020B0503020204020204" charset="-122"/>
                  <a:ea typeface="微软雅黑" panose="020B0503020204020204" charset="-122"/>
                </a:rPr>
                <a:t>压        缩</a:t>
              </a:r>
              <a:endParaRPr lang="zh-CN" altLang="en-US" sz="2000" b="1" dirty="0">
                <a:solidFill>
                  <a:srgbClr val="2C2C3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文本框 13"/>
            <p:cNvSpPr txBox="1"/>
            <p:nvPr/>
          </p:nvSpPr>
          <p:spPr>
            <a:xfrm>
              <a:off x="7083248" y="4857947"/>
              <a:ext cx="1403773" cy="398780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b="1" dirty="0">
                  <a:solidFill>
                    <a:srgbClr val="2C2C34"/>
                  </a:solidFill>
                  <a:latin typeface="微软雅黑" panose="020B0503020204020204" charset="-122"/>
                  <a:ea typeface="微软雅黑" panose="020B0503020204020204" charset="-122"/>
                </a:rPr>
                <a:t>耐        用</a:t>
              </a:r>
              <a:endParaRPr lang="zh-CN" altLang="en-US" sz="2000" b="1" dirty="0">
                <a:solidFill>
                  <a:srgbClr val="2C2C34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5" name="文本框 13"/>
          <p:cNvSpPr txBox="1"/>
          <p:nvPr/>
        </p:nvSpPr>
        <p:spPr>
          <a:xfrm>
            <a:off x="1983105" y="2432050"/>
            <a:ext cx="20828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尼龙、乳胶、竹炭纤维、氨纶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13"/>
          <p:cNvSpPr txBox="1"/>
          <p:nvPr/>
        </p:nvSpPr>
        <p:spPr>
          <a:xfrm>
            <a:off x="2174240" y="3918585"/>
            <a:ext cx="1066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3mm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13"/>
          <p:cNvSpPr txBox="1"/>
          <p:nvPr/>
        </p:nvSpPr>
        <p:spPr>
          <a:xfrm>
            <a:off x="7967817" y="2432257"/>
            <a:ext cx="153635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加固硅胶条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13"/>
          <p:cNvSpPr txBox="1"/>
          <p:nvPr/>
        </p:nvSpPr>
        <p:spPr>
          <a:xfrm>
            <a:off x="8727636" y="3938427"/>
            <a:ext cx="18054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3D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网面编制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3"/>
          <p:cNvSpPr txBox="1"/>
          <p:nvPr/>
        </p:nvSpPr>
        <p:spPr>
          <a:xfrm>
            <a:off x="2174240" y="5603240"/>
            <a:ext cx="16306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缝线口绳子加粗，来回多缝</a:t>
            </a:r>
            <a:r>
              <a:rPr lang="en-US" altLang="zh-CN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回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32837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60" y="1316567"/>
            <a:ext cx="3743960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74040" y="1528445"/>
            <a:ext cx="9460865" cy="4184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 algn="l"/>
            <a:r>
              <a:rPr lang="en-US" altLang="zh-CN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、明确产品的核心功能点，需解决的产品痛点，预估的价格定位区间，</a:t>
            </a:r>
            <a:r>
              <a:rPr lang="zh-CN" altLang="en-US" sz="1400" b="0" u="non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体现产品必须满足和必须解决的关键因素</a:t>
            </a:r>
            <a:endParaRPr lang="zh-CN" altLang="en-US" sz="1400" b="0" u="non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400" b="0" u="non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400"/>
          </a:p>
          <a:p>
            <a:pPr marL="266700" indent="-266700" algn="l"/>
            <a:endParaRPr lang="zh-CN" altLang="en-US" sz="1400" b="0" u="none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长款全包型护膝</a:t>
            </a:r>
            <a:endParaRPr lang="en-US" altLang="zh-CN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en-US" altLang="zh-CN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en-US" altLang="zh-CN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</a:t>
            </a:r>
            <a:endParaRPr lang="zh-CN" altLang="en-US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</a:t>
            </a:r>
            <a:r>
              <a:rPr lang="en-US" altLang="zh-CN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18.99</a:t>
            </a:r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美金</a:t>
            </a:r>
            <a:endParaRPr lang="zh-CN" altLang="en-US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</a:t>
            </a:r>
            <a:endParaRPr lang="en-US" altLang="zh-CN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en-US" altLang="zh-CN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</a:t>
            </a:r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材质尼龙、氨纶、乳胶为主混合，护膝内壁加固硅胶防滑条，膝盖口位置</a:t>
            </a:r>
            <a:r>
              <a:rPr lang="en-US" altLang="zh-CN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</a:t>
            </a:r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网面编制，</a:t>
            </a:r>
            <a:endParaRPr lang="zh-CN" altLang="en-US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厚度维持在</a:t>
            </a:r>
            <a:r>
              <a:rPr lang="en-US" altLang="zh-CN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4mm</a:t>
            </a:r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左右，</a:t>
            </a:r>
            <a:endParaRPr lang="zh-CN" altLang="en-US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zh-CN" altLang="en-US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</a:t>
            </a:r>
            <a:endParaRPr lang="zh-CN" altLang="zh-CN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zh-CN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zh-CN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r>
              <a:rPr lang="en-US" altLang="zh-CN" sz="1400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</a:t>
            </a:r>
            <a:endParaRPr lang="zh-CN" altLang="en-US" sz="1400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流程图: 可选过程 3"/>
          <p:cNvSpPr/>
          <p:nvPr/>
        </p:nvSpPr>
        <p:spPr>
          <a:xfrm>
            <a:off x="618913" y="2523913"/>
            <a:ext cx="1636607" cy="4622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产品类型</a:t>
            </a:r>
            <a:endParaRPr lang="zh-CN" altLang="en-US" sz="2400"/>
          </a:p>
        </p:txBody>
      </p:sp>
      <p:sp>
        <p:nvSpPr>
          <p:cNvPr id="5" name="流程图: 可选过程 4"/>
          <p:cNvSpPr/>
          <p:nvPr/>
        </p:nvSpPr>
        <p:spPr>
          <a:xfrm>
            <a:off x="619548" y="3401060"/>
            <a:ext cx="1636607" cy="4622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产品定价</a:t>
            </a:r>
            <a:endParaRPr lang="zh-CN" altLang="en-US" sz="2400"/>
          </a:p>
        </p:txBody>
      </p:sp>
      <p:sp>
        <p:nvSpPr>
          <p:cNvPr id="6" name="流程图: 可选过程 5"/>
          <p:cNvSpPr/>
          <p:nvPr/>
        </p:nvSpPr>
        <p:spPr>
          <a:xfrm>
            <a:off x="619125" y="4275032"/>
            <a:ext cx="1636607" cy="46228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功能特征</a:t>
            </a:r>
            <a:endParaRPr lang="zh-CN" alt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32837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产品定位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60" y="1316567"/>
            <a:ext cx="393615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1555962" y="2181013"/>
            <a:ext cx="1440180" cy="672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S</a:t>
            </a:r>
            <a:endParaRPr lang="en-US" altLang="zh-CN" sz="2400"/>
          </a:p>
          <a:p>
            <a:pPr algn="ctr"/>
            <a:r>
              <a:rPr lang="zh-CN" altLang="en-US" sz="2400"/>
              <a:t>优势</a:t>
            </a:r>
            <a:endParaRPr lang="zh-CN" altLang="en-US" sz="2400"/>
          </a:p>
        </p:txBody>
      </p:sp>
      <p:sp>
        <p:nvSpPr>
          <p:cNvPr id="5" name="椭圆 4"/>
          <p:cNvSpPr/>
          <p:nvPr/>
        </p:nvSpPr>
        <p:spPr>
          <a:xfrm>
            <a:off x="3992880" y="2181013"/>
            <a:ext cx="1440180" cy="672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W</a:t>
            </a:r>
            <a:endParaRPr lang="en-US" altLang="zh-CN" sz="2400"/>
          </a:p>
          <a:p>
            <a:pPr algn="ctr"/>
            <a:r>
              <a:rPr lang="zh-CN" altLang="en-US" sz="2400"/>
              <a:t>劣势</a:t>
            </a:r>
            <a:endParaRPr lang="zh-CN" altLang="en-US" sz="2400"/>
          </a:p>
        </p:txBody>
      </p:sp>
      <p:sp>
        <p:nvSpPr>
          <p:cNvPr id="6" name="椭圆 5"/>
          <p:cNvSpPr/>
          <p:nvPr/>
        </p:nvSpPr>
        <p:spPr>
          <a:xfrm>
            <a:off x="6363123" y="2181013"/>
            <a:ext cx="1440180" cy="672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O</a:t>
            </a:r>
            <a:endParaRPr lang="en-US" altLang="zh-CN" sz="2400"/>
          </a:p>
          <a:p>
            <a:pPr algn="ctr"/>
            <a:r>
              <a:rPr lang="zh-CN" altLang="en-US" sz="2400"/>
              <a:t>机会</a:t>
            </a:r>
            <a:endParaRPr lang="zh-CN" altLang="en-US" sz="2400"/>
          </a:p>
        </p:txBody>
      </p:sp>
      <p:sp>
        <p:nvSpPr>
          <p:cNvPr id="7" name="椭圆 6"/>
          <p:cNvSpPr/>
          <p:nvPr/>
        </p:nvSpPr>
        <p:spPr>
          <a:xfrm>
            <a:off x="9036685" y="2181013"/>
            <a:ext cx="1440180" cy="6722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/>
              <a:t>T</a:t>
            </a:r>
            <a:endParaRPr lang="en-US" altLang="zh-CN" sz="2400"/>
          </a:p>
          <a:p>
            <a:pPr algn="ctr"/>
            <a:r>
              <a:rPr lang="zh-CN" altLang="en-US" sz="2400"/>
              <a:t>挑战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423035" y="1402715"/>
            <a:ext cx="584263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优劣势分析总结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一般可以采用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SWOT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的方法进行分析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62685" y="3343275"/>
            <a:ext cx="22256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6700" indent="-266700" algn="l"/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有无相关市场经验                                                         </a:t>
            </a:r>
            <a:endParaRPr lang="zh-CN" altLang="en-US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66700" indent="-266700" algn="l"/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有无技术积累</a:t>
            </a:r>
            <a:endParaRPr lang="zh-CN" altLang="en-US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66700" indent="-266700" algn="l"/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产品品质能否保障 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786505" y="3343275"/>
            <a:ext cx="20116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进入时机是否合适</a:t>
            </a:r>
            <a:endParaRPr lang="zh-CN" altLang="en-US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供应商资源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329045" y="3343275"/>
            <a:ext cx="17830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有无强势品牌</a:t>
            </a:r>
            <a:endParaRPr lang="zh-CN" altLang="en-US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产品主导型市场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865235" y="3343275"/>
            <a:ext cx="17830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小品牌竞争激烈</a:t>
            </a:r>
            <a:endParaRPr lang="zh-CN" altLang="en-US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/>
            <a:r>
              <a:rPr lang="zh-CN" altLang="en-US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产品品质问题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555750" y="4775835"/>
            <a:ext cx="1683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有售同类产品，技术成熟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625850" y="4705350"/>
            <a:ext cx="24612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供应商资源较多，产品进入市场时间较早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363335" y="4705350"/>
            <a:ext cx="18084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暂时没有强势的大品牌，市场主要以长款式为主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865235" y="4705350"/>
            <a:ext cx="2116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小品牌太多，一个产品一个品牌居多，竞争激烈，进入门槛低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709507" y="1602317"/>
            <a:ext cx="6773333" cy="21958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 algn="l"/>
            <a:r>
              <a:rPr lang="zh-CN" altLang="en-US" sz="2135" b="0" u="none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利用现有供应链端的供应商资源，综合分析供应商</a:t>
            </a:r>
            <a:endParaRPr lang="zh-CN" altLang="en-US" sz="2135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/>
            <a:endParaRPr lang="zh-CN" altLang="en-US" sz="2135" b="0" u="none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66700" indent="-266700" algn="l"/>
            <a:endParaRPr lang="zh-CN" altLang="en-US" sz="1400" b="0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/>
            <a:endParaRPr lang="zh-CN" altLang="en-US" sz="1600" b="0" i="1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/>
            <a:endParaRPr lang="zh-CN" altLang="en-US" sz="1600" b="0" i="1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/>
            <a:endParaRPr lang="zh-CN" altLang="en-US" sz="1600" b="0" i="1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/>
            <a:endParaRPr lang="zh-CN" altLang="en-US" sz="1600" b="0" i="1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/>
            <a:endParaRPr lang="zh-CN" altLang="en-US" sz="1600" b="0" i="1" u="non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632837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供应商分析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60" y="1316567"/>
            <a:ext cx="393615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流程图: 决策 3"/>
          <p:cNvSpPr/>
          <p:nvPr/>
        </p:nvSpPr>
        <p:spPr>
          <a:xfrm>
            <a:off x="709295" y="2886922"/>
            <a:ext cx="3169920" cy="108373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产品报价</a:t>
            </a:r>
            <a:endParaRPr lang="zh-CN" altLang="en-US" sz="2400"/>
          </a:p>
        </p:txBody>
      </p:sp>
      <p:sp>
        <p:nvSpPr>
          <p:cNvPr id="5" name="流程图: 决策 4"/>
          <p:cNvSpPr/>
          <p:nvPr/>
        </p:nvSpPr>
        <p:spPr>
          <a:xfrm>
            <a:off x="4312920" y="2888192"/>
            <a:ext cx="3169920" cy="108288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利润空间</a:t>
            </a:r>
            <a:endParaRPr lang="zh-CN" altLang="en-US" sz="2400"/>
          </a:p>
        </p:txBody>
      </p:sp>
      <p:sp>
        <p:nvSpPr>
          <p:cNvPr id="6" name="流程图: 决策 5"/>
          <p:cNvSpPr/>
          <p:nvPr/>
        </p:nvSpPr>
        <p:spPr>
          <a:xfrm>
            <a:off x="7908502" y="2886922"/>
            <a:ext cx="3169920" cy="108373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/>
              <a:t>综合实力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32837"/>
            <a:ext cx="121920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6CC"/>
                </a:solidFill>
                <a:latin typeface="微软雅黑" panose="020B0503020204020204" charset="-122"/>
                <a:ea typeface="微软雅黑" panose="020B0503020204020204" charset="-122"/>
              </a:rPr>
              <a:t>个人总结与建议</a:t>
            </a:r>
            <a:endParaRPr lang="zh-CN" altLang="en-US" sz="2400" dirty="0">
              <a:solidFill>
                <a:srgbClr val="0076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4175760" y="1316567"/>
            <a:ext cx="3936153" cy="0"/>
          </a:xfrm>
          <a:prstGeom prst="line">
            <a:avLst/>
          </a:prstGeom>
          <a:ln w="25400">
            <a:solidFill>
              <a:srgbClr val="0076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714365" y="1541145"/>
            <a:ext cx="859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62125" y="1909445"/>
            <a:ext cx="883602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</a:t>
            </a:r>
            <a:r>
              <a:rPr lang="zh-CN" altLang="en-US"/>
              <a:t>、在</a:t>
            </a:r>
            <a:r>
              <a:rPr lang="en-US" altLang="zh-CN"/>
              <a:t>Amazon</a:t>
            </a:r>
            <a:r>
              <a:rPr lang="zh-CN" altLang="en-US"/>
              <a:t>上护膝这个类别属于</a:t>
            </a:r>
            <a:r>
              <a:rPr lang="en-US" altLang="zh-CN">
                <a:solidFill>
                  <a:srgbClr val="FF0000"/>
                </a:solidFill>
              </a:rPr>
              <a:t>6</a:t>
            </a:r>
            <a:r>
              <a:rPr lang="zh-CN" altLang="en-US">
                <a:solidFill>
                  <a:srgbClr val="FF0000"/>
                </a:solidFill>
              </a:rPr>
              <a:t>级目录</a:t>
            </a:r>
            <a:r>
              <a:rPr lang="zh-CN" altLang="en-US"/>
              <a:t>，</a:t>
            </a:r>
            <a:r>
              <a:rPr lang="zh-CN" altLang="en-US">
                <a:solidFill>
                  <a:schemeClr val="tx1"/>
                </a:solidFill>
              </a:rPr>
              <a:t>产品划分</a:t>
            </a:r>
            <a:r>
              <a:rPr lang="zh-CN" altLang="en-US">
                <a:solidFill>
                  <a:srgbClr val="00B0F0"/>
                </a:solidFill>
              </a:rPr>
              <a:t>已经十分细致</a:t>
            </a:r>
            <a:r>
              <a:rPr lang="zh-CN" altLang="en-US">
                <a:solidFill>
                  <a:schemeClr val="tx1"/>
                </a:solidFill>
              </a:rPr>
              <a:t>。在这个目录的前</a:t>
            </a:r>
            <a:r>
              <a:rPr lang="en-US" altLang="zh-CN">
                <a:solidFill>
                  <a:schemeClr val="tx1"/>
                </a:solidFill>
              </a:rPr>
              <a:t>100</a:t>
            </a:r>
            <a:r>
              <a:rPr lang="zh-CN" altLang="en-US">
                <a:solidFill>
                  <a:schemeClr val="tx1"/>
                </a:solidFill>
              </a:rPr>
              <a:t>产品中，主要以长款全包型护膝和长款露膝型为主，由于露膝型的不是特别突出，所以后期的调研报告以长款全包型为主要研究对象。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、在研究长款全包型护膝中，</a:t>
            </a:r>
            <a:r>
              <a:rPr lang="zh-CN" altLang="en-US">
                <a:sym typeface="+mn-ea"/>
              </a:rPr>
              <a:t>根据数据以及卖家信息分析得出，</a:t>
            </a:r>
            <a:r>
              <a:rPr lang="zh-CN" altLang="en-US">
                <a:solidFill>
                  <a:srgbClr val="00B0F0"/>
                </a:solidFill>
                <a:sym typeface="+mn-ea"/>
              </a:rPr>
              <a:t>目标顾客</a:t>
            </a:r>
            <a:r>
              <a:rPr lang="zh-CN" altLang="en-US">
                <a:sym typeface="+mn-ea"/>
              </a:rPr>
              <a:t>是运动人员与膝盖受伤患者居多。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、</a:t>
            </a:r>
            <a:r>
              <a:rPr lang="zh-CN" altLang="en-US">
                <a:sym typeface="+mn-ea"/>
              </a:rPr>
              <a:t>这款产品市场现在充斥着多个品牌，</a:t>
            </a:r>
            <a:r>
              <a:rPr lang="zh-CN" altLang="en-US">
                <a:solidFill>
                  <a:srgbClr val="00B0F0"/>
                </a:solidFill>
                <a:sym typeface="+mn-ea"/>
              </a:rPr>
              <a:t>进入门槛低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、该</a:t>
            </a:r>
            <a:r>
              <a:rPr lang="zh-CN" altLang="en-US">
                <a:sym typeface="+mn-ea"/>
              </a:rPr>
              <a:t>款产品在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国内相应的供应商较多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50560" y="3939540"/>
            <a:ext cx="859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建议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825625" y="4307840"/>
            <a:ext cx="86652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sym typeface="+mn-ea"/>
              </a:rPr>
              <a:t>建议进入</a:t>
            </a:r>
            <a:r>
              <a:rPr lang="zh-CN" altLang="en-US">
                <a:sym typeface="+mn-ea"/>
              </a:rPr>
              <a:t>这个市场，原因如下：</a:t>
            </a:r>
            <a:endParaRPr lang="zh-CN" altLang="en-US">
              <a:sym typeface="+mn-ea"/>
            </a:endParaRPr>
          </a:p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这款产品多为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家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款，没有很强的品牌归属意识，顾客购买意愿以质量为主导</a:t>
            </a:r>
            <a:endParaRPr lang="zh-CN" altLang="en-US"/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、国内相应供应商资源多，并且价格都比较低廉，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利润空间很大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、这款产品现在存在的很大的问题就是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容易开线与掉落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>
                <a:sym typeface="+mn-ea"/>
              </a:rPr>
              <a:t>在国内如果能够解决这个问题，就是一个很大的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卖点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、这款产品的供应商大都没有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除异味免洗功能</a:t>
            </a:r>
            <a:r>
              <a:rPr lang="zh-CN" altLang="en-US">
                <a:sym typeface="+mn-ea"/>
              </a:rPr>
              <a:t>，可以针对这个问题进行解决，对于进入市场并迅速开拓市场是一个很好的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切入点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3777</Words>
  <Application>WPS 演示</Application>
  <PresentationFormat>宽屏</PresentationFormat>
  <Paragraphs>375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微软雅黑</vt:lpstr>
      <vt:lpstr>Wingdings</vt:lpstr>
      <vt:lpstr>Calibri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WPS_1664800949</cp:lastModifiedBy>
  <cp:revision>62</cp:revision>
  <dcterms:created xsi:type="dcterms:W3CDTF">2015-05-05T08:02:00Z</dcterms:created>
  <dcterms:modified xsi:type="dcterms:W3CDTF">2025-03-29T02:15:47Z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RubyTemplateID">
    <vt:lpwstr>2</vt:lpwstr>
  </property>
  <property fmtid="{D5CDD505-2E9C-101B-9397-08002B2CF9AE}" pid="4" name="ICV">
    <vt:lpwstr>47F132B9474B432EB60B0594F2466A21_12</vt:lpwstr>
  </property>
</Properties>
</file>