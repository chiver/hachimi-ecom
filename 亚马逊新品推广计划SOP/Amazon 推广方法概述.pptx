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oleObject" Target="file:///C:\Users\wangxf\Desktop\&#26032;&#24314;%20Microsoft%20Office%20Excel%20&#24037;&#20316;&#34920;.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39"/>
    </mc:Choice>
    <mc:Fallback>
      <c:style val="39"/>
    </mc:Fallback>
  </mc:AlternateContent>
  <c:chart>
    <c:autoTitleDeleted val="0"/>
    <c:view3D>
      <c:rotX val="15"/>
      <c:rotY val="20"/>
      <c:rAngAx val="1"/>
    </c:view3D>
    <c:floor>
      <c:thickness val="0"/>
    </c:floor>
    <c:sideWall>
      <c:thickness val="0"/>
      <c:spPr>
        <a:ln>
          <a:noFill/>
        </a:ln>
        <a:effectLst>
          <a:innerShdw blurRad="63500" dist="50800" dir="8100000">
            <a:prstClr val="black">
              <a:alpha val="50000"/>
            </a:prstClr>
          </a:innerShdw>
        </a:effectLst>
      </c:spPr>
    </c:sideWall>
    <c:backWall>
      <c:thickness val="0"/>
      <c:spPr>
        <a:ln>
          <a:noFill/>
        </a:ln>
        <a:effectLst>
          <a:innerShdw blurRad="63500" dist="50800" dir="8100000">
            <a:prstClr val="black">
              <a:alpha val="50000"/>
            </a:prstClr>
          </a:innerShdw>
        </a:effectLst>
      </c:spPr>
    </c:backWall>
    <c:plotArea>
      <c:layout/>
      <c:bar3DChart>
        <c:barDir val="col"/>
        <c:grouping val="clustered"/>
        <c:varyColors val="0"/>
        <c:ser>
          <c:idx val="0"/>
          <c:order val="0"/>
          <c:invertIfNegative val="0"/>
          <c:dLbls>
            <c:dLbl>
              <c:idx val="0"/>
              <c:layout>
                <c:manualLayout>
                  <c:x val="1.7135087566031642E-2"/>
                  <c:y val="-5.702266168790250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C4E-4A12-824D-01360E3C998B}"/>
                </c:ext>
              </c:extLst>
            </c:dLbl>
            <c:dLbl>
              <c:idx val="1"/>
              <c:layout>
                <c:manualLayout>
                  <c:x val="3.212828918630934E-2"/>
                  <c:y val="-5.367710330160944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C4E-4A12-824D-01360E3C998B}"/>
                </c:ext>
              </c:extLst>
            </c:dLbl>
            <c:spPr>
              <a:noFill/>
              <a:ln>
                <a:noFill/>
              </a:ln>
              <a:effectLst/>
            </c:spPr>
            <c:txPr>
              <a:bodyPr/>
              <a:lstStyle/>
              <a:p>
                <a:pPr>
                  <a:defRPr sz="1800"/>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Sheet1!$G$14:$H$14</c:f>
              <c:strCache>
                <c:ptCount val="2"/>
                <c:pt idx="0">
                  <c:v>用户占比</c:v>
                </c:pt>
                <c:pt idx="1">
                  <c:v>女性用户占比</c:v>
                </c:pt>
              </c:strCache>
            </c:strRef>
          </c:cat>
          <c:val>
            <c:numRef>
              <c:f>Sheet1!$G$15:$H$15</c:f>
              <c:numCache>
                <c:formatCode>0%</c:formatCode>
                <c:ptCount val="2"/>
                <c:pt idx="0">
                  <c:v>0.25</c:v>
                </c:pt>
                <c:pt idx="1">
                  <c:v>0.70000000000000029</c:v>
                </c:pt>
              </c:numCache>
            </c:numRef>
          </c:val>
          <c:extLst>
            <c:ext xmlns:c16="http://schemas.microsoft.com/office/drawing/2014/chart" uri="{C3380CC4-5D6E-409C-BE32-E72D297353CC}">
              <c16:uniqueId val="{00000002-9C4E-4A12-824D-01360E3C998B}"/>
            </c:ext>
          </c:extLst>
        </c:ser>
        <c:dLbls>
          <c:showLegendKey val="0"/>
          <c:showVal val="0"/>
          <c:showCatName val="0"/>
          <c:showSerName val="0"/>
          <c:showPercent val="0"/>
          <c:showBubbleSize val="0"/>
        </c:dLbls>
        <c:gapWidth val="150"/>
        <c:shape val="box"/>
        <c:axId val="75087872"/>
        <c:axId val="75089408"/>
        <c:axId val="0"/>
      </c:bar3DChart>
      <c:catAx>
        <c:axId val="75087872"/>
        <c:scaling>
          <c:orientation val="minMax"/>
        </c:scaling>
        <c:delete val="0"/>
        <c:axPos val="b"/>
        <c:numFmt formatCode="General" sourceLinked="0"/>
        <c:majorTickMark val="out"/>
        <c:minorTickMark val="none"/>
        <c:tickLblPos val="nextTo"/>
        <c:txPr>
          <a:bodyPr/>
          <a:lstStyle/>
          <a:p>
            <a:pPr>
              <a:defRPr sz="1800"/>
            </a:pPr>
            <a:endParaRPr lang="zh-CN"/>
          </a:p>
        </c:txPr>
        <c:crossAx val="75089408"/>
        <c:crosses val="autoZero"/>
        <c:auto val="1"/>
        <c:lblAlgn val="ctr"/>
        <c:lblOffset val="100"/>
        <c:noMultiLvlLbl val="0"/>
      </c:catAx>
      <c:valAx>
        <c:axId val="75089408"/>
        <c:scaling>
          <c:orientation val="minMax"/>
        </c:scaling>
        <c:delete val="0"/>
        <c:axPos val="l"/>
        <c:numFmt formatCode="0%" sourceLinked="1"/>
        <c:majorTickMark val="out"/>
        <c:minorTickMark val="none"/>
        <c:tickLblPos val="nextTo"/>
        <c:crossAx val="75087872"/>
        <c:crosses val="autoZero"/>
        <c:crossBetween val="between"/>
      </c:valAx>
    </c:plotArea>
    <c:plotVisOnly val="1"/>
    <c:dispBlanksAs val="gap"/>
    <c:showDLblsOverMax val="0"/>
  </c:chart>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F988C4-F9F7-4D69-A251-3732363DEE2D}" type="doc">
      <dgm:prSet loTypeId="urn:microsoft.com/office/officeart/2005/8/layout/pyramid2" loCatId="list" qsTypeId="urn:microsoft.com/office/officeart/2005/8/quickstyle/3d6" qsCatId="3D" csTypeId="urn:microsoft.com/office/officeart/2005/8/colors/accent6_3" csCatId="accent6" phldr="1"/>
      <dgm:spPr/>
    </dgm:pt>
    <dgm:pt modelId="{D27E977C-EBB3-49B8-9CD4-AAAB877EDEC1}">
      <dgm:prSet phldrT="[文本]" custT="1"/>
      <dgm:spPr/>
      <dgm:t>
        <a:bodyPr/>
        <a:lstStyle/>
        <a:p>
          <a:r>
            <a:rPr lang="zh-CN" altLang="en-US" sz="1800" b="1" dirty="0">
              <a:solidFill>
                <a:srgbClr val="0070C0"/>
              </a:solidFill>
              <a:latin typeface="Arial Unicode MS" pitchFamily="34" charset="-122"/>
              <a:ea typeface="Arial Unicode MS" pitchFamily="34" charset="-122"/>
              <a:cs typeface="Arial Unicode MS" pitchFamily="34" charset="-122"/>
            </a:rPr>
            <a:t>平台自动招募</a:t>
          </a:r>
        </a:p>
      </dgm:t>
    </dgm:pt>
    <dgm:pt modelId="{FBF3E839-1803-49E3-815B-A66FA5C89700}" type="parTrans" cxnId="{A9ED59A4-D004-4027-B9B6-2A9718B526EE}">
      <dgm:prSet/>
      <dgm:spPr/>
      <dgm:t>
        <a:bodyPr/>
        <a:lstStyle/>
        <a:p>
          <a:endParaRPr lang="zh-CN" altLang="en-US"/>
        </a:p>
      </dgm:t>
    </dgm:pt>
    <dgm:pt modelId="{83AA5F52-C405-4CC9-A4EA-73C0764C0914}" type="sibTrans" cxnId="{A9ED59A4-D004-4027-B9B6-2A9718B526EE}">
      <dgm:prSet/>
      <dgm:spPr/>
      <dgm:t>
        <a:bodyPr/>
        <a:lstStyle/>
        <a:p>
          <a:endParaRPr lang="zh-CN" altLang="en-US"/>
        </a:p>
      </dgm:t>
    </dgm:pt>
    <dgm:pt modelId="{20510CBF-3648-4D3B-A5D0-125AEFB01CF4}">
      <dgm:prSet phldrT="[文本]"/>
      <dgm:spPr/>
      <dgm:t>
        <a:bodyPr/>
        <a:lstStyle/>
        <a:p>
          <a:r>
            <a:rPr lang="zh-CN" altLang="en-US" b="1" dirty="0">
              <a:solidFill>
                <a:srgbClr val="0070C0"/>
              </a:solidFill>
              <a:latin typeface="Arial Unicode MS" pitchFamily="34" charset="-122"/>
              <a:ea typeface="Arial Unicode MS" pitchFamily="34" charset="-122"/>
              <a:cs typeface="Arial Unicode MS" pitchFamily="34" charset="-122"/>
            </a:rPr>
            <a:t>客服经理协助招募</a:t>
          </a:r>
        </a:p>
      </dgm:t>
    </dgm:pt>
    <dgm:pt modelId="{DF923628-F9B7-4088-A838-88FAA08E14C8}" type="parTrans" cxnId="{4E724F42-4D74-4788-B7FD-ADF8840E7F58}">
      <dgm:prSet/>
      <dgm:spPr/>
      <dgm:t>
        <a:bodyPr/>
        <a:lstStyle/>
        <a:p>
          <a:endParaRPr lang="zh-CN" altLang="en-US"/>
        </a:p>
      </dgm:t>
    </dgm:pt>
    <dgm:pt modelId="{318FC22F-D49C-4CCA-B78C-AC9689748995}" type="sibTrans" cxnId="{4E724F42-4D74-4788-B7FD-ADF8840E7F58}">
      <dgm:prSet/>
      <dgm:spPr/>
      <dgm:t>
        <a:bodyPr/>
        <a:lstStyle/>
        <a:p>
          <a:endParaRPr lang="zh-CN" altLang="en-US"/>
        </a:p>
      </dgm:t>
    </dgm:pt>
    <dgm:pt modelId="{320682B6-8E52-4FE0-A875-2CE9B158EAFB}">
      <dgm:prSet phldrT="[文本]"/>
      <dgm:spPr/>
      <dgm:t>
        <a:bodyPr/>
        <a:lstStyle/>
        <a:p>
          <a:r>
            <a:rPr lang="zh-CN" altLang="en-US" b="1" dirty="0">
              <a:solidFill>
                <a:srgbClr val="0070C0"/>
              </a:solidFill>
              <a:latin typeface="Arial Unicode MS" pitchFamily="34" charset="-122"/>
              <a:ea typeface="Arial Unicode MS" pitchFamily="34" charset="-122"/>
              <a:cs typeface="Arial Unicode MS" pitchFamily="34" charset="-122"/>
            </a:rPr>
            <a:t>推广联盟</a:t>
          </a:r>
          <a:r>
            <a:rPr lang="en-US" altLang="zh-CN" b="1" dirty="0">
              <a:solidFill>
                <a:srgbClr val="0070C0"/>
              </a:solidFill>
              <a:latin typeface="Arial Unicode MS" pitchFamily="34" charset="-122"/>
              <a:ea typeface="Arial Unicode MS" pitchFamily="34" charset="-122"/>
              <a:cs typeface="Arial Unicode MS" pitchFamily="34" charset="-122"/>
            </a:rPr>
            <a:t>program</a:t>
          </a:r>
          <a:r>
            <a:rPr lang="zh-CN" altLang="en-US" b="1" dirty="0">
              <a:solidFill>
                <a:srgbClr val="0070C0"/>
              </a:solidFill>
              <a:latin typeface="Arial Unicode MS" pitchFamily="34" charset="-122"/>
              <a:ea typeface="Arial Unicode MS" pitchFamily="34" charset="-122"/>
              <a:cs typeface="Arial Unicode MS" pitchFamily="34" charset="-122"/>
            </a:rPr>
            <a:t>招募</a:t>
          </a:r>
        </a:p>
      </dgm:t>
    </dgm:pt>
    <dgm:pt modelId="{F891AF09-F768-4142-8C7E-53152E0FC510}" type="parTrans" cxnId="{432D14EC-76CF-4600-AE5D-E308B51C4829}">
      <dgm:prSet/>
      <dgm:spPr/>
      <dgm:t>
        <a:bodyPr/>
        <a:lstStyle/>
        <a:p>
          <a:endParaRPr lang="zh-CN" altLang="en-US"/>
        </a:p>
      </dgm:t>
    </dgm:pt>
    <dgm:pt modelId="{B5B4C06B-6BE1-4C46-911C-1CB5FDAC8725}" type="sibTrans" cxnId="{432D14EC-76CF-4600-AE5D-E308B51C4829}">
      <dgm:prSet/>
      <dgm:spPr/>
      <dgm:t>
        <a:bodyPr/>
        <a:lstStyle/>
        <a:p>
          <a:endParaRPr lang="zh-CN" altLang="en-US"/>
        </a:p>
      </dgm:t>
    </dgm:pt>
    <dgm:pt modelId="{D3BDFC03-74D0-46AE-9A87-C5295A62DEB6}" type="pres">
      <dgm:prSet presAssocID="{F1F988C4-F9F7-4D69-A251-3732363DEE2D}" presName="compositeShape" presStyleCnt="0">
        <dgm:presLayoutVars>
          <dgm:dir/>
          <dgm:resizeHandles/>
        </dgm:presLayoutVars>
      </dgm:prSet>
      <dgm:spPr/>
    </dgm:pt>
    <dgm:pt modelId="{459708C9-272B-42B5-B58D-A542BAF08C57}" type="pres">
      <dgm:prSet presAssocID="{F1F988C4-F9F7-4D69-A251-3732363DEE2D}" presName="pyramid" presStyleLbl="node1" presStyleIdx="0" presStyleCnt="1"/>
      <dgm:spPr/>
    </dgm:pt>
    <dgm:pt modelId="{03C60A19-B20E-4B8D-881D-19B1AC73DCCA}" type="pres">
      <dgm:prSet presAssocID="{F1F988C4-F9F7-4D69-A251-3732363DEE2D}" presName="theList" presStyleCnt="0"/>
      <dgm:spPr/>
    </dgm:pt>
    <dgm:pt modelId="{FEDA4C7A-9398-4FA8-A019-131C3A213E32}" type="pres">
      <dgm:prSet presAssocID="{D27E977C-EBB3-49B8-9CD4-AAAB877EDEC1}" presName="aNode" presStyleLbl="fgAcc1" presStyleIdx="0" presStyleCnt="3">
        <dgm:presLayoutVars>
          <dgm:bulletEnabled val="1"/>
        </dgm:presLayoutVars>
      </dgm:prSet>
      <dgm:spPr/>
    </dgm:pt>
    <dgm:pt modelId="{8D8A3C76-97E7-4A8F-A999-25C83D717C7B}" type="pres">
      <dgm:prSet presAssocID="{D27E977C-EBB3-49B8-9CD4-AAAB877EDEC1}" presName="aSpace" presStyleCnt="0"/>
      <dgm:spPr/>
    </dgm:pt>
    <dgm:pt modelId="{6CADDC88-E33A-4C8A-9C7D-DC1AF2EC940B}" type="pres">
      <dgm:prSet presAssocID="{20510CBF-3648-4D3B-A5D0-125AEFB01CF4}" presName="aNode" presStyleLbl="fgAcc1" presStyleIdx="1" presStyleCnt="3">
        <dgm:presLayoutVars>
          <dgm:bulletEnabled val="1"/>
        </dgm:presLayoutVars>
      </dgm:prSet>
      <dgm:spPr/>
    </dgm:pt>
    <dgm:pt modelId="{0244CC98-ACEC-4A75-A4CE-49F929D5A963}" type="pres">
      <dgm:prSet presAssocID="{20510CBF-3648-4D3B-A5D0-125AEFB01CF4}" presName="aSpace" presStyleCnt="0"/>
      <dgm:spPr/>
    </dgm:pt>
    <dgm:pt modelId="{89D1D22D-B03E-4374-9582-11E67EC9589C}" type="pres">
      <dgm:prSet presAssocID="{320682B6-8E52-4FE0-A875-2CE9B158EAFB}" presName="aNode" presStyleLbl="fgAcc1" presStyleIdx="2" presStyleCnt="3">
        <dgm:presLayoutVars>
          <dgm:bulletEnabled val="1"/>
        </dgm:presLayoutVars>
      </dgm:prSet>
      <dgm:spPr/>
    </dgm:pt>
    <dgm:pt modelId="{50A6FE0D-BA9F-4C8F-A23E-A98C848BAC8D}" type="pres">
      <dgm:prSet presAssocID="{320682B6-8E52-4FE0-A875-2CE9B158EAFB}" presName="aSpace" presStyleCnt="0"/>
      <dgm:spPr/>
    </dgm:pt>
  </dgm:ptLst>
  <dgm:cxnLst>
    <dgm:cxn modelId="{C8438C07-F9F7-4F79-A8C7-33061401ADCB}" type="presOf" srcId="{320682B6-8E52-4FE0-A875-2CE9B158EAFB}" destId="{89D1D22D-B03E-4374-9582-11E67EC9589C}" srcOrd="0" destOrd="0" presId="urn:microsoft.com/office/officeart/2005/8/layout/pyramid2"/>
    <dgm:cxn modelId="{DAD4C432-7423-4662-BF4C-F49138820800}" type="presOf" srcId="{F1F988C4-F9F7-4D69-A251-3732363DEE2D}" destId="{D3BDFC03-74D0-46AE-9A87-C5295A62DEB6}" srcOrd="0" destOrd="0" presId="urn:microsoft.com/office/officeart/2005/8/layout/pyramid2"/>
    <dgm:cxn modelId="{F1863133-169F-4805-A520-B440E01ACC9C}" type="presOf" srcId="{D27E977C-EBB3-49B8-9CD4-AAAB877EDEC1}" destId="{FEDA4C7A-9398-4FA8-A019-131C3A213E32}" srcOrd="0" destOrd="0" presId="urn:microsoft.com/office/officeart/2005/8/layout/pyramid2"/>
    <dgm:cxn modelId="{4E724F42-4D74-4788-B7FD-ADF8840E7F58}" srcId="{F1F988C4-F9F7-4D69-A251-3732363DEE2D}" destId="{20510CBF-3648-4D3B-A5D0-125AEFB01CF4}" srcOrd="1" destOrd="0" parTransId="{DF923628-F9B7-4088-A838-88FAA08E14C8}" sibTransId="{318FC22F-D49C-4CCA-B78C-AC9689748995}"/>
    <dgm:cxn modelId="{00C33796-A764-470D-BC4A-41C4A75A0F77}" type="presOf" srcId="{20510CBF-3648-4D3B-A5D0-125AEFB01CF4}" destId="{6CADDC88-E33A-4C8A-9C7D-DC1AF2EC940B}" srcOrd="0" destOrd="0" presId="urn:microsoft.com/office/officeart/2005/8/layout/pyramid2"/>
    <dgm:cxn modelId="{A9ED59A4-D004-4027-B9B6-2A9718B526EE}" srcId="{F1F988C4-F9F7-4D69-A251-3732363DEE2D}" destId="{D27E977C-EBB3-49B8-9CD4-AAAB877EDEC1}" srcOrd="0" destOrd="0" parTransId="{FBF3E839-1803-49E3-815B-A66FA5C89700}" sibTransId="{83AA5F52-C405-4CC9-A4EA-73C0764C0914}"/>
    <dgm:cxn modelId="{432D14EC-76CF-4600-AE5D-E308B51C4829}" srcId="{F1F988C4-F9F7-4D69-A251-3732363DEE2D}" destId="{320682B6-8E52-4FE0-A875-2CE9B158EAFB}" srcOrd="2" destOrd="0" parTransId="{F891AF09-F768-4142-8C7E-53152E0FC510}" sibTransId="{B5B4C06B-6BE1-4C46-911C-1CB5FDAC8725}"/>
    <dgm:cxn modelId="{E91D3C31-5230-4FDF-916E-409B0D9078A6}" type="presParOf" srcId="{D3BDFC03-74D0-46AE-9A87-C5295A62DEB6}" destId="{459708C9-272B-42B5-B58D-A542BAF08C57}" srcOrd="0" destOrd="0" presId="urn:microsoft.com/office/officeart/2005/8/layout/pyramid2"/>
    <dgm:cxn modelId="{557A141F-ECAD-4267-BEE6-D85A2132CAF6}" type="presParOf" srcId="{D3BDFC03-74D0-46AE-9A87-C5295A62DEB6}" destId="{03C60A19-B20E-4B8D-881D-19B1AC73DCCA}" srcOrd="1" destOrd="0" presId="urn:microsoft.com/office/officeart/2005/8/layout/pyramid2"/>
    <dgm:cxn modelId="{78118116-ABF8-4191-AD41-B7E07C773B61}" type="presParOf" srcId="{03C60A19-B20E-4B8D-881D-19B1AC73DCCA}" destId="{FEDA4C7A-9398-4FA8-A019-131C3A213E32}" srcOrd="0" destOrd="0" presId="urn:microsoft.com/office/officeart/2005/8/layout/pyramid2"/>
    <dgm:cxn modelId="{A4851BB3-1CDA-433D-8F6E-7492F1BC021F}" type="presParOf" srcId="{03C60A19-B20E-4B8D-881D-19B1AC73DCCA}" destId="{8D8A3C76-97E7-4A8F-A999-25C83D717C7B}" srcOrd="1" destOrd="0" presId="urn:microsoft.com/office/officeart/2005/8/layout/pyramid2"/>
    <dgm:cxn modelId="{0BF8F8D0-B2EA-4E3F-AB7F-F73678E5FD54}" type="presParOf" srcId="{03C60A19-B20E-4B8D-881D-19B1AC73DCCA}" destId="{6CADDC88-E33A-4C8A-9C7D-DC1AF2EC940B}" srcOrd="2" destOrd="0" presId="urn:microsoft.com/office/officeart/2005/8/layout/pyramid2"/>
    <dgm:cxn modelId="{49A4D64D-92B7-4727-BBDC-9A2C78F9A831}" type="presParOf" srcId="{03C60A19-B20E-4B8D-881D-19B1AC73DCCA}" destId="{0244CC98-ACEC-4A75-A4CE-49F929D5A963}" srcOrd="3" destOrd="0" presId="urn:microsoft.com/office/officeart/2005/8/layout/pyramid2"/>
    <dgm:cxn modelId="{338D8ED1-68B3-47A5-A65E-7F677BA86085}" type="presParOf" srcId="{03C60A19-B20E-4B8D-881D-19B1AC73DCCA}" destId="{89D1D22D-B03E-4374-9582-11E67EC9589C}" srcOrd="4" destOrd="0" presId="urn:microsoft.com/office/officeart/2005/8/layout/pyramid2"/>
    <dgm:cxn modelId="{68166099-34B7-4EEC-8E0F-AB0A03DC557E}" type="presParOf" srcId="{03C60A19-B20E-4B8D-881D-19B1AC73DCCA}" destId="{50A6FE0D-BA9F-4C8F-A23E-A98C848BAC8D}"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3AAE59D-F45D-4CA2-B8ED-051071406216}" type="doc">
      <dgm:prSet loTypeId="urn:microsoft.com/office/officeart/2005/8/layout/hProcess4" loCatId="process" qsTypeId="urn:microsoft.com/office/officeart/2005/8/quickstyle/simple1" qsCatId="simple" csTypeId="urn:microsoft.com/office/officeart/2005/8/colors/accent2_2" csCatId="accent2" phldr="1"/>
      <dgm:spPr/>
      <dgm:t>
        <a:bodyPr/>
        <a:lstStyle/>
        <a:p>
          <a:endParaRPr lang="zh-CN" altLang="en-US"/>
        </a:p>
      </dgm:t>
    </dgm:pt>
    <dgm:pt modelId="{15B13F98-45E4-462E-9284-2C2DFE3FB671}">
      <dgm:prSet phldrT="[文本]"/>
      <dgm:spPr/>
      <dgm:t>
        <a:bodyPr/>
        <a:lstStyle/>
        <a:p>
          <a:pPr algn="ctr"/>
          <a:r>
            <a:rPr lang="en-US" altLang="zh-CN" dirty="0"/>
            <a:t>Boost Your Posts</a:t>
          </a:r>
          <a:endParaRPr lang="zh-CN" altLang="en-US" dirty="0"/>
        </a:p>
      </dgm:t>
    </dgm:pt>
    <dgm:pt modelId="{CC9E0106-43B3-4E82-9D65-A44793CE14A7}" type="parTrans" cxnId="{DE2B9718-F5E8-46C5-B811-2FC740C8B327}">
      <dgm:prSet/>
      <dgm:spPr/>
      <dgm:t>
        <a:bodyPr/>
        <a:lstStyle/>
        <a:p>
          <a:endParaRPr lang="zh-CN" altLang="en-US"/>
        </a:p>
      </dgm:t>
    </dgm:pt>
    <dgm:pt modelId="{1839CC10-BEEE-4B6D-8A18-D23A401F4F2F}" type="sibTrans" cxnId="{DE2B9718-F5E8-46C5-B811-2FC740C8B327}">
      <dgm:prSet/>
      <dgm:spPr/>
      <dgm:t>
        <a:bodyPr/>
        <a:lstStyle/>
        <a:p>
          <a:endParaRPr lang="zh-CN" altLang="en-US"/>
        </a:p>
      </dgm:t>
    </dgm:pt>
    <dgm:pt modelId="{CAB86184-5F5D-4909-9C50-299130249933}">
      <dgm:prSet phldrT="[文本]"/>
      <dgm:spPr/>
      <dgm:t>
        <a:bodyPr/>
        <a:lstStyle/>
        <a:p>
          <a:pPr algn="ctr"/>
          <a:r>
            <a:rPr lang="zh-CN" altLang="en-US" dirty="0"/>
            <a:t>速推帖子</a:t>
          </a:r>
        </a:p>
      </dgm:t>
    </dgm:pt>
    <dgm:pt modelId="{800E199E-2727-4EAA-B9FB-73E7EBF2B498}" type="parTrans" cxnId="{89FC7F76-7087-44A6-B44D-7823B7B5B734}">
      <dgm:prSet/>
      <dgm:spPr/>
      <dgm:t>
        <a:bodyPr/>
        <a:lstStyle/>
        <a:p>
          <a:endParaRPr lang="zh-CN" altLang="en-US"/>
        </a:p>
      </dgm:t>
    </dgm:pt>
    <dgm:pt modelId="{6B26520D-8D0D-4BF1-A205-F0C709C1FA98}" type="sibTrans" cxnId="{89FC7F76-7087-44A6-B44D-7823B7B5B734}">
      <dgm:prSet/>
      <dgm:spPr/>
      <dgm:t>
        <a:bodyPr/>
        <a:lstStyle/>
        <a:p>
          <a:endParaRPr lang="zh-CN" altLang="en-US"/>
        </a:p>
      </dgm:t>
    </dgm:pt>
    <dgm:pt modelId="{1EEF741F-CCFC-49BB-A547-D12700B0D1B0}">
      <dgm:prSet phldrT="[文本]"/>
      <dgm:spPr/>
      <dgm:t>
        <a:bodyPr/>
        <a:lstStyle/>
        <a:p>
          <a:r>
            <a:rPr lang="en-US" altLang="zh-CN" dirty="0"/>
            <a:t>Promote Your Page</a:t>
          </a:r>
          <a:endParaRPr lang="zh-CN" altLang="en-US" dirty="0"/>
        </a:p>
      </dgm:t>
    </dgm:pt>
    <dgm:pt modelId="{73E1AAA8-67CE-4E71-9049-F9A13F884C09}" type="parTrans" cxnId="{B20D8684-32DC-4C6B-903B-8CCE9A6673F9}">
      <dgm:prSet/>
      <dgm:spPr/>
      <dgm:t>
        <a:bodyPr/>
        <a:lstStyle/>
        <a:p>
          <a:endParaRPr lang="zh-CN" altLang="en-US"/>
        </a:p>
      </dgm:t>
    </dgm:pt>
    <dgm:pt modelId="{D876E5A3-4FE7-473B-9082-C93DD2796D37}" type="sibTrans" cxnId="{B20D8684-32DC-4C6B-903B-8CCE9A6673F9}">
      <dgm:prSet/>
      <dgm:spPr/>
      <dgm:t>
        <a:bodyPr/>
        <a:lstStyle/>
        <a:p>
          <a:endParaRPr lang="zh-CN" altLang="en-US"/>
        </a:p>
      </dgm:t>
    </dgm:pt>
    <dgm:pt modelId="{F123E891-2ED3-499D-86F9-EF63C63946DF}">
      <dgm:prSet phldrT="[文本]"/>
      <dgm:spPr/>
      <dgm:t>
        <a:bodyPr/>
        <a:lstStyle/>
        <a:p>
          <a:pPr algn="ctr"/>
          <a:r>
            <a:rPr lang="zh-CN" altLang="en-US" dirty="0"/>
            <a:t>推广主页点赞</a:t>
          </a:r>
        </a:p>
      </dgm:t>
    </dgm:pt>
    <dgm:pt modelId="{60811674-3809-4BE6-80E8-503D62681DC9}" type="parTrans" cxnId="{94584B52-0B70-4879-A336-A576C1D4C22D}">
      <dgm:prSet/>
      <dgm:spPr/>
      <dgm:t>
        <a:bodyPr/>
        <a:lstStyle/>
        <a:p>
          <a:endParaRPr lang="zh-CN" altLang="en-US"/>
        </a:p>
      </dgm:t>
    </dgm:pt>
    <dgm:pt modelId="{31D77B8F-7B25-45C0-8A3E-F7F888845DC6}" type="sibTrans" cxnId="{94584B52-0B70-4879-A336-A576C1D4C22D}">
      <dgm:prSet/>
      <dgm:spPr/>
      <dgm:t>
        <a:bodyPr/>
        <a:lstStyle/>
        <a:p>
          <a:endParaRPr lang="zh-CN" altLang="en-US"/>
        </a:p>
      </dgm:t>
    </dgm:pt>
    <dgm:pt modelId="{01C365A1-F736-4FBC-B8C9-935967BEDE12}">
      <dgm:prSet phldrT="[文本]"/>
      <dgm:spPr/>
      <dgm:t>
        <a:bodyPr/>
        <a:lstStyle/>
        <a:p>
          <a:r>
            <a:rPr lang="en-US" altLang="en-US" dirty="0"/>
            <a:t>Increase Brand Awareness</a:t>
          </a:r>
          <a:endParaRPr lang="zh-CN" altLang="en-US" dirty="0"/>
        </a:p>
      </dgm:t>
    </dgm:pt>
    <dgm:pt modelId="{27BC0F66-C017-4E37-A00E-AB13AF4BFDD2}" type="parTrans" cxnId="{BEE8DC9C-0700-433B-A36D-DB246E948EFB}">
      <dgm:prSet/>
      <dgm:spPr/>
      <dgm:t>
        <a:bodyPr/>
        <a:lstStyle/>
        <a:p>
          <a:endParaRPr lang="zh-CN" altLang="en-US"/>
        </a:p>
      </dgm:t>
    </dgm:pt>
    <dgm:pt modelId="{E3FC5EE5-D25E-45DB-9BC9-8F7F33873927}" type="sibTrans" cxnId="{BEE8DC9C-0700-433B-A36D-DB246E948EFB}">
      <dgm:prSet/>
      <dgm:spPr/>
      <dgm:t>
        <a:bodyPr/>
        <a:lstStyle/>
        <a:p>
          <a:endParaRPr lang="zh-CN" altLang="en-US"/>
        </a:p>
      </dgm:t>
    </dgm:pt>
    <dgm:pt modelId="{21CE3CB1-D6E3-4BD2-878F-6F496D5E51E3}">
      <dgm:prSet phldrT="[文本]"/>
      <dgm:spPr/>
      <dgm:t>
        <a:bodyPr/>
        <a:lstStyle/>
        <a:p>
          <a:pPr algn="ctr"/>
          <a:r>
            <a:rPr lang="zh-CN" altLang="en-US" dirty="0"/>
            <a:t>提高品牌知名度</a:t>
          </a:r>
        </a:p>
      </dgm:t>
    </dgm:pt>
    <dgm:pt modelId="{69C44063-3D3A-4044-B770-23784D9ECB98}" type="parTrans" cxnId="{B138394E-D87F-4E7A-B48E-3E3190DF81C4}">
      <dgm:prSet/>
      <dgm:spPr/>
      <dgm:t>
        <a:bodyPr/>
        <a:lstStyle/>
        <a:p>
          <a:endParaRPr lang="zh-CN" altLang="en-US"/>
        </a:p>
      </dgm:t>
    </dgm:pt>
    <dgm:pt modelId="{4BBCFD88-F6C3-4D87-8FCB-BFADB505742D}" type="sibTrans" cxnId="{B138394E-D87F-4E7A-B48E-3E3190DF81C4}">
      <dgm:prSet/>
      <dgm:spPr/>
      <dgm:t>
        <a:bodyPr/>
        <a:lstStyle/>
        <a:p>
          <a:endParaRPr lang="zh-CN" altLang="en-US"/>
        </a:p>
      </dgm:t>
    </dgm:pt>
    <dgm:pt modelId="{870C669C-DA54-4E12-9B48-9867A9624802}" type="pres">
      <dgm:prSet presAssocID="{53AAE59D-F45D-4CA2-B8ED-051071406216}" presName="Name0" presStyleCnt="0">
        <dgm:presLayoutVars>
          <dgm:dir/>
          <dgm:animLvl val="lvl"/>
          <dgm:resizeHandles val="exact"/>
        </dgm:presLayoutVars>
      </dgm:prSet>
      <dgm:spPr/>
    </dgm:pt>
    <dgm:pt modelId="{CD528611-CDF4-4451-A6C3-90460ACF5F18}" type="pres">
      <dgm:prSet presAssocID="{53AAE59D-F45D-4CA2-B8ED-051071406216}" presName="tSp" presStyleCnt="0"/>
      <dgm:spPr/>
    </dgm:pt>
    <dgm:pt modelId="{101B3A74-97C5-48EA-A702-D95A5B005F42}" type="pres">
      <dgm:prSet presAssocID="{53AAE59D-F45D-4CA2-B8ED-051071406216}" presName="bSp" presStyleCnt="0"/>
      <dgm:spPr/>
    </dgm:pt>
    <dgm:pt modelId="{937C6D1F-D8AE-4590-AB61-DE605EB7FDB4}" type="pres">
      <dgm:prSet presAssocID="{53AAE59D-F45D-4CA2-B8ED-051071406216}" presName="process" presStyleCnt="0"/>
      <dgm:spPr/>
    </dgm:pt>
    <dgm:pt modelId="{4457BCBA-7DB0-48BA-B6AD-1BA161527765}" type="pres">
      <dgm:prSet presAssocID="{15B13F98-45E4-462E-9284-2C2DFE3FB671}" presName="composite1" presStyleCnt="0"/>
      <dgm:spPr/>
    </dgm:pt>
    <dgm:pt modelId="{023C86A6-E5F7-4250-8DB5-30F17C63A37E}" type="pres">
      <dgm:prSet presAssocID="{15B13F98-45E4-462E-9284-2C2DFE3FB671}" presName="dummyNode1" presStyleLbl="node1" presStyleIdx="0" presStyleCnt="3"/>
      <dgm:spPr/>
    </dgm:pt>
    <dgm:pt modelId="{0191EE44-1FDE-4EDC-BC02-E8B41E31D3ED}" type="pres">
      <dgm:prSet presAssocID="{15B13F98-45E4-462E-9284-2C2DFE3FB671}" presName="childNode1" presStyleLbl="bgAcc1" presStyleIdx="0" presStyleCnt="3" custScaleX="50229" custScaleY="34843">
        <dgm:presLayoutVars>
          <dgm:bulletEnabled val="1"/>
        </dgm:presLayoutVars>
      </dgm:prSet>
      <dgm:spPr/>
    </dgm:pt>
    <dgm:pt modelId="{C63381A4-3BEB-496E-9C84-337729ED2674}" type="pres">
      <dgm:prSet presAssocID="{15B13F98-45E4-462E-9284-2C2DFE3FB671}" presName="childNode1tx" presStyleLbl="bgAcc1" presStyleIdx="0" presStyleCnt="3">
        <dgm:presLayoutVars>
          <dgm:bulletEnabled val="1"/>
        </dgm:presLayoutVars>
      </dgm:prSet>
      <dgm:spPr/>
    </dgm:pt>
    <dgm:pt modelId="{00935763-9637-4CF6-852C-646671CCA817}" type="pres">
      <dgm:prSet presAssocID="{15B13F98-45E4-462E-9284-2C2DFE3FB671}" presName="parentNode1" presStyleLbl="node1" presStyleIdx="0" presStyleCnt="3">
        <dgm:presLayoutVars>
          <dgm:chMax val="1"/>
          <dgm:bulletEnabled val="1"/>
        </dgm:presLayoutVars>
      </dgm:prSet>
      <dgm:spPr/>
    </dgm:pt>
    <dgm:pt modelId="{1A4025BB-8F52-465E-91E2-6D4564C9B562}" type="pres">
      <dgm:prSet presAssocID="{15B13F98-45E4-462E-9284-2C2DFE3FB671}" presName="connSite1" presStyleCnt="0"/>
      <dgm:spPr/>
    </dgm:pt>
    <dgm:pt modelId="{744C08E4-F659-4BE5-889A-6C15BE327430}" type="pres">
      <dgm:prSet presAssocID="{1839CC10-BEEE-4B6D-8A18-D23A401F4F2F}" presName="Name9" presStyleLbl="sibTrans2D1" presStyleIdx="0" presStyleCnt="2"/>
      <dgm:spPr/>
    </dgm:pt>
    <dgm:pt modelId="{731E2A07-4979-4500-863D-90E7F611C6BB}" type="pres">
      <dgm:prSet presAssocID="{1EEF741F-CCFC-49BB-A547-D12700B0D1B0}" presName="composite2" presStyleCnt="0"/>
      <dgm:spPr/>
    </dgm:pt>
    <dgm:pt modelId="{D4539D41-7E31-4B87-94B4-0536BBEFCFD2}" type="pres">
      <dgm:prSet presAssocID="{1EEF741F-CCFC-49BB-A547-D12700B0D1B0}" presName="dummyNode2" presStyleLbl="node1" presStyleIdx="0" presStyleCnt="3"/>
      <dgm:spPr/>
    </dgm:pt>
    <dgm:pt modelId="{5232EDF0-888B-4BE6-8C84-56B2F7D7FC6D}" type="pres">
      <dgm:prSet presAssocID="{1EEF741F-CCFC-49BB-A547-D12700B0D1B0}" presName="childNode2" presStyleLbl="bgAcc1" presStyleIdx="1" presStyleCnt="3" custScaleX="82826" custScaleY="34844">
        <dgm:presLayoutVars>
          <dgm:bulletEnabled val="1"/>
        </dgm:presLayoutVars>
      </dgm:prSet>
      <dgm:spPr/>
    </dgm:pt>
    <dgm:pt modelId="{C0FBDC07-6117-4C6A-A868-66CC324892F5}" type="pres">
      <dgm:prSet presAssocID="{1EEF741F-CCFC-49BB-A547-D12700B0D1B0}" presName="childNode2tx" presStyleLbl="bgAcc1" presStyleIdx="1" presStyleCnt="3">
        <dgm:presLayoutVars>
          <dgm:bulletEnabled val="1"/>
        </dgm:presLayoutVars>
      </dgm:prSet>
      <dgm:spPr/>
    </dgm:pt>
    <dgm:pt modelId="{E2B573FE-5C28-4B3C-AA7D-50247BB3E4DF}" type="pres">
      <dgm:prSet presAssocID="{1EEF741F-CCFC-49BB-A547-D12700B0D1B0}" presName="parentNode2" presStyleLbl="node1" presStyleIdx="1" presStyleCnt="3" custScaleX="113560">
        <dgm:presLayoutVars>
          <dgm:chMax val="0"/>
          <dgm:bulletEnabled val="1"/>
        </dgm:presLayoutVars>
      </dgm:prSet>
      <dgm:spPr/>
    </dgm:pt>
    <dgm:pt modelId="{5E899BBC-F595-42EE-B189-D8172E780B45}" type="pres">
      <dgm:prSet presAssocID="{1EEF741F-CCFC-49BB-A547-D12700B0D1B0}" presName="connSite2" presStyleCnt="0"/>
      <dgm:spPr/>
    </dgm:pt>
    <dgm:pt modelId="{86497F03-056D-49C9-AFA5-D94F25065A7C}" type="pres">
      <dgm:prSet presAssocID="{D876E5A3-4FE7-473B-9082-C93DD2796D37}" presName="Name18" presStyleLbl="sibTrans2D1" presStyleIdx="1" presStyleCnt="2"/>
      <dgm:spPr/>
    </dgm:pt>
    <dgm:pt modelId="{065E2142-13E1-43B0-B9FF-CA1DBBB01494}" type="pres">
      <dgm:prSet presAssocID="{01C365A1-F736-4FBC-B8C9-935967BEDE12}" presName="composite1" presStyleCnt="0"/>
      <dgm:spPr/>
    </dgm:pt>
    <dgm:pt modelId="{B40FD601-6C20-4E3A-A619-C1454E149EBD}" type="pres">
      <dgm:prSet presAssocID="{01C365A1-F736-4FBC-B8C9-935967BEDE12}" presName="dummyNode1" presStyleLbl="node1" presStyleIdx="1" presStyleCnt="3"/>
      <dgm:spPr/>
    </dgm:pt>
    <dgm:pt modelId="{3458C65D-EA53-4425-BB48-4B7BA53AD55E}" type="pres">
      <dgm:prSet presAssocID="{01C365A1-F736-4FBC-B8C9-935967BEDE12}" presName="childNode1" presStyleLbl="bgAcc1" presStyleIdx="2" presStyleCnt="3" custScaleY="34843">
        <dgm:presLayoutVars>
          <dgm:bulletEnabled val="1"/>
        </dgm:presLayoutVars>
      </dgm:prSet>
      <dgm:spPr/>
    </dgm:pt>
    <dgm:pt modelId="{18D05404-239D-4297-83D1-0F2563299181}" type="pres">
      <dgm:prSet presAssocID="{01C365A1-F736-4FBC-B8C9-935967BEDE12}" presName="childNode1tx" presStyleLbl="bgAcc1" presStyleIdx="2" presStyleCnt="3">
        <dgm:presLayoutVars>
          <dgm:bulletEnabled val="1"/>
        </dgm:presLayoutVars>
      </dgm:prSet>
      <dgm:spPr/>
    </dgm:pt>
    <dgm:pt modelId="{D6FB4929-4F2D-4BAF-8DE7-932AA6EC1198}" type="pres">
      <dgm:prSet presAssocID="{01C365A1-F736-4FBC-B8C9-935967BEDE12}" presName="parentNode1" presStyleLbl="node1" presStyleIdx="2" presStyleCnt="3">
        <dgm:presLayoutVars>
          <dgm:chMax val="1"/>
          <dgm:bulletEnabled val="1"/>
        </dgm:presLayoutVars>
      </dgm:prSet>
      <dgm:spPr/>
    </dgm:pt>
    <dgm:pt modelId="{B321DA0C-1644-4FF3-B87B-94E063D326A7}" type="pres">
      <dgm:prSet presAssocID="{01C365A1-F736-4FBC-B8C9-935967BEDE12}" presName="connSite1" presStyleCnt="0"/>
      <dgm:spPr/>
    </dgm:pt>
  </dgm:ptLst>
  <dgm:cxnLst>
    <dgm:cxn modelId="{4E222A03-49D4-4290-9EA0-8471FA0CA133}" type="presOf" srcId="{F123E891-2ED3-499D-86F9-EF63C63946DF}" destId="{C0FBDC07-6117-4C6A-A868-66CC324892F5}" srcOrd="1" destOrd="0" presId="urn:microsoft.com/office/officeart/2005/8/layout/hProcess4"/>
    <dgm:cxn modelId="{A40F8C13-470A-405E-A852-A07E0245FC8F}" type="presOf" srcId="{21CE3CB1-D6E3-4BD2-878F-6F496D5E51E3}" destId="{3458C65D-EA53-4425-BB48-4B7BA53AD55E}" srcOrd="0" destOrd="0" presId="urn:microsoft.com/office/officeart/2005/8/layout/hProcess4"/>
    <dgm:cxn modelId="{DE2B9718-F5E8-46C5-B811-2FC740C8B327}" srcId="{53AAE59D-F45D-4CA2-B8ED-051071406216}" destId="{15B13F98-45E4-462E-9284-2C2DFE3FB671}" srcOrd="0" destOrd="0" parTransId="{CC9E0106-43B3-4E82-9D65-A44793CE14A7}" sibTransId="{1839CC10-BEEE-4B6D-8A18-D23A401F4F2F}"/>
    <dgm:cxn modelId="{6262745D-8DD2-480E-87D9-DB55D69589C8}" type="presOf" srcId="{21CE3CB1-D6E3-4BD2-878F-6F496D5E51E3}" destId="{18D05404-239D-4297-83D1-0F2563299181}" srcOrd="1" destOrd="0" presId="urn:microsoft.com/office/officeart/2005/8/layout/hProcess4"/>
    <dgm:cxn modelId="{C673F846-705A-4590-A4A6-099282337B06}" type="presOf" srcId="{CAB86184-5F5D-4909-9C50-299130249933}" destId="{C63381A4-3BEB-496E-9C84-337729ED2674}" srcOrd="1" destOrd="0" presId="urn:microsoft.com/office/officeart/2005/8/layout/hProcess4"/>
    <dgm:cxn modelId="{B138394E-D87F-4E7A-B48E-3E3190DF81C4}" srcId="{01C365A1-F736-4FBC-B8C9-935967BEDE12}" destId="{21CE3CB1-D6E3-4BD2-878F-6F496D5E51E3}" srcOrd="0" destOrd="0" parTransId="{69C44063-3D3A-4044-B770-23784D9ECB98}" sibTransId="{4BBCFD88-F6C3-4D87-8FCB-BFADB505742D}"/>
    <dgm:cxn modelId="{CD20D350-9AF2-47C7-8AD9-80CB0EE50991}" type="presOf" srcId="{F123E891-2ED3-499D-86F9-EF63C63946DF}" destId="{5232EDF0-888B-4BE6-8C84-56B2F7D7FC6D}" srcOrd="0" destOrd="0" presId="urn:microsoft.com/office/officeart/2005/8/layout/hProcess4"/>
    <dgm:cxn modelId="{94584B52-0B70-4879-A336-A576C1D4C22D}" srcId="{1EEF741F-CCFC-49BB-A547-D12700B0D1B0}" destId="{F123E891-2ED3-499D-86F9-EF63C63946DF}" srcOrd="0" destOrd="0" parTransId="{60811674-3809-4BE6-80E8-503D62681DC9}" sibTransId="{31D77B8F-7B25-45C0-8A3E-F7F888845DC6}"/>
    <dgm:cxn modelId="{89FC7F76-7087-44A6-B44D-7823B7B5B734}" srcId="{15B13F98-45E4-462E-9284-2C2DFE3FB671}" destId="{CAB86184-5F5D-4909-9C50-299130249933}" srcOrd="0" destOrd="0" parTransId="{800E199E-2727-4EAA-B9FB-73E7EBF2B498}" sibTransId="{6B26520D-8D0D-4BF1-A205-F0C709C1FA98}"/>
    <dgm:cxn modelId="{42E0B25A-FFEF-4EDE-AEDA-06F7E0C9073D}" type="presOf" srcId="{53AAE59D-F45D-4CA2-B8ED-051071406216}" destId="{870C669C-DA54-4E12-9B48-9867A9624802}" srcOrd="0" destOrd="0" presId="urn:microsoft.com/office/officeart/2005/8/layout/hProcess4"/>
    <dgm:cxn modelId="{B20D8684-32DC-4C6B-903B-8CCE9A6673F9}" srcId="{53AAE59D-F45D-4CA2-B8ED-051071406216}" destId="{1EEF741F-CCFC-49BB-A547-D12700B0D1B0}" srcOrd="1" destOrd="0" parTransId="{73E1AAA8-67CE-4E71-9049-F9A13F884C09}" sibTransId="{D876E5A3-4FE7-473B-9082-C93DD2796D37}"/>
    <dgm:cxn modelId="{B70B1699-E2A4-4152-BA1A-51859A171CA1}" type="presOf" srcId="{D876E5A3-4FE7-473B-9082-C93DD2796D37}" destId="{86497F03-056D-49C9-AFA5-D94F25065A7C}" srcOrd="0" destOrd="0" presId="urn:microsoft.com/office/officeart/2005/8/layout/hProcess4"/>
    <dgm:cxn modelId="{BEE8DC9C-0700-433B-A36D-DB246E948EFB}" srcId="{53AAE59D-F45D-4CA2-B8ED-051071406216}" destId="{01C365A1-F736-4FBC-B8C9-935967BEDE12}" srcOrd="2" destOrd="0" parTransId="{27BC0F66-C017-4E37-A00E-AB13AF4BFDD2}" sibTransId="{E3FC5EE5-D25E-45DB-9BC9-8F7F33873927}"/>
    <dgm:cxn modelId="{A0757AAF-6D6A-4C5E-B735-A3600B3F621C}" type="presOf" srcId="{01C365A1-F736-4FBC-B8C9-935967BEDE12}" destId="{D6FB4929-4F2D-4BAF-8DE7-932AA6EC1198}" srcOrd="0" destOrd="0" presId="urn:microsoft.com/office/officeart/2005/8/layout/hProcess4"/>
    <dgm:cxn modelId="{251E50B4-8C41-4D54-A5D3-22C8E6131261}" type="presOf" srcId="{1839CC10-BEEE-4B6D-8A18-D23A401F4F2F}" destId="{744C08E4-F659-4BE5-889A-6C15BE327430}" srcOrd="0" destOrd="0" presId="urn:microsoft.com/office/officeart/2005/8/layout/hProcess4"/>
    <dgm:cxn modelId="{20ADE4E8-F165-479B-A3A9-B2223752564B}" type="presOf" srcId="{CAB86184-5F5D-4909-9C50-299130249933}" destId="{0191EE44-1FDE-4EDC-BC02-E8B41E31D3ED}" srcOrd="0" destOrd="0" presId="urn:microsoft.com/office/officeart/2005/8/layout/hProcess4"/>
    <dgm:cxn modelId="{D83B24F0-8B9F-48CA-A215-1553921F9B78}" type="presOf" srcId="{15B13F98-45E4-462E-9284-2C2DFE3FB671}" destId="{00935763-9637-4CF6-852C-646671CCA817}" srcOrd="0" destOrd="0" presId="urn:microsoft.com/office/officeart/2005/8/layout/hProcess4"/>
    <dgm:cxn modelId="{EFA1A5FB-6408-4925-A590-E8704DB8A82E}" type="presOf" srcId="{1EEF741F-CCFC-49BB-A547-D12700B0D1B0}" destId="{E2B573FE-5C28-4B3C-AA7D-50247BB3E4DF}" srcOrd="0" destOrd="0" presId="urn:microsoft.com/office/officeart/2005/8/layout/hProcess4"/>
    <dgm:cxn modelId="{9A2BC058-A4BE-4B15-92EF-413C55472D60}" type="presParOf" srcId="{870C669C-DA54-4E12-9B48-9867A9624802}" destId="{CD528611-CDF4-4451-A6C3-90460ACF5F18}" srcOrd="0" destOrd="0" presId="urn:microsoft.com/office/officeart/2005/8/layout/hProcess4"/>
    <dgm:cxn modelId="{F67F9704-1D1B-496E-92C9-1233D0063625}" type="presParOf" srcId="{870C669C-DA54-4E12-9B48-9867A9624802}" destId="{101B3A74-97C5-48EA-A702-D95A5B005F42}" srcOrd="1" destOrd="0" presId="urn:microsoft.com/office/officeart/2005/8/layout/hProcess4"/>
    <dgm:cxn modelId="{461627A1-00C8-4431-8E35-C1ED80F37D56}" type="presParOf" srcId="{870C669C-DA54-4E12-9B48-9867A9624802}" destId="{937C6D1F-D8AE-4590-AB61-DE605EB7FDB4}" srcOrd="2" destOrd="0" presId="urn:microsoft.com/office/officeart/2005/8/layout/hProcess4"/>
    <dgm:cxn modelId="{203CBAFF-7B8E-4CAD-B608-168BF87DCD6A}" type="presParOf" srcId="{937C6D1F-D8AE-4590-AB61-DE605EB7FDB4}" destId="{4457BCBA-7DB0-48BA-B6AD-1BA161527765}" srcOrd="0" destOrd="0" presId="urn:microsoft.com/office/officeart/2005/8/layout/hProcess4"/>
    <dgm:cxn modelId="{55D4EECF-9E63-4CAB-932A-5FB39956B787}" type="presParOf" srcId="{4457BCBA-7DB0-48BA-B6AD-1BA161527765}" destId="{023C86A6-E5F7-4250-8DB5-30F17C63A37E}" srcOrd="0" destOrd="0" presId="urn:microsoft.com/office/officeart/2005/8/layout/hProcess4"/>
    <dgm:cxn modelId="{1EC363C5-441F-4686-802F-98C155018E7A}" type="presParOf" srcId="{4457BCBA-7DB0-48BA-B6AD-1BA161527765}" destId="{0191EE44-1FDE-4EDC-BC02-E8B41E31D3ED}" srcOrd="1" destOrd="0" presId="urn:microsoft.com/office/officeart/2005/8/layout/hProcess4"/>
    <dgm:cxn modelId="{7D837C68-A4DD-4B40-A3E0-1A48440081C6}" type="presParOf" srcId="{4457BCBA-7DB0-48BA-B6AD-1BA161527765}" destId="{C63381A4-3BEB-496E-9C84-337729ED2674}" srcOrd="2" destOrd="0" presId="urn:microsoft.com/office/officeart/2005/8/layout/hProcess4"/>
    <dgm:cxn modelId="{497E5810-43C1-4ADE-8A43-4ABED61E88EF}" type="presParOf" srcId="{4457BCBA-7DB0-48BA-B6AD-1BA161527765}" destId="{00935763-9637-4CF6-852C-646671CCA817}" srcOrd="3" destOrd="0" presId="urn:microsoft.com/office/officeart/2005/8/layout/hProcess4"/>
    <dgm:cxn modelId="{1E5E68B4-AFB1-449C-87CE-9D24A9204B99}" type="presParOf" srcId="{4457BCBA-7DB0-48BA-B6AD-1BA161527765}" destId="{1A4025BB-8F52-465E-91E2-6D4564C9B562}" srcOrd="4" destOrd="0" presId="urn:microsoft.com/office/officeart/2005/8/layout/hProcess4"/>
    <dgm:cxn modelId="{B27D9D77-4EA3-44EB-9977-582FAB737DED}" type="presParOf" srcId="{937C6D1F-D8AE-4590-AB61-DE605EB7FDB4}" destId="{744C08E4-F659-4BE5-889A-6C15BE327430}" srcOrd="1" destOrd="0" presId="urn:microsoft.com/office/officeart/2005/8/layout/hProcess4"/>
    <dgm:cxn modelId="{6E0EEFC5-C160-4B3F-8207-446D88C7C554}" type="presParOf" srcId="{937C6D1F-D8AE-4590-AB61-DE605EB7FDB4}" destId="{731E2A07-4979-4500-863D-90E7F611C6BB}" srcOrd="2" destOrd="0" presId="urn:microsoft.com/office/officeart/2005/8/layout/hProcess4"/>
    <dgm:cxn modelId="{3396C3DE-6233-4F64-A5E0-1B0FE83CB209}" type="presParOf" srcId="{731E2A07-4979-4500-863D-90E7F611C6BB}" destId="{D4539D41-7E31-4B87-94B4-0536BBEFCFD2}" srcOrd="0" destOrd="0" presId="urn:microsoft.com/office/officeart/2005/8/layout/hProcess4"/>
    <dgm:cxn modelId="{EE3B3FB4-AAEA-4956-9340-E2F9DB0D5006}" type="presParOf" srcId="{731E2A07-4979-4500-863D-90E7F611C6BB}" destId="{5232EDF0-888B-4BE6-8C84-56B2F7D7FC6D}" srcOrd="1" destOrd="0" presId="urn:microsoft.com/office/officeart/2005/8/layout/hProcess4"/>
    <dgm:cxn modelId="{E12A6B3D-882F-4530-99A1-EAC55BC8B2A5}" type="presParOf" srcId="{731E2A07-4979-4500-863D-90E7F611C6BB}" destId="{C0FBDC07-6117-4C6A-A868-66CC324892F5}" srcOrd="2" destOrd="0" presId="urn:microsoft.com/office/officeart/2005/8/layout/hProcess4"/>
    <dgm:cxn modelId="{CF3E82A8-0562-47B6-B055-001B1653C41C}" type="presParOf" srcId="{731E2A07-4979-4500-863D-90E7F611C6BB}" destId="{E2B573FE-5C28-4B3C-AA7D-50247BB3E4DF}" srcOrd="3" destOrd="0" presId="urn:microsoft.com/office/officeart/2005/8/layout/hProcess4"/>
    <dgm:cxn modelId="{10F005E0-F68E-4E52-BB08-787347814072}" type="presParOf" srcId="{731E2A07-4979-4500-863D-90E7F611C6BB}" destId="{5E899BBC-F595-42EE-B189-D8172E780B45}" srcOrd="4" destOrd="0" presId="urn:microsoft.com/office/officeart/2005/8/layout/hProcess4"/>
    <dgm:cxn modelId="{06D737D7-A61B-4345-8119-08784896482A}" type="presParOf" srcId="{937C6D1F-D8AE-4590-AB61-DE605EB7FDB4}" destId="{86497F03-056D-49C9-AFA5-D94F25065A7C}" srcOrd="3" destOrd="0" presId="urn:microsoft.com/office/officeart/2005/8/layout/hProcess4"/>
    <dgm:cxn modelId="{24AA75EC-888D-4E79-BEF3-0001A2AD9515}" type="presParOf" srcId="{937C6D1F-D8AE-4590-AB61-DE605EB7FDB4}" destId="{065E2142-13E1-43B0-B9FF-CA1DBBB01494}" srcOrd="4" destOrd="0" presId="urn:microsoft.com/office/officeart/2005/8/layout/hProcess4"/>
    <dgm:cxn modelId="{53483591-02CA-4EA2-92E9-CB94AF6B634A}" type="presParOf" srcId="{065E2142-13E1-43B0-B9FF-CA1DBBB01494}" destId="{B40FD601-6C20-4E3A-A619-C1454E149EBD}" srcOrd="0" destOrd="0" presId="urn:microsoft.com/office/officeart/2005/8/layout/hProcess4"/>
    <dgm:cxn modelId="{701666ED-3776-41EB-810B-72187CD658A1}" type="presParOf" srcId="{065E2142-13E1-43B0-B9FF-CA1DBBB01494}" destId="{3458C65D-EA53-4425-BB48-4B7BA53AD55E}" srcOrd="1" destOrd="0" presId="urn:microsoft.com/office/officeart/2005/8/layout/hProcess4"/>
    <dgm:cxn modelId="{806612A7-B26F-4753-BA9F-D755763ED838}" type="presParOf" srcId="{065E2142-13E1-43B0-B9FF-CA1DBBB01494}" destId="{18D05404-239D-4297-83D1-0F2563299181}" srcOrd="2" destOrd="0" presId="urn:microsoft.com/office/officeart/2005/8/layout/hProcess4"/>
    <dgm:cxn modelId="{77EFCDD4-1027-4CD1-AA07-7A79348422B6}" type="presParOf" srcId="{065E2142-13E1-43B0-B9FF-CA1DBBB01494}" destId="{D6FB4929-4F2D-4BAF-8DE7-932AA6EC1198}" srcOrd="3" destOrd="0" presId="urn:microsoft.com/office/officeart/2005/8/layout/hProcess4"/>
    <dgm:cxn modelId="{AE16286E-75B2-4ACF-99F0-F2AEC6B460C7}" type="presParOf" srcId="{065E2142-13E1-43B0-B9FF-CA1DBBB01494}" destId="{B321DA0C-1644-4FF3-B87B-94E063D326A7}"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9708C9-272B-42B5-B58D-A542BAF08C57}">
      <dsp:nvSpPr>
        <dsp:cNvPr id="0" name=""/>
        <dsp:cNvSpPr/>
      </dsp:nvSpPr>
      <dsp:spPr>
        <a:xfrm>
          <a:off x="444701" y="0"/>
          <a:ext cx="2643206" cy="2643206"/>
        </a:xfrm>
        <a:prstGeom prst="triangle">
          <a:avLst/>
        </a:prstGeom>
        <a:solidFill>
          <a:schemeClr val="accent6">
            <a:shade val="80000"/>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sp>
    <dsp:sp modelId="{FEDA4C7A-9398-4FA8-A019-131C3A213E32}">
      <dsp:nvSpPr>
        <dsp:cNvPr id="0" name=""/>
        <dsp:cNvSpPr/>
      </dsp:nvSpPr>
      <dsp:spPr>
        <a:xfrm>
          <a:off x="1766304" y="265740"/>
          <a:ext cx="1718083" cy="625696"/>
        </a:xfrm>
        <a:prstGeom prst="roundRect">
          <a:avLst/>
        </a:prstGeom>
        <a:solidFill>
          <a:schemeClr val="lt1">
            <a:alpha val="90000"/>
            <a:hueOff val="0"/>
            <a:satOff val="0"/>
            <a:lumOff val="0"/>
            <a:alphaOff val="0"/>
          </a:schemeClr>
        </a:solidFill>
        <a:ln w="6350" cap="flat" cmpd="sng" algn="ctr">
          <a:solidFill>
            <a:schemeClr val="accent6">
              <a:shade val="80000"/>
              <a:hueOff val="0"/>
              <a:satOff val="0"/>
              <a:lumOff val="0"/>
              <a:alphaOff val="0"/>
            </a:schemeClr>
          </a:solidFill>
          <a:prstDash val="solid"/>
          <a:miter lim="800000"/>
        </a:ln>
        <a:effectLst/>
        <a:sp3d z="50080" prstMaterial="plastic">
          <a:bevelT w="25400" h="25400"/>
          <a:bevelB w="25400" h="25400"/>
        </a:sp3d>
      </dsp:spPr>
      <dsp:style>
        <a:lnRef idx="1">
          <a:scrgbClr r="0" g="0" b="0"/>
        </a:lnRef>
        <a:fillRef idx="1">
          <a:scrgbClr r="0" g="0" b="0"/>
        </a:fillRef>
        <a:effectRef idx="2">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solidFill>
                <a:srgbClr val="0070C0"/>
              </a:solidFill>
              <a:latin typeface="Arial Unicode MS" pitchFamily="34" charset="-122"/>
              <a:ea typeface="Arial Unicode MS" pitchFamily="34" charset="-122"/>
              <a:cs typeface="Arial Unicode MS" pitchFamily="34" charset="-122"/>
            </a:rPr>
            <a:t>平台自动招募</a:t>
          </a:r>
        </a:p>
      </dsp:txBody>
      <dsp:txXfrm>
        <a:off x="1796848" y="296284"/>
        <a:ext cx="1656995" cy="564608"/>
      </dsp:txXfrm>
    </dsp:sp>
    <dsp:sp modelId="{6CADDC88-E33A-4C8A-9C7D-DC1AF2EC940B}">
      <dsp:nvSpPr>
        <dsp:cNvPr id="0" name=""/>
        <dsp:cNvSpPr/>
      </dsp:nvSpPr>
      <dsp:spPr>
        <a:xfrm>
          <a:off x="1766304" y="969648"/>
          <a:ext cx="1718083" cy="625696"/>
        </a:xfrm>
        <a:prstGeom prst="roundRect">
          <a:avLst/>
        </a:prstGeom>
        <a:solidFill>
          <a:schemeClr val="lt1">
            <a:alpha val="90000"/>
            <a:hueOff val="0"/>
            <a:satOff val="0"/>
            <a:lumOff val="0"/>
            <a:alphaOff val="0"/>
          </a:schemeClr>
        </a:solidFill>
        <a:ln w="6350" cap="flat" cmpd="sng" algn="ctr">
          <a:solidFill>
            <a:schemeClr val="accent6">
              <a:shade val="80000"/>
              <a:hueOff val="160640"/>
              <a:satOff val="-6455"/>
              <a:lumOff val="13814"/>
              <a:alphaOff val="0"/>
            </a:schemeClr>
          </a:solidFill>
          <a:prstDash val="solid"/>
          <a:miter lim="800000"/>
        </a:ln>
        <a:effectLst/>
        <a:sp3d z="50080" prstMaterial="plastic">
          <a:bevelT w="25400" h="25400"/>
          <a:bevelB w="25400" h="25400"/>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rgbClr val="0070C0"/>
              </a:solidFill>
              <a:latin typeface="Arial Unicode MS" pitchFamily="34" charset="-122"/>
              <a:ea typeface="Arial Unicode MS" pitchFamily="34" charset="-122"/>
              <a:cs typeface="Arial Unicode MS" pitchFamily="34" charset="-122"/>
            </a:rPr>
            <a:t>客服经理协助招募</a:t>
          </a:r>
        </a:p>
      </dsp:txBody>
      <dsp:txXfrm>
        <a:off x="1796848" y="1000192"/>
        <a:ext cx="1656995" cy="564608"/>
      </dsp:txXfrm>
    </dsp:sp>
    <dsp:sp modelId="{89D1D22D-B03E-4374-9582-11E67EC9589C}">
      <dsp:nvSpPr>
        <dsp:cNvPr id="0" name=""/>
        <dsp:cNvSpPr/>
      </dsp:nvSpPr>
      <dsp:spPr>
        <a:xfrm>
          <a:off x="1766304" y="1673557"/>
          <a:ext cx="1718083" cy="625696"/>
        </a:xfrm>
        <a:prstGeom prst="roundRect">
          <a:avLst/>
        </a:prstGeom>
        <a:solidFill>
          <a:schemeClr val="lt1">
            <a:alpha val="90000"/>
            <a:hueOff val="0"/>
            <a:satOff val="0"/>
            <a:lumOff val="0"/>
            <a:alphaOff val="0"/>
          </a:schemeClr>
        </a:solidFill>
        <a:ln w="6350" cap="flat" cmpd="sng" algn="ctr">
          <a:solidFill>
            <a:schemeClr val="accent6">
              <a:shade val="80000"/>
              <a:hueOff val="321280"/>
              <a:satOff val="-12909"/>
              <a:lumOff val="27628"/>
              <a:alphaOff val="0"/>
            </a:schemeClr>
          </a:solidFill>
          <a:prstDash val="solid"/>
          <a:miter lim="800000"/>
        </a:ln>
        <a:effectLst/>
        <a:sp3d z="50080" prstMaterial="plastic">
          <a:bevelT w="25400" h="25400"/>
          <a:bevelB w="25400" h="25400"/>
        </a:sp3d>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b="1" kern="1200" dirty="0">
              <a:solidFill>
                <a:srgbClr val="0070C0"/>
              </a:solidFill>
              <a:latin typeface="Arial Unicode MS" pitchFamily="34" charset="-122"/>
              <a:ea typeface="Arial Unicode MS" pitchFamily="34" charset="-122"/>
              <a:cs typeface="Arial Unicode MS" pitchFamily="34" charset="-122"/>
            </a:rPr>
            <a:t>推广联盟</a:t>
          </a:r>
          <a:r>
            <a:rPr lang="en-US" altLang="zh-CN" sz="1200" b="1" kern="1200" dirty="0">
              <a:solidFill>
                <a:srgbClr val="0070C0"/>
              </a:solidFill>
              <a:latin typeface="Arial Unicode MS" pitchFamily="34" charset="-122"/>
              <a:ea typeface="Arial Unicode MS" pitchFamily="34" charset="-122"/>
              <a:cs typeface="Arial Unicode MS" pitchFamily="34" charset="-122"/>
            </a:rPr>
            <a:t>program</a:t>
          </a:r>
          <a:r>
            <a:rPr lang="zh-CN" altLang="en-US" sz="1200" b="1" kern="1200" dirty="0">
              <a:solidFill>
                <a:srgbClr val="0070C0"/>
              </a:solidFill>
              <a:latin typeface="Arial Unicode MS" pitchFamily="34" charset="-122"/>
              <a:ea typeface="Arial Unicode MS" pitchFamily="34" charset="-122"/>
              <a:cs typeface="Arial Unicode MS" pitchFamily="34" charset="-122"/>
            </a:rPr>
            <a:t>招募</a:t>
          </a:r>
        </a:p>
      </dsp:txBody>
      <dsp:txXfrm>
        <a:off x="1796848" y="1704101"/>
        <a:ext cx="1656995" cy="5646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91EE44-1FDE-4EDC-BC02-E8B41E31D3ED}">
      <dsp:nvSpPr>
        <dsp:cNvPr id="0" name=""/>
        <dsp:cNvSpPr/>
      </dsp:nvSpPr>
      <dsp:spPr>
        <a:xfrm>
          <a:off x="1145252" y="1214447"/>
          <a:ext cx="874016" cy="500062"/>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ctr" defTabSz="577850">
            <a:lnSpc>
              <a:spcPct val="90000"/>
            </a:lnSpc>
            <a:spcBef>
              <a:spcPct val="0"/>
            </a:spcBef>
            <a:spcAft>
              <a:spcPct val="15000"/>
            </a:spcAft>
            <a:buChar char="•"/>
          </a:pPr>
          <a:r>
            <a:rPr lang="zh-CN" altLang="en-US" sz="1300" kern="1200" dirty="0"/>
            <a:t>速推帖子</a:t>
          </a:r>
        </a:p>
      </dsp:txBody>
      <dsp:txXfrm>
        <a:off x="1156760" y="1225955"/>
        <a:ext cx="851000" cy="369890"/>
      </dsp:txXfrm>
    </dsp:sp>
    <dsp:sp modelId="{744C08E4-F659-4BE5-889A-6C15BE327430}">
      <dsp:nvSpPr>
        <dsp:cNvPr id="0" name=""/>
        <dsp:cNvSpPr/>
      </dsp:nvSpPr>
      <dsp:spPr>
        <a:xfrm>
          <a:off x="1652211" y="956117"/>
          <a:ext cx="2109902" cy="2109902"/>
        </a:xfrm>
        <a:prstGeom prst="leftCircularArrow">
          <a:avLst>
            <a:gd name="adj1" fmla="val 4053"/>
            <a:gd name="adj2" fmla="val 509597"/>
            <a:gd name="adj3" fmla="val 2271388"/>
            <a:gd name="adj4" fmla="val 9010769"/>
            <a:gd name="adj5" fmla="val 4728"/>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0935763-9637-4CF6-852C-646671CCA817}">
      <dsp:nvSpPr>
        <dsp:cNvPr id="0" name=""/>
        <dsp:cNvSpPr/>
      </dsp:nvSpPr>
      <dsp:spPr>
        <a:xfrm>
          <a:off x="1098909" y="1874532"/>
          <a:ext cx="1546723" cy="615080"/>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t>Boost Your Posts</a:t>
          </a:r>
          <a:endParaRPr lang="zh-CN" altLang="en-US" sz="1700" kern="1200" dirty="0"/>
        </a:p>
      </dsp:txBody>
      <dsp:txXfrm>
        <a:off x="1116924" y="1892547"/>
        <a:ext cx="1510693" cy="579050"/>
      </dsp:txXfrm>
    </dsp:sp>
    <dsp:sp modelId="{5232EDF0-888B-4BE6-8C84-56B2F7D7FC6D}">
      <dsp:nvSpPr>
        <dsp:cNvPr id="0" name=""/>
        <dsp:cNvSpPr/>
      </dsp:nvSpPr>
      <dsp:spPr>
        <a:xfrm>
          <a:off x="3202249" y="1214439"/>
          <a:ext cx="1441225" cy="500077"/>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ctr" defTabSz="577850">
            <a:lnSpc>
              <a:spcPct val="90000"/>
            </a:lnSpc>
            <a:spcBef>
              <a:spcPct val="0"/>
            </a:spcBef>
            <a:spcAft>
              <a:spcPct val="15000"/>
            </a:spcAft>
            <a:buChar char="•"/>
          </a:pPr>
          <a:r>
            <a:rPr lang="zh-CN" altLang="en-US" sz="1300" kern="1200" dirty="0"/>
            <a:t>推广主页点赞</a:t>
          </a:r>
        </a:p>
      </dsp:txBody>
      <dsp:txXfrm>
        <a:off x="3213757" y="1333107"/>
        <a:ext cx="1418209" cy="369901"/>
      </dsp:txXfrm>
    </dsp:sp>
    <dsp:sp modelId="{86497F03-056D-49C9-AFA5-D94F25065A7C}">
      <dsp:nvSpPr>
        <dsp:cNvPr id="0" name=""/>
        <dsp:cNvSpPr/>
      </dsp:nvSpPr>
      <dsp:spPr>
        <a:xfrm>
          <a:off x="3970448" y="-223857"/>
          <a:ext cx="2452840" cy="2452840"/>
        </a:xfrm>
        <a:prstGeom prst="circularArrow">
          <a:avLst>
            <a:gd name="adj1" fmla="val 3486"/>
            <a:gd name="adj2" fmla="val 432417"/>
            <a:gd name="adj3" fmla="val 19403718"/>
            <a:gd name="adj4" fmla="val 12587156"/>
            <a:gd name="adj5" fmla="val 4067"/>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2B573FE-5C28-4B3C-AA7D-50247BB3E4DF}">
      <dsp:nvSpPr>
        <dsp:cNvPr id="0" name=""/>
        <dsp:cNvSpPr/>
      </dsp:nvSpPr>
      <dsp:spPr>
        <a:xfrm>
          <a:off x="3334642" y="439343"/>
          <a:ext cx="1756459" cy="615080"/>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altLang="zh-CN" sz="1700" kern="1200" dirty="0"/>
            <a:t>Promote Your Page</a:t>
          </a:r>
          <a:endParaRPr lang="zh-CN" altLang="en-US" sz="1700" kern="1200" dirty="0"/>
        </a:p>
      </dsp:txBody>
      <dsp:txXfrm>
        <a:off x="3352657" y="457358"/>
        <a:ext cx="1720429" cy="579050"/>
      </dsp:txXfrm>
    </dsp:sp>
    <dsp:sp modelId="{3458C65D-EA53-4425-BB48-4B7BA53AD55E}">
      <dsp:nvSpPr>
        <dsp:cNvPr id="0" name=""/>
        <dsp:cNvSpPr/>
      </dsp:nvSpPr>
      <dsp:spPr>
        <a:xfrm>
          <a:off x="5498298" y="1214447"/>
          <a:ext cx="1740064" cy="500062"/>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ctr" defTabSz="577850">
            <a:lnSpc>
              <a:spcPct val="90000"/>
            </a:lnSpc>
            <a:spcBef>
              <a:spcPct val="0"/>
            </a:spcBef>
            <a:spcAft>
              <a:spcPct val="15000"/>
            </a:spcAft>
            <a:buChar char="•"/>
          </a:pPr>
          <a:r>
            <a:rPr lang="zh-CN" altLang="en-US" sz="1300" kern="1200" dirty="0"/>
            <a:t>提高品牌知名度</a:t>
          </a:r>
        </a:p>
      </dsp:txBody>
      <dsp:txXfrm>
        <a:off x="5509806" y="1225955"/>
        <a:ext cx="1717048" cy="369890"/>
      </dsp:txXfrm>
    </dsp:sp>
    <dsp:sp modelId="{D6FB4929-4F2D-4BAF-8DE7-932AA6EC1198}">
      <dsp:nvSpPr>
        <dsp:cNvPr id="0" name=""/>
        <dsp:cNvSpPr/>
      </dsp:nvSpPr>
      <dsp:spPr>
        <a:xfrm>
          <a:off x="5884979" y="1874532"/>
          <a:ext cx="1546723" cy="615080"/>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n-US" altLang="en-US" sz="1700" kern="1200" dirty="0"/>
            <a:t>Increase Brand Awareness</a:t>
          </a:r>
          <a:endParaRPr lang="zh-CN" altLang="en-US" sz="1700" kern="1200" dirty="0"/>
        </a:p>
      </dsp:txBody>
      <dsp:txXfrm>
        <a:off x="5902994" y="1892547"/>
        <a:ext cx="1510693" cy="579050"/>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F4BB83-08ED-4573-917C-EB2D93E5FF87}" type="datetimeFigureOut">
              <a:rPr lang="zh-CN" altLang="en-US" smtClean="0"/>
              <a:t>2017/4/25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3A4659-2EF8-42AC-8184-7B581AB385E3}" type="slidenum">
              <a:rPr lang="zh-CN" altLang="en-US" smtClean="0"/>
              <a:t>‹#›</a:t>
            </a:fld>
            <a:endParaRPr lang="zh-CN" altLang="en-US"/>
          </a:p>
        </p:txBody>
      </p:sp>
    </p:spTree>
    <p:extLst>
      <p:ext uri="{BB962C8B-B14F-4D97-AF65-F5344CB8AC3E}">
        <p14:creationId xmlns:p14="http://schemas.microsoft.com/office/powerpoint/2010/main" val="916489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59573C-4563-40E3-94F9-55383A434BA3}" type="slidenum">
              <a:rPr lang="zh-CN" altLang="en-US" smtClean="0"/>
              <a:pPr/>
              <a:t>1</a:t>
            </a:fld>
            <a:endParaRPr lang="zh-CN" altLang="en-US"/>
          </a:p>
        </p:txBody>
      </p:sp>
    </p:spTree>
    <p:extLst>
      <p:ext uri="{BB962C8B-B14F-4D97-AF65-F5344CB8AC3E}">
        <p14:creationId xmlns:p14="http://schemas.microsoft.com/office/powerpoint/2010/main" val="867720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59573C-4563-40E3-94F9-55383A434BA3}" type="slidenum">
              <a:rPr lang="zh-CN" altLang="en-US" smtClean="0"/>
              <a:pPr/>
              <a:t>7</a:t>
            </a:fld>
            <a:endParaRPr lang="zh-CN" altLang="en-US"/>
          </a:p>
        </p:txBody>
      </p:sp>
    </p:spTree>
    <p:extLst>
      <p:ext uri="{BB962C8B-B14F-4D97-AF65-F5344CB8AC3E}">
        <p14:creationId xmlns:p14="http://schemas.microsoft.com/office/powerpoint/2010/main" val="417282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40BBC682-61BE-4C3D-8F82-8CBA198D205C}" type="datetimeFigureOut">
              <a:rPr lang="zh-CN" altLang="en-US" smtClean="0"/>
              <a:t>2017/4/25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E5C1AA1-FD28-4F2D-B6AA-73A51EFDC030}" type="slidenum">
              <a:rPr lang="zh-CN" altLang="en-US" smtClean="0"/>
              <a:t>‹#›</a:t>
            </a:fld>
            <a:endParaRPr lang="zh-CN" altLang="en-US"/>
          </a:p>
        </p:txBody>
      </p:sp>
    </p:spTree>
    <p:extLst>
      <p:ext uri="{BB962C8B-B14F-4D97-AF65-F5344CB8AC3E}">
        <p14:creationId xmlns:p14="http://schemas.microsoft.com/office/powerpoint/2010/main" val="2034130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0BBC682-61BE-4C3D-8F82-8CBA198D205C}" type="datetimeFigureOut">
              <a:rPr lang="zh-CN" altLang="en-US" smtClean="0"/>
              <a:t>2017/4/25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E5C1AA1-FD28-4F2D-B6AA-73A51EFDC030}" type="slidenum">
              <a:rPr lang="zh-CN" altLang="en-US" smtClean="0"/>
              <a:t>‹#›</a:t>
            </a:fld>
            <a:endParaRPr lang="zh-CN" altLang="en-US"/>
          </a:p>
        </p:txBody>
      </p:sp>
    </p:spTree>
    <p:extLst>
      <p:ext uri="{BB962C8B-B14F-4D97-AF65-F5344CB8AC3E}">
        <p14:creationId xmlns:p14="http://schemas.microsoft.com/office/powerpoint/2010/main" val="80604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40BBC682-61BE-4C3D-8F82-8CBA198D205C}" type="datetimeFigureOut">
              <a:rPr lang="zh-CN" altLang="en-US" smtClean="0"/>
              <a:t>2017/4/25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E5C1AA1-FD28-4F2D-B6AA-73A51EFDC030}" type="slidenum">
              <a:rPr lang="zh-CN" altLang="en-US" smtClean="0"/>
              <a:t>‹#›</a:t>
            </a:fld>
            <a:endParaRPr lang="zh-CN" altLang="en-US"/>
          </a:p>
        </p:txBody>
      </p:sp>
    </p:spTree>
    <p:extLst>
      <p:ext uri="{BB962C8B-B14F-4D97-AF65-F5344CB8AC3E}">
        <p14:creationId xmlns:p14="http://schemas.microsoft.com/office/powerpoint/2010/main" val="2100024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0BBC682-61BE-4C3D-8F82-8CBA198D205C}" type="datetimeFigureOut">
              <a:rPr lang="zh-CN" altLang="en-US" smtClean="0"/>
              <a:t>2017/4/25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E5C1AA1-FD28-4F2D-B6AA-73A51EFDC030}" type="slidenum">
              <a:rPr lang="zh-CN" altLang="en-US" smtClean="0"/>
              <a:t>‹#›</a:t>
            </a:fld>
            <a:endParaRPr lang="zh-CN" altLang="en-US"/>
          </a:p>
        </p:txBody>
      </p:sp>
    </p:spTree>
    <p:extLst>
      <p:ext uri="{BB962C8B-B14F-4D97-AF65-F5344CB8AC3E}">
        <p14:creationId xmlns:p14="http://schemas.microsoft.com/office/powerpoint/2010/main" val="850526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0BBC682-61BE-4C3D-8F82-8CBA198D205C}" type="datetimeFigureOut">
              <a:rPr lang="zh-CN" altLang="en-US" smtClean="0"/>
              <a:t>2017/4/25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E5C1AA1-FD28-4F2D-B6AA-73A51EFDC030}" type="slidenum">
              <a:rPr lang="zh-CN" altLang="en-US" smtClean="0"/>
              <a:t>‹#›</a:t>
            </a:fld>
            <a:endParaRPr lang="zh-CN" altLang="en-US"/>
          </a:p>
        </p:txBody>
      </p:sp>
    </p:spTree>
    <p:extLst>
      <p:ext uri="{BB962C8B-B14F-4D97-AF65-F5344CB8AC3E}">
        <p14:creationId xmlns:p14="http://schemas.microsoft.com/office/powerpoint/2010/main" val="2532567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0BBC682-61BE-4C3D-8F82-8CBA198D205C}" type="datetimeFigureOut">
              <a:rPr lang="zh-CN" altLang="en-US" smtClean="0"/>
              <a:t>2017/4/25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E5C1AA1-FD28-4F2D-B6AA-73A51EFDC030}" type="slidenum">
              <a:rPr lang="zh-CN" altLang="en-US" smtClean="0"/>
              <a:t>‹#›</a:t>
            </a:fld>
            <a:endParaRPr lang="zh-CN" altLang="en-US"/>
          </a:p>
        </p:txBody>
      </p:sp>
    </p:spTree>
    <p:extLst>
      <p:ext uri="{BB962C8B-B14F-4D97-AF65-F5344CB8AC3E}">
        <p14:creationId xmlns:p14="http://schemas.microsoft.com/office/powerpoint/2010/main" val="4179673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0BBC682-61BE-4C3D-8F82-8CBA198D205C}" type="datetimeFigureOut">
              <a:rPr lang="zh-CN" altLang="en-US" smtClean="0"/>
              <a:t>2017/4/25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E5C1AA1-FD28-4F2D-B6AA-73A51EFDC030}" type="slidenum">
              <a:rPr lang="zh-CN" altLang="en-US" smtClean="0"/>
              <a:t>‹#›</a:t>
            </a:fld>
            <a:endParaRPr lang="zh-CN" altLang="en-US"/>
          </a:p>
        </p:txBody>
      </p:sp>
    </p:spTree>
    <p:extLst>
      <p:ext uri="{BB962C8B-B14F-4D97-AF65-F5344CB8AC3E}">
        <p14:creationId xmlns:p14="http://schemas.microsoft.com/office/powerpoint/2010/main" val="3253547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0BBC682-61BE-4C3D-8F82-8CBA198D205C}" type="datetimeFigureOut">
              <a:rPr lang="zh-CN" altLang="en-US" smtClean="0"/>
              <a:t>2017/4/25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E5C1AA1-FD28-4F2D-B6AA-73A51EFDC030}" type="slidenum">
              <a:rPr lang="zh-CN" altLang="en-US" smtClean="0"/>
              <a:t>‹#›</a:t>
            </a:fld>
            <a:endParaRPr lang="zh-CN" altLang="en-US"/>
          </a:p>
        </p:txBody>
      </p:sp>
    </p:spTree>
    <p:extLst>
      <p:ext uri="{BB962C8B-B14F-4D97-AF65-F5344CB8AC3E}">
        <p14:creationId xmlns:p14="http://schemas.microsoft.com/office/powerpoint/2010/main" val="1507964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0BBC682-61BE-4C3D-8F82-8CBA198D205C}" type="datetimeFigureOut">
              <a:rPr lang="zh-CN" altLang="en-US" smtClean="0"/>
              <a:t>2017/4/25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E5C1AA1-FD28-4F2D-B6AA-73A51EFDC030}" type="slidenum">
              <a:rPr lang="zh-CN" altLang="en-US" smtClean="0"/>
              <a:t>‹#›</a:t>
            </a:fld>
            <a:endParaRPr lang="zh-CN" altLang="en-US"/>
          </a:p>
        </p:txBody>
      </p:sp>
    </p:spTree>
    <p:extLst>
      <p:ext uri="{BB962C8B-B14F-4D97-AF65-F5344CB8AC3E}">
        <p14:creationId xmlns:p14="http://schemas.microsoft.com/office/powerpoint/2010/main" val="268406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0BBC682-61BE-4C3D-8F82-8CBA198D205C}" type="datetimeFigureOut">
              <a:rPr lang="zh-CN" altLang="en-US" smtClean="0"/>
              <a:t>2017/4/25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E5C1AA1-FD28-4F2D-B6AA-73A51EFDC030}" type="slidenum">
              <a:rPr lang="zh-CN" altLang="en-US" smtClean="0"/>
              <a:t>‹#›</a:t>
            </a:fld>
            <a:endParaRPr lang="zh-CN" altLang="en-US"/>
          </a:p>
        </p:txBody>
      </p:sp>
    </p:spTree>
    <p:extLst>
      <p:ext uri="{BB962C8B-B14F-4D97-AF65-F5344CB8AC3E}">
        <p14:creationId xmlns:p14="http://schemas.microsoft.com/office/powerpoint/2010/main" val="2643733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0BBC682-61BE-4C3D-8F82-8CBA198D205C}" type="datetimeFigureOut">
              <a:rPr lang="zh-CN" altLang="en-US" smtClean="0"/>
              <a:t>2017/4/25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E5C1AA1-FD28-4F2D-B6AA-73A51EFDC030}" type="slidenum">
              <a:rPr lang="zh-CN" altLang="en-US" smtClean="0"/>
              <a:t>‹#›</a:t>
            </a:fld>
            <a:endParaRPr lang="zh-CN" altLang="en-US"/>
          </a:p>
        </p:txBody>
      </p:sp>
    </p:spTree>
    <p:extLst>
      <p:ext uri="{BB962C8B-B14F-4D97-AF65-F5344CB8AC3E}">
        <p14:creationId xmlns:p14="http://schemas.microsoft.com/office/powerpoint/2010/main" val="1793041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BBC682-61BE-4C3D-8F82-8CBA198D205C}" type="datetimeFigureOut">
              <a:rPr lang="zh-CN" altLang="en-US" smtClean="0"/>
              <a:t>2017/4/25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5C1AA1-FD28-4F2D-B6AA-73A51EFDC030}" type="slidenum">
              <a:rPr lang="zh-CN" altLang="en-US" smtClean="0"/>
              <a:t>‹#›</a:t>
            </a:fld>
            <a:endParaRPr lang="zh-CN" altLang="en-US"/>
          </a:p>
        </p:txBody>
      </p:sp>
    </p:spTree>
    <p:extLst>
      <p:ext uri="{BB962C8B-B14F-4D97-AF65-F5344CB8AC3E}">
        <p14:creationId xmlns:p14="http://schemas.microsoft.com/office/powerpoint/2010/main" val="5431878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www.youtube.com/watch?v=UJkvej9Vfiw"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jpeg"/><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3.jpe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3.jpe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23.jpeg"/><Relationship Id="rId1" Type="http://schemas.openxmlformats.org/officeDocument/2006/relationships/slideLayout" Target="../slideLayouts/slideLayout7.xml"/><Relationship Id="rId4" Type="http://schemas.openxmlformats.org/officeDocument/2006/relationships/image" Target="../media/image35.jpeg"/></Relationships>
</file>

<file path=ppt/slides/_rels/slide4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666844" y="2357430"/>
            <a:ext cx="8786874" cy="707886"/>
          </a:xfrm>
          <a:prstGeom prst="rect">
            <a:avLst/>
          </a:prstGeom>
          <a:noFill/>
        </p:spPr>
        <p:txBody>
          <a:bodyPr wrap="square" rtlCol="0">
            <a:spAutoFit/>
          </a:bodyPr>
          <a:lstStyle/>
          <a:p>
            <a:r>
              <a:rPr lang="en-US" altLang="zh-CN" sz="4000" b="1" dirty="0">
                <a:solidFill>
                  <a:srgbClr val="0070C0"/>
                </a:solidFill>
                <a:latin typeface="Arial Unicode MS" pitchFamily="34" charset="-122"/>
                <a:ea typeface="Arial Unicode MS" pitchFamily="34" charset="-122"/>
                <a:cs typeface="Arial Unicode MS" pitchFamily="34" charset="-122"/>
              </a:rPr>
              <a:t>Amazon</a:t>
            </a:r>
            <a:r>
              <a:rPr lang="zh-CN" altLang="en-US" sz="4000" b="1" dirty="0">
                <a:solidFill>
                  <a:srgbClr val="0070C0"/>
                </a:solidFill>
                <a:latin typeface="Arial Unicode MS" pitchFamily="34" charset="-122"/>
                <a:ea typeface="Arial Unicode MS" pitchFamily="34" charset="-122"/>
                <a:cs typeface="Arial Unicode MS" pitchFamily="34" charset="-122"/>
              </a:rPr>
              <a:t>站内站外推广方法及内容概述</a:t>
            </a:r>
          </a:p>
        </p:txBody>
      </p:sp>
    </p:spTree>
    <p:extLst>
      <p:ext uri="{BB962C8B-B14F-4D97-AF65-F5344CB8AC3E}">
        <p14:creationId xmlns:p14="http://schemas.microsoft.com/office/powerpoint/2010/main" val="3084378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238084" y="428604"/>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
        <p:nvSpPr>
          <p:cNvPr id="3" name="TextBox 2"/>
          <p:cNvSpPr txBox="1"/>
          <p:nvPr/>
        </p:nvSpPr>
        <p:spPr>
          <a:xfrm>
            <a:off x="794" y="2786058"/>
            <a:ext cx="2500330" cy="369332"/>
          </a:xfrm>
          <a:prstGeom prst="rect">
            <a:avLst/>
          </a:prstGeom>
          <a:noFill/>
        </p:spPr>
        <p:txBody>
          <a:bodyPr wrap="square" rtlCol="0">
            <a:spAutoFit/>
          </a:bodyPr>
          <a:lstStyle/>
          <a:p>
            <a:r>
              <a:rPr lang="en-US" altLang="zh-CN" b="1" dirty="0">
                <a:solidFill>
                  <a:srgbClr val="0070C0"/>
                </a:solidFill>
              </a:rPr>
              <a:t>Amazon </a:t>
            </a:r>
            <a:r>
              <a:rPr lang="zh-CN" altLang="en-US" b="1" dirty="0">
                <a:solidFill>
                  <a:srgbClr val="0070C0"/>
                </a:solidFill>
              </a:rPr>
              <a:t>站内流量来源</a:t>
            </a:r>
          </a:p>
        </p:txBody>
      </p:sp>
      <p:sp>
        <p:nvSpPr>
          <p:cNvPr id="4" name="左大括号 3"/>
          <p:cNvSpPr/>
          <p:nvPr/>
        </p:nvSpPr>
        <p:spPr>
          <a:xfrm>
            <a:off x="2524100" y="1785926"/>
            <a:ext cx="428628" cy="2357454"/>
          </a:xfrm>
          <a:prstGeom prst="leftBrace">
            <a:avLst/>
          </a:prstGeom>
          <a:effectLst>
            <a:reflection blurRad="6350" stA="52000" endA="300" endPos="35000" dir="5400000" sy="-100000" algn="bl" rotWithShape="0"/>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TextBox 4"/>
          <p:cNvSpPr txBox="1"/>
          <p:nvPr/>
        </p:nvSpPr>
        <p:spPr>
          <a:xfrm>
            <a:off x="3024167" y="1571612"/>
            <a:ext cx="7135287" cy="369332"/>
          </a:xfrm>
          <a:prstGeom prst="rect">
            <a:avLst/>
          </a:prstGeom>
          <a:noFill/>
        </p:spPr>
        <p:txBody>
          <a:bodyPr wrap="none" rtlCol="0">
            <a:spAutoFit/>
          </a:bodyPr>
          <a:lstStyle/>
          <a:p>
            <a:r>
              <a:rPr lang="zh-CN" altLang="en-US" b="1" dirty="0">
                <a:solidFill>
                  <a:srgbClr val="0070C0"/>
                </a:solidFill>
              </a:rPr>
              <a:t>站内搜索：客户的</a:t>
            </a:r>
            <a:r>
              <a:rPr lang="en-US" altLang="zh-CN" b="1" dirty="0">
                <a:solidFill>
                  <a:srgbClr val="0070C0"/>
                </a:solidFill>
              </a:rPr>
              <a:t>search term</a:t>
            </a:r>
            <a:r>
              <a:rPr lang="zh-CN" altLang="en-US" b="1" dirty="0">
                <a:solidFill>
                  <a:srgbClr val="0070C0"/>
                </a:solidFill>
              </a:rPr>
              <a:t>和我们的</a:t>
            </a:r>
            <a:r>
              <a:rPr lang="en-US" altLang="zh-CN" b="1" dirty="0">
                <a:solidFill>
                  <a:srgbClr val="0070C0"/>
                </a:solidFill>
              </a:rPr>
              <a:t>listing</a:t>
            </a:r>
            <a:r>
              <a:rPr lang="zh-CN" altLang="en-US" b="1" dirty="0">
                <a:solidFill>
                  <a:srgbClr val="0070C0"/>
                </a:solidFill>
              </a:rPr>
              <a:t>匹配时，展现搜索结果</a:t>
            </a:r>
          </a:p>
        </p:txBody>
      </p:sp>
      <p:sp>
        <p:nvSpPr>
          <p:cNvPr id="6" name="TextBox 5"/>
          <p:cNvSpPr txBox="1"/>
          <p:nvPr/>
        </p:nvSpPr>
        <p:spPr>
          <a:xfrm>
            <a:off x="3024166" y="3857628"/>
            <a:ext cx="6890028" cy="369332"/>
          </a:xfrm>
          <a:prstGeom prst="rect">
            <a:avLst/>
          </a:prstGeom>
          <a:noFill/>
        </p:spPr>
        <p:txBody>
          <a:bodyPr wrap="none" rtlCol="0">
            <a:spAutoFit/>
          </a:bodyPr>
          <a:lstStyle/>
          <a:p>
            <a:r>
              <a:rPr lang="zh-CN" altLang="en-US" b="1" dirty="0">
                <a:solidFill>
                  <a:srgbClr val="0070C0"/>
                </a:solidFill>
              </a:rPr>
              <a:t>站内</a:t>
            </a:r>
            <a:r>
              <a:rPr lang="en-US" altLang="zh-CN" b="1" dirty="0">
                <a:solidFill>
                  <a:srgbClr val="0070C0"/>
                </a:solidFill>
              </a:rPr>
              <a:t>SEM:   Sponsored Ads</a:t>
            </a:r>
            <a:r>
              <a:rPr lang="zh-CN" altLang="en-US" b="1" dirty="0">
                <a:solidFill>
                  <a:srgbClr val="0070C0"/>
                </a:solidFill>
              </a:rPr>
              <a:t>、</a:t>
            </a:r>
            <a:r>
              <a:rPr lang="en-US" altLang="zh-CN" b="1" dirty="0">
                <a:solidFill>
                  <a:srgbClr val="0070C0"/>
                </a:solidFill>
              </a:rPr>
              <a:t>Display Ads </a:t>
            </a:r>
            <a:r>
              <a:rPr lang="zh-CN" altLang="en-US" b="1" dirty="0">
                <a:solidFill>
                  <a:srgbClr val="0070C0"/>
                </a:solidFill>
              </a:rPr>
              <a:t>、</a:t>
            </a:r>
            <a:r>
              <a:rPr lang="en-US" altLang="zh-CN" b="1" dirty="0">
                <a:solidFill>
                  <a:srgbClr val="0070C0"/>
                </a:solidFill>
              </a:rPr>
              <a:t>Amazon Affiliate Ads</a:t>
            </a:r>
            <a:endParaRPr lang="zh-CN" altLang="en-US" b="1" dirty="0">
              <a:solidFill>
                <a:srgbClr val="0070C0"/>
              </a:solidFill>
            </a:endParaRPr>
          </a:p>
        </p:txBody>
      </p:sp>
      <p:sp>
        <p:nvSpPr>
          <p:cNvPr id="7" name="TextBox 6"/>
          <p:cNvSpPr txBox="1"/>
          <p:nvPr/>
        </p:nvSpPr>
        <p:spPr>
          <a:xfrm>
            <a:off x="3024166" y="2285992"/>
            <a:ext cx="5763116" cy="369332"/>
          </a:xfrm>
          <a:prstGeom prst="rect">
            <a:avLst/>
          </a:prstGeom>
          <a:noFill/>
        </p:spPr>
        <p:txBody>
          <a:bodyPr wrap="none" rtlCol="0">
            <a:spAutoFit/>
          </a:bodyPr>
          <a:lstStyle/>
          <a:p>
            <a:r>
              <a:rPr lang="zh-CN" altLang="en-US" b="1" dirty="0">
                <a:solidFill>
                  <a:srgbClr val="0070C0"/>
                </a:solidFill>
              </a:rPr>
              <a:t>类目搜索：客户通过目标产品所在的类目来筛选产品；</a:t>
            </a:r>
          </a:p>
        </p:txBody>
      </p:sp>
      <p:sp>
        <p:nvSpPr>
          <p:cNvPr id="8" name="TextBox 7"/>
          <p:cNvSpPr txBox="1"/>
          <p:nvPr/>
        </p:nvSpPr>
        <p:spPr>
          <a:xfrm>
            <a:off x="3024167" y="3071810"/>
            <a:ext cx="8462573" cy="369332"/>
          </a:xfrm>
          <a:prstGeom prst="rect">
            <a:avLst/>
          </a:prstGeom>
          <a:noFill/>
        </p:spPr>
        <p:txBody>
          <a:bodyPr wrap="none" rtlCol="0">
            <a:spAutoFit/>
          </a:bodyPr>
          <a:lstStyle/>
          <a:p>
            <a:r>
              <a:rPr lang="zh-CN" altLang="en-US" b="1" dirty="0">
                <a:solidFill>
                  <a:srgbClr val="0070C0"/>
                </a:solidFill>
              </a:rPr>
              <a:t>运营模块：客户通过</a:t>
            </a:r>
            <a:r>
              <a:rPr lang="en-US" altLang="zh-CN" b="1" dirty="0">
                <a:solidFill>
                  <a:srgbClr val="0070C0"/>
                </a:solidFill>
              </a:rPr>
              <a:t>Amazon</a:t>
            </a:r>
            <a:r>
              <a:rPr lang="zh-CN" altLang="en-US" b="1" dirty="0">
                <a:solidFill>
                  <a:srgbClr val="0070C0"/>
                </a:solidFill>
              </a:rPr>
              <a:t>的运营模块</a:t>
            </a:r>
            <a:r>
              <a:rPr lang="en-US" altLang="zh-CN" b="1" dirty="0">
                <a:solidFill>
                  <a:srgbClr val="0070C0"/>
                </a:solidFill>
              </a:rPr>
              <a:t>(</a:t>
            </a:r>
            <a:r>
              <a:rPr lang="zh-CN" altLang="en-US" b="1" dirty="0">
                <a:solidFill>
                  <a:srgbClr val="0070C0"/>
                </a:solidFill>
              </a:rPr>
              <a:t>如站内</a:t>
            </a:r>
            <a:r>
              <a:rPr lang="en-US" altLang="zh-CN" b="1" dirty="0">
                <a:solidFill>
                  <a:srgbClr val="0070C0"/>
                </a:solidFill>
              </a:rPr>
              <a:t>Deals)</a:t>
            </a:r>
            <a:r>
              <a:rPr lang="zh-CN" altLang="en-US" b="1" dirty="0">
                <a:solidFill>
                  <a:srgbClr val="0070C0"/>
                </a:solidFill>
              </a:rPr>
              <a:t>或者内部导航来筛选产品；</a:t>
            </a:r>
          </a:p>
        </p:txBody>
      </p:sp>
      <p:sp>
        <p:nvSpPr>
          <p:cNvPr id="9" name="圆角矩形 8"/>
          <p:cNvSpPr/>
          <p:nvPr/>
        </p:nvSpPr>
        <p:spPr>
          <a:xfrm>
            <a:off x="2952728" y="4929198"/>
            <a:ext cx="2000264" cy="500066"/>
          </a:xfrm>
          <a:prstGeom prst="roundRect">
            <a:avLst/>
          </a:prstGeom>
          <a:solidFill>
            <a:schemeClr val="accent6">
              <a:lumMod val="75000"/>
            </a:schemeClr>
          </a:solidFill>
          <a:ln>
            <a:solidFill>
              <a:schemeClr val="accent6">
                <a:lumMod val="75000"/>
              </a:schemeClr>
            </a:solidFill>
          </a:ln>
          <a:effectLst>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Arial Unicode MS" pitchFamily="34" charset="-122"/>
                <a:ea typeface="Arial Unicode MS" pitchFamily="34" charset="-122"/>
                <a:cs typeface="Arial Unicode MS" pitchFamily="34" charset="-122"/>
              </a:rPr>
              <a:t>买家主动</a:t>
            </a:r>
          </a:p>
        </p:txBody>
      </p:sp>
      <p:sp>
        <p:nvSpPr>
          <p:cNvPr id="10" name="圆角矩形 9"/>
          <p:cNvSpPr/>
          <p:nvPr/>
        </p:nvSpPr>
        <p:spPr>
          <a:xfrm>
            <a:off x="7096132" y="4929198"/>
            <a:ext cx="2000264" cy="500066"/>
          </a:xfrm>
          <a:prstGeom prst="roundRect">
            <a:avLst/>
          </a:prstGeom>
          <a:solidFill>
            <a:schemeClr val="accent6">
              <a:lumMod val="75000"/>
            </a:schemeClr>
          </a:solidFill>
          <a:ln>
            <a:solidFill>
              <a:schemeClr val="accent6">
                <a:lumMod val="75000"/>
              </a:schemeClr>
            </a:solidFill>
          </a:ln>
          <a:effectLst>
            <a:reflection blurRad="635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Arial Unicode MS" pitchFamily="34" charset="-122"/>
                <a:ea typeface="Arial Unicode MS" pitchFamily="34" charset="-122"/>
                <a:cs typeface="Arial Unicode MS" pitchFamily="34" charset="-122"/>
              </a:rPr>
              <a:t>卖家主动</a:t>
            </a:r>
          </a:p>
        </p:txBody>
      </p:sp>
    </p:spTree>
    <p:extLst>
      <p:ext uri="{BB962C8B-B14F-4D97-AF65-F5344CB8AC3E}">
        <p14:creationId xmlns:p14="http://schemas.microsoft.com/office/powerpoint/2010/main" val="266720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78394" y="2285992"/>
            <a:ext cx="10346961" cy="1200329"/>
          </a:xfrm>
          <a:prstGeom prst="rect">
            <a:avLst/>
          </a:prstGeom>
          <a:noFill/>
        </p:spPr>
        <p:txBody>
          <a:bodyPr wrap="square" rtlCol="0">
            <a:spAutoFit/>
          </a:bodyPr>
          <a:lstStyle/>
          <a:p>
            <a:r>
              <a:rPr lang="zh-CN" altLang="en-US" sz="2400" dirty="0">
                <a:solidFill>
                  <a:srgbClr val="0070C0"/>
                </a:solidFill>
                <a:latin typeface="Arial Unicode MS" pitchFamily="34" charset="-122"/>
                <a:ea typeface="Arial Unicode MS" pitchFamily="34" charset="-122"/>
                <a:cs typeface="Arial Unicode MS" pitchFamily="34" charset="-122"/>
              </a:rPr>
              <a:t>     由</a:t>
            </a:r>
            <a:r>
              <a:rPr lang="en-US" altLang="zh-CN" sz="2400" dirty="0">
                <a:solidFill>
                  <a:srgbClr val="0070C0"/>
                </a:solidFill>
                <a:latin typeface="Arial Unicode MS" pitchFamily="34" charset="-122"/>
                <a:ea typeface="Arial Unicode MS" pitchFamily="34" charset="-122"/>
                <a:cs typeface="Arial Unicode MS" pitchFamily="34" charset="-122"/>
              </a:rPr>
              <a:t>A9</a:t>
            </a:r>
            <a:r>
              <a:rPr lang="zh-CN" altLang="en-US" sz="2400" dirty="0">
                <a:solidFill>
                  <a:srgbClr val="0070C0"/>
                </a:solidFill>
                <a:latin typeface="Arial Unicode MS" pitchFamily="34" charset="-122"/>
                <a:ea typeface="Arial Unicode MS" pitchFamily="34" charset="-122"/>
                <a:cs typeface="Arial Unicode MS" pitchFamily="34" charset="-122"/>
              </a:rPr>
              <a:t>算法决定的产品搜索排序对于</a:t>
            </a:r>
            <a:r>
              <a:rPr lang="en-US" altLang="zh-CN" sz="2400" dirty="0">
                <a:solidFill>
                  <a:srgbClr val="0070C0"/>
                </a:solidFill>
                <a:latin typeface="Arial Unicode MS" pitchFamily="34" charset="-122"/>
                <a:ea typeface="Arial Unicode MS" pitchFamily="34" charset="-122"/>
                <a:cs typeface="Arial Unicode MS" pitchFamily="34" charset="-122"/>
              </a:rPr>
              <a:t>Amazon</a:t>
            </a:r>
            <a:r>
              <a:rPr lang="zh-CN" altLang="en-US" sz="2400" dirty="0">
                <a:solidFill>
                  <a:srgbClr val="0070C0"/>
                </a:solidFill>
                <a:latin typeface="Arial Unicode MS" pitchFamily="34" charset="-122"/>
                <a:ea typeface="Arial Unicode MS" pitchFamily="34" charset="-122"/>
                <a:cs typeface="Arial Unicode MS" pitchFamily="34" charset="-122"/>
              </a:rPr>
              <a:t>站内营销的影响十分巨大</a:t>
            </a:r>
            <a:endParaRPr lang="en-US" altLang="zh-CN" sz="2400" dirty="0">
              <a:solidFill>
                <a:srgbClr val="0070C0"/>
              </a:solidFill>
              <a:latin typeface="Arial Unicode MS" pitchFamily="34" charset="-122"/>
              <a:ea typeface="Arial Unicode MS" pitchFamily="34" charset="-122"/>
              <a:cs typeface="Arial Unicode MS" pitchFamily="34" charset="-122"/>
            </a:endParaRPr>
          </a:p>
          <a:p>
            <a:r>
              <a:rPr lang="en-US" altLang="zh-CN" sz="2400" dirty="0">
                <a:solidFill>
                  <a:srgbClr val="0070C0"/>
                </a:solidFill>
                <a:latin typeface="Arial Unicode MS" pitchFamily="34" charset="-122"/>
                <a:ea typeface="Arial Unicode MS" pitchFamily="34" charset="-122"/>
                <a:cs typeface="Arial Unicode MS" pitchFamily="34" charset="-122"/>
              </a:rPr>
              <a:t>1</a:t>
            </a:r>
            <a:r>
              <a:rPr lang="zh-CN" altLang="en-US" sz="2400" dirty="0">
                <a:solidFill>
                  <a:srgbClr val="0070C0"/>
                </a:solidFill>
                <a:latin typeface="Arial Unicode MS" pitchFamily="34" charset="-122"/>
                <a:ea typeface="Arial Unicode MS" pitchFamily="34" charset="-122"/>
                <a:cs typeface="Arial Unicode MS" pitchFamily="34" charset="-122"/>
              </a:rPr>
              <a:t>、在亚马逊平台站内搜索流量将近占掉最后着陆到产品详情页流量的一半；</a:t>
            </a:r>
            <a:endParaRPr lang="en-US" altLang="zh-CN" sz="2400" dirty="0">
              <a:solidFill>
                <a:srgbClr val="0070C0"/>
              </a:solidFill>
              <a:latin typeface="Arial Unicode MS" pitchFamily="34" charset="-122"/>
              <a:ea typeface="Arial Unicode MS" pitchFamily="34" charset="-122"/>
              <a:cs typeface="Arial Unicode MS" pitchFamily="34" charset="-122"/>
            </a:endParaRPr>
          </a:p>
          <a:p>
            <a:r>
              <a:rPr lang="en-US" altLang="zh-CN" sz="2400" dirty="0">
                <a:solidFill>
                  <a:srgbClr val="0070C0"/>
                </a:solidFill>
                <a:latin typeface="Arial Unicode MS" pitchFamily="34" charset="-122"/>
                <a:ea typeface="Arial Unicode MS" pitchFamily="34" charset="-122"/>
                <a:cs typeface="Arial Unicode MS" pitchFamily="34" charset="-122"/>
              </a:rPr>
              <a:t>2</a:t>
            </a:r>
            <a:r>
              <a:rPr lang="zh-CN" altLang="en-US" sz="2400" dirty="0">
                <a:solidFill>
                  <a:srgbClr val="0070C0"/>
                </a:solidFill>
                <a:latin typeface="Arial Unicode MS" pitchFamily="34" charset="-122"/>
                <a:ea typeface="Arial Unicode MS" pitchFamily="34" charset="-122"/>
                <a:cs typeface="Arial Unicode MS" pitchFamily="34" charset="-122"/>
              </a:rPr>
              <a:t>、站内搜索流量是目前亚马逊站内平均转化率最高的流量 ；</a:t>
            </a:r>
          </a:p>
        </p:txBody>
      </p:sp>
      <p:sp>
        <p:nvSpPr>
          <p:cNvPr id="3" name="TextBox 2"/>
          <p:cNvSpPr txBox="1"/>
          <p:nvPr/>
        </p:nvSpPr>
        <p:spPr>
          <a:xfrm>
            <a:off x="795" y="2714620"/>
            <a:ext cx="1627369" cy="523220"/>
          </a:xfrm>
          <a:prstGeom prst="rect">
            <a:avLst/>
          </a:prstGeom>
          <a:noFill/>
        </p:spPr>
        <p:txBody>
          <a:bodyPr wrap="none" rtlCol="0">
            <a:spAutoFit/>
          </a:bodyPr>
          <a:lstStyle/>
          <a:p>
            <a:r>
              <a:rPr lang="zh-CN" altLang="en-US" sz="2800" b="1" dirty="0">
                <a:solidFill>
                  <a:srgbClr val="0070C0"/>
                </a:solidFill>
              </a:rPr>
              <a:t>站内搜索</a:t>
            </a:r>
          </a:p>
        </p:txBody>
      </p:sp>
      <p:sp>
        <p:nvSpPr>
          <p:cNvPr id="4"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Tree>
    <p:extLst>
      <p:ext uri="{BB962C8B-B14F-4D97-AF65-F5344CB8AC3E}">
        <p14:creationId xmlns:p14="http://schemas.microsoft.com/office/powerpoint/2010/main" val="244459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graphicFrame>
        <p:nvGraphicFramePr>
          <p:cNvPr id="6" name="表格 5"/>
          <p:cNvGraphicFramePr>
            <a:graphicFrameLocks noGrp="1"/>
          </p:cNvGraphicFramePr>
          <p:nvPr/>
        </p:nvGraphicFramePr>
        <p:xfrm>
          <a:off x="238084" y="1357298"/>
          <a:ext cx="11787270" cy="4719320"/>
        </p:xfrm>
        <a:graphic>
          <a:graphicData uri="http://schemas.openxmlformats.org/drawingml/2006/table">
            <a:tbl>
              <a:tblPr firstRow="1" bandRow="1">
                <a:tableStyleId>{00A15C55-8517-42AA-B614-E9B94910E393}</a:tableStyleId>
              </a:tblPr>
              <a:tblGrid>
                <a:gridCol w="857256">
                  <a:extLst>
                    <a:ext uri="{9D8B030D-6E8A-4147-A177-3AD203B41FA5}">
                      <a16:colId xmlns:a16="http://schemas.microsoft.com/office/drawing/2014/main" val="20000"/>
                    </a:ext>
                  </a:extLst>
                </a:gridCol>
                <a:gridCol w="3023918">
                  <a:extLst>
                    <a:ext uri="{9D8B030D-6E8A-4147-A177-3AD203B41FA5}">
                      <a16:colId xmlns:a16="http://schemas.microsoft.com/office/drawing/2014/main" val="20001"/>
                    </a:ext>
                  </a:extLst>
                </a:gridCol>
                <a:gridCol w="7906096">
                  <a:extLst>
                    <a:ext uri="{9D8B030D-6E8A-4147-A177-3AD203B41FA5}">
                      <a16:colId xmlns:a16="http://schemas.microsoft.com/office/drawing/2014/main" val="20002"/>
                    </a:ext>
                  </a:extLst>
                </a:gridCol>
              </a:tblGrid>
              <a:tr h="370840">
                <a:tc>
                  <a:txBody>
                    <a:bodyPr/>
                    <a:lstStyle/>
                    <a:p>
                      <a:pPr algn="ctr"/>
                      <a:r>
                        <a:rPr lang="zh-CN" altLang="en-US" dirty="0"/>
                        <a:t>编号</a:t>
                      </a:r>
                    </a:p>
                  </a:txBody>
                  <a:tcPr/>
                </a:tc>
                <a:tc>
                  <a:txBody>
                    <a:bodyPr/>
                    <a:lstStyle/>
                    <a:p>
                      <a:pPr algn="ctr"/>
                      <a:endParaRPr lang="zh-CN" altLang="en-US" dirty="0"/>
                    </a:p>
                  </a:txBody>
                  <a:tcPr/>
                </a:tc>
                <a:tc>
                  <a:txBody>
                    <a:bodyPr/>
                    <a:lstStyle/>
                    <a:p>
                      <a:pPr algn="ctr"/>
                      <a:r>
                        <a:rPr lang="zh-CN" altLang="en-US" dirty="0"/>
                        <a:t>内容</a:t>
                      </a:r>
                    </a:p>
                  </a:txBody>
                  <a:tcPr/>
                </a:tc>
                <a:extLst>
                  <a:ext uri="{0D108BD9-81ED-4DB2-BD59-A6C34878D82A}">
                    <a16:rowId xmlns:a16="http://schemas.microsoft.com/office/drawing/2014/main" val="10000"/>
                  </a:ext>
                </a:extLst>
              </a:tr>
              <a:tr h="370840">
                <a:tc>
                  <a:txBody>
                    <a:bodyPr/>
                    <a:lstStyle/>
                    <a:p>
                      <a:pPr algn="ctr"/>
                      <a:r>
                        <a:rPr lang="en-US" altLang="zh-CN" dirty="0">
                          <a:latin typeface="Arial Unicode MS" pitchFamily="34" charset="-122"/>
                          <a:ea typeface="Arial Unicode MS" pitchFamily="34" charset="-122"/>
                          <a:cs typeface="Arial Unicode MS" pitchFamily="34" charset="-122"/>
                        </a:rPr>
                        <a:t>1</a:t>
                      </a:r>
                      <a:endParaRPr lang="zh-CN" altLang="en-US" dirty="0">
                        <a:latin typeface="Arial Unicode MS" pitchFamily="34" charset="-122"/>
                        <a:ea typeface="Arial Unicode MS" pitchFamily="34" charset="-122"/>
                        <a:cs typeface="Arial Unicode MS" pitchFamily="34" charset="-122"/>
                      </a:endParaRPr>
                    </a:p>
                  </a:txBody>
                  <a:tcPr/>
                </a:tc>
                <a:tc>
                  <a:txBody>
                    <a:bodyPr/>
                    <a:lstStyle/>
                    <a:p>
                      <a:pPr algn="ctr"/>
                      <a:r>
                        <a:rPr lang="en-US" altLang="zh-CN" dirty="0">
                          <a:latin typeface="Arial Unicode MS" pitchFamily="34" charset="-122"/>
                          <a:ea typeface="Arial Unicode MS" pitchFamily="34" charset="-122"/>
                          <a:cs typeface="Arial Unicode MS" pitchFamily="34" charset="-122"/>
                        </a:rPr>
                        <a:t>Best Seller</a:t>
                      </a:r>
                      <a:endParaRPr lang="zh-CN" altLang="en-US" dirty="0">
                        <a:latin typeface="Arial Unicode MS" pitchFamily="34" charset="-122"/>
                        <a:ea typeface="Arial Unicode MS" pitchFamily="34" charset="-122"/>
                        <a:cs typeface="Arial Unicode MS" pitchFamily="34" charset="-122"/>
                      </a:endParaRPr>
                    </a:p>
                  </a:txBody>
                  <a:tcPr/>
                </a:tc>
                <a:tc>
                  <a:txBody>
                    <a:bodyPr/>
                    <a:lstStyle/>
                    <a:p>
                      <a:r>
                        <a:rPr lang="zh-CN" altLang="en-US" dirty="0">
                          <a:latin typeface="Arial Unicode MS" pitchFamily="34" charset="-122"/>
                          <a:ea typeface="Arial Unicode MS" pitchFamily="34" charset="-122"/>
                          <a:cs typeface="Arial Unicode MS" pitchFamily="34" charset="-122"/>
                        </a:rPr>
                        <a:t>销量越高，排名正影响越大；</a:t>
                      </a:r>
                    </a:p>
                  </a:txBody>
                  <a:tcPr/>
                </a:tc>
                <a:extLst>
                  <a:ext uri="{0D108BD9-81ED-4DB2-BD59-A6C34878D82A}">
                    <a16:rowId xmlns:a16="http://schemas.microsoft.com/office/drawing/2014/main" val="10001"/>
                  </a:ext>
                </a:extLst>
              </a:tr>
              <a:tr h="370840">
                <a:tc>
                  <a:txBody>
                    <a:bodyPr/>
                    <a:lstStyle/>
                    <a:p>
                      <a:pPr algn="ctr"/>
                      <a:r>
                        <a:rPr lang="en-US" altLang="zh-CN" dirty="0">
                          <a:latin typeface="Arial Unicode MS" pitchFamily="34" charset="-122"/>
                          <a:ea typeface="Arial Unicode MS" pitchFamily="34" charset="-122"/>
                          <a:cs typeface="Arial Unicode MS" pitchFamily="34" charset="-122"/>
                        </a:rPr>
                        <a:t>2</a:t>
                      </a:r>
                      <a:endParaRPr lang="zh-CN" altLang="en-US" dirty="0">
                        <a:latin typeface="Arial Unicode MS" pitchFamily="34" charset="-122"/>
                        <a:ea typeface="Arial Unicode MS" pitchFamily="34" charset="-122"/>
                        <a:cs typeface="Arial Unicode MS" pitchFamily="34" charset="-122"/>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Arial Unicode MS" pitchFamily="34" charset="-122"/>
                          <a:ea typeface="Arial Unicode MS" pitchFamily="34" charset="-122"/>
                          <a:cs typeface="Arial Unicode MS" pitchFamily="34" charset="-122"/>
                        </a:rPr>
                        <a:t>Product Review</a:t>
                      </a:r>
                      <a:endParaRPr lang="zh-CN" altLang="en-US" dirty="0">
                        <a:latin typeface="Arial Unicode MS" pitchFamily="34" charset="-122"/>
                        <a:ea typeface="Arial Unicode MS" pitchFamily="34" charset="-122"/>
                        <a:cs typeface="Arial Unicode MS" pitchFamily="3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b="0" i="0" kern="1200" dirty="0">
                          <a:solidFill>
                            <a:schemeClr val="dk1"/>
                          </a:solidFill>
                          <a:latin typeface="Arial Unicode MS" pitchFamily="34" charset="-122"/>
                          <a:ea typeface="Arial Unicode MS" pitchFamily="34" charset="-122"/>
                          <a:cs typeface="Arial Unicode MS" pitchFamily="34" charset="-122"/>
                        </a:rPr>
                        <a:t>评论数量，评论星级，近期评论的频率，评论的质量</a:t>
                      </a:r>
                      <a:r>
                        <a:rPr lang="zh-CN" altLang="en-US" sz="1800" b="0" i="0" kern="1200" baseline="0" dirty="0">
                          <a:solidFill>
                            <a:schemeClr val="dk1"/>
                          </a:solidFill>
                          <a:latin typeface="Arial Unicode MS" pitchFamily="34" charset="-122"/>
                          <a:ea typeface="Arial Unicode MS" pitchFamily="34" charset="-122"/>
                          <a:cs typeface="Arial Unicode MS" pitchFamily="34" charset="-122"/>
                        </a:rPr>
                        <a:t> 越好，排名正影响越大；</a:t>
                      </a:r>
                      <a:endParaRPr lang="zh-CN" altLang="en-US" dirty="0">
                        <a:latin typeface="Arial Unicode MS" pitchFamily="34" charset="-122"/>
                        <a:ea typeface="Arial Unicode MS" pitchFamily="34" charset="-122"/>
                        <a:cs typeface="Arial Unicode MS" pitchFamily="34" charset="-122"/>
                      </a:endParaRPr>
                    </a:p>
                  </a:txBody>
                  <a:tcPr/>
                </a:tc>
                <a:extLst>
                  <a:ext uri="{0D108BD9-81ED-4DB2-BD59-A6C34878D82A}">
                    <a16:rowId xmlns:a16="http://schemas.microsoft.com/office/drawing/2014/main" val="10002"/>
                  </a:ext>
                </a:extLst>
              </a:tr>
              <a:tr h="370840">
                <a:tc>
                  <a:txBody>
                    <a:bodyPr/>
                    <a:lstStyle/>
                    <a:p>
                      <a:pPr algn="ctr"/>
                      <a:r>
                        <a:rPr lang="en-US" altLang="zh-CN" dirty="0">
                          <a:latin typeface="Arial Unicode MS" pitchFamily="34" charset="-122"/>
                          <a:ea typeface="Arial Unicode MS" pitchFamily="34" charset="-122"/>
                          <a:cs typeface="Arial Unicode MS" pitchFamily="34" charset="-122"/>
                        </a:rPr>
                        <a:t>3</a:t>
                      </a:r>
                      <a:endParaRPr lang="zh-CN" altLang="en-US" dirty="0">
                        <a:latin typeface="Arial Unicode MS" pitchFamily="34" charset="-122"/>
                        <a:ea typeface="Arial Unicode MS" pitchFamily="34" charset="-122"/>
                        <a:cs typeface="Arial Unicode MS" pitchFamily="34" charset="-122"/>
                      </a:endParaRPr>
                    </a:p>
                  </a:txBody>
                  <a:tcPr/>
                </a:tc>
                <a:tc>
                  <a:txBody>
                    <a:bodyPr/>
                    <a:lstStyle/>
                    <a:p>
                      <a:pPr algn="ctr"/>
                      <a:r>
                        <a:rPr lang="en-US" sz="1800" b="0" i="0" kern="1200" dirty="0">
                          <a:solidFill>
                            <a:schemeClr val="dk1"/>
                          </a:solidFill>
                          <a:latin typeface="Arial Unicode MS" pitchFamily="34" charset="-122"/>
                          <a:ea typeface="Arial Unicode MS" pitchFamily="34" charset="-122"/>
                          <a:cs typeface="Arial Unicode MS" pitchFamily="34" charset="-122"/>
                        </a:rPr>
                        <a:t>Answered</a:t>
                      </a:r>
                      <a:r>
                        <a:rPr lang="en-US" sz="1800" b="0" i="0" kern="1200" baseline="0" dirty="0">
                          <a:solidFill>
                            <a:schemeClr val="dk1"/>
                          </a:solidFill>
                          <a:latin typeface="Arial Unicode MS" pitchFamily="34" charset="-122"/>
                          <a:ea typeface="Arial Unicode MS" pitchFamily="34" charset="-122"/>
                          <a:cs typeface="Arial Unicode MS" pitchFamily="34" charset="-122"/>
                        </a:rPr>
                        <a:t> </a:t>
                      </a:r>
                      <a:r>
                        <a:rPr lang="en-US" sz="1800" b="0" i="0" kern="1200" dirty="0">
                          <a:solidFill>
                            <a:schemeClr val="dk1"/>
                          </a:solidFill>
                          <a:latin typeface="Arial Unicode MS" pitchFamily="34" charset="-122"/>
                          <a:ea typeface="Arial Unicode MS" pitchFamily="34" charset="-122"/>
                          <a:cs typeface="Arial Unicode MS" pitchFamily="34" charset="-122"/>
                        </a:rPr>
                        <a:t>questions</a:t>
                      </a:r>
                      <a:endParaRPr lang="zh-CN" altLang="en-US" dirty="0">
                        <a:latin typeface="Arial Unicode MS" pitchFamily="34" charset="-122"/>
                        <a:ea typeface="Arial Unicode MS" pitchFamily="34" charset="-122"/>
                        <a:cs typeface="Arial Unicode MS" pitchFamily="34" charset="-122"/>
                      </a:endParaRPr>
                    </a:p>
                  </a:txBody>
                  <a:tcPr/>
                </a:tc>
                <a:tc>
                  <a:txBody>
                    <a:bodyPr/>
                    <a:lstStyle/>
                    <a:p>
                      <a:r>
                        <a:rPr lang="en-US" altLang="zh-CN" sz="1800" b="0" i="0" kern="1200" baseline="0" dirty="0">
                          <a:solidFill>
                            <a:schemeClr val="dk1"/>
                          </a:solidFill>
                          <a:latin typeface="Arial Unicode MS" pitchFamily="34" charset="-122"/>
                          <a:ea typeface="Arial Unicode MS" pitchFamily="34" charset="-122"/>
                          <a:cs typeface="Arial Unicode MS" pitchFamily="34" charset="-122"/>
                        </a:rPr>
                        <a:t> </a:t>
                      </a:r>
                      <a:r>
                        <a:rPr lang="en-US" altLang="zh-CN" sz="1800" b="0" i="0" kern="1200" dirty="0">
                          <a:solidFill>
                            <a:schemeClr val="dk1"/>
                          </a:solidFill>
                          <a:latin typeface="Arial Unicode MS" pitchFamily="34" charset="-122"/>
                          <a:ea typeface="Arial Unicode MS" pitchFamily="34" charset="-122"/>
                          <a:cs typeface="Arial Unicode MS" pitchFamily="34" charset="-122"/>
                        </a:rPr>
                        <a:t>listing</a:t>
                      </a:r>
                      <a:r>
                        <a:rPr lang="zh-CN" altLang="en-US" sz="1800" b="0" i="0" kern="1200" dirty="0">
                          <a:solidFill>
                            <a:schemeClr val="dk1"/>
                          </a:solidFill>
                          <a:latin typeface="Arial Unicode MS" pitchFamily="34" charset="-122"/>
                          <a:ea typeface="Arial Unicode MS" pitchFamily="34" charset="-122"/>
                          <a:cs typeface="Arial Unicode MS" pitchFamily="34" charset="-122"/>
                        </a:rPr>
                        <a:t>顶端，直接影响转化率，间接影响</a:t>
                      </a:r>
                      <a:r>
                        <a:rPr lang="en-US" altLang="zh-CN" sz="1800" b="0" i="0" kern="1200" dirty="0">
                          <a:solidFill>
                            <a:schemeClr val="dk1"/>
                          </a:solidFill>
                          <a:latin typeface="Arial Unicode MS" pitchFamily="34" charset="-122"/>
                          <a:ea typeface="Arial Unicode MS" pitchFamily="34" charset="-122"/>
                          <a:cs typeface="Arial Unicode MS" pitchFamily="34" charset="-122"/>
                        </a:rPr>
                        <a:t>Best</a:t>
                      </a:r>
                      <a:r>
                        <a:rPr lang="en-US" altLang="zh-CN" sz="1800" b="0" i="0" kern="1200" baseline="0" dirty="0">
                          <a:solidFill>
                            <a:schemeClr val="dk1"/>
                          </a:solidFill>
                          <a:latin typeface="Arial Unicode MS" pitchFamily="34" charset="-122"/>
                          <a:ea typeface="Arial Unicode MS" pitchFamily="34" charset="-122"/>
                          <a:cs typeface="Arial Unicode MS" pitchFamily="34" charset="-122"/>
                        </a:rPr>
                        <a:t> Seller;</a:t>
                      </a:r>
                      <a:endParaRPr lang="zh-CN" altLang="en-US" dirty="0">
                        <a:latin typeface="Arial Unicode MS" pitchFamily="34" charset="-122"/>
                        <a:ea typeface="Arial Unicode MS" pitchFamily="34" charset="-122"/>
                        <a:cs typeface="Arial Unicode MS" pitchFamily="34" charset="-122"/>
                      </a:endParaRPr>
                    </a:p>
                  </a:txBody>
                  <a:tcPr/>
                </a:tc>
                <a:extLst>
                  <a:ext uri="{0D108BD9-81ED-4DB2-BD59-A6C34878D82A}">
                    <a16:rowId xmlns:a16="http://schemas.microsoft.com/office/drawing/2014/main" val="10003"/>
                  </a:ext>
                </a:extLst>
              </a:tr>
              <a:tr h="370840">
                <a:tc>
                  <a:txBody>
                    <a:bodyPr/>
                    <a:lstStyle/>
                    <a:p>
                      <a:pPr algn="ctr"/>
                      <a:r>
                        <a:rPr lang="en-US" altLang="zh-CN" dirty="0">
                          <a:latin typeface="Arial Unicode MS" pitchFamily="34" charset="-122"/>
                          <a:ea typeface="Arial Unicode MS" pitchFamily="34" charset="-122"/>
                          <a:cs typeface="Arial Unicode MS" pitchFamily="34" charset="-122"/>
                        </a:rPr>
                        <a:t>4</a:t>
                      </a:r>
                      <a:endParaRPr lang="zh-CN" altLang="en-US" dirty="0">
                        <a:latin typeface="Arial Unicode MS" pitchFamily="34" charset="-122"/>
                        <a:ea typeface="Arial Unicode MS" pitchFamily="34" charset="-122"/>
                        <a:cs typeface="Arial Unicode MS" pitchFamily="34" charset="-122"/>
                      </a:endParaRPr>
                    </a:p>
                  </a:txBody>
                  <a:tcPr/>
                </a:tc>
                <a:tc>
                  <a:txBody>
                    <a:bodyPr/>
                    <a:lstStyle/>
                    <a:p>
                      <a:pPr algn="ctr"/>
                      <a:r>
                        <a:rPr lang="en-US" altLang="zh-CN" dirty="0">
                          <a:latin typeface="Arial Unicode MS" pitchFamily="34" charset="-122"/>
                          <a:ea typeface="Arial Unicode MS" pitchFamily="34" charset="-122"/>
                          <a:cs typeface="Arial Unicode MS" pitchFamily="34" charset="-122"/>
                        </a:rPr>
                        <a:t>Image</a:t>
                      </a:r>
                      <a:endParaRPr lang="zh-CN" altLang="en-US" dirty="0">
                        <a:latin typeface="Arial Unicode MS" pitchFamily="34" charset="-122"/>
                        <a:ea typeface="Arial Unicode MS" pitchFamily="34" charset="-122"/>
                        <a:cs typeface="Arial Unicode MS" pitchFamily="34" charset="-122"/>
                      </a:endParaRPr>
                    </a:p>
                  </a:txBody>
                  <a:tcPr/>
                </a:tc>
                <a:tc>
                  <a:txBody>
                    <a:bodyPr/>
                    <a:lstStyle/>
                    <a:p>
                      <a:r>
                        <a:rPr lang="zh-CN" altLang="en-US" dirty="0">
                          <a:latin typeface="Arial Unicode MS" pitchFamily="34" charset="-122"/>
                          <a:ea typeface="Arial Unicode MS" pitchFamily="34" charset="-122"/>
                          <a:cs typeface="Arial Unicode MS" pitchFamily="34" charset="-122"/>
                        </a:rPr>
                        <a:t>图片的尺寸和质量直接决定着</a:t>
                      </a:r>
                      <a:r>
                        <a:rPr lang="en-US" altLang="zh-CN" dirty="0">
                          <a:latin typeface="Arial Unicode MS" pitchFamily="34" charset="-122"/>
                          <a:ea typeface="Arial Unicode MS" pitchFamily="34" charset="-122"/>
                          <a:cs typeface="Arial Unicode MS" pitchFamily="34" charset="-122"/>
                        </a:rPr>
                        <a:t>listing</a:t>
                      </a:r>
                      <a:r>
                        <a:rPr lang="zh-CN" altLang="en-US" dirty="0">
                          <a:latin typeface="Arial Unicode MS" pitchFamily="34" charset="-122"/>
                          <a:ea typeface="Arial Unicode MS" pitchFamily="34" charset="-122"/>
                          <a:cs typeface="Arial Unicode MS" pitchFamily="34" charset="-122"/>
                        </a:rPr>
                        <a:t>的质量；</a:t>
                      </a:r>
                    </a:p>
                  </a:txBody>
                  <a:tcPr/>
                </a:tc>
                <a:extLst>
                  <a:ext uri="{0D108BD9-81ED-4DB2-BD59-A6C34878D82A}">
                    <a16:rowId xmlns:a16="http://schemas.microsoft.com/office/drawing/2014/main" val="10004"/>
                  </a:ext>
                </a:extLst>
              </a:tr>
              <a:tr h="370840">
                <a:tc>
                  <a:txBody>
                    <a:bodyPr/>
                    <a:lstStyle/>
                    <a:p>
                      <a:pPr algn="ctr"/>
                      <a:r>
                        <a:rPr lang="en-US" altLang="zh-CN" dirty="0">
                          <a:latin typeface="Arial Unicode MS" pitchFamily="34" charset="-122"/>
                          <a:ea typeface="Arial Unicode MS" pitchFamily="34" charset="-122"/>
                          <a:cs typeface="Arial Unicode MS" pitchFamily="34" charset="-122"/>
                        </a:rPr>
                        <a:t>5</a:t>
                      </a:r>
                      <a:endParaRPr lang="zh-CN" altLang="en-US" dirty="0">
                        <a:latin typeface="Arial Unicode MS" pitchFamily="34" charset="-122"/>
                        <a:ea typeface="Arial Unicode MS" pitchFamily="34" charset="-122"/>
                        <a:cs typeface="Arial Unicode MS" pitchFamily="34" charset="-122"/>
                      </a:endParaRPr>
                    </a:p>
                  </a:txBody>
                  <a:tcPr/>
                </a:tc>
                <a:tc>
                  <a:txBody>
                    <a:bodyPr/>
                    <a:lstStyle/>
                    <a:p>
                      <a:pPr algn="ctr"/>
                      <a:r>
                        <a:rPr lang="en-US" altLang="zh-CN" dirty="0">
                          <a:latin typeface="Arial Unicode MS" pitchFamily="34" charset="-122"/>
                          <a:ea typeface="Arial Unicode MS" pitchFamily="34" charset="-122"/>
                          <a:cs typeface="Arial Unicode MS" pitchFamily="34" charset="-122"/>
                        </a:rPr>
                        <a:t>Page/session time</a:t>
                      </a:r>
                      <a:r>
                        <a:rPr lang="en-US" altLang="zh-CN" baseline="0" dirty="0">
                          <a:latin typeface="Arial Unicode MS" pitchFamily="34" charset="-122"/>
                          <a:ea typeface="Arial Unicode MS" pitchFamily="34" charset="-122"/>
                          <a:cs typeface="Arial Unicode MS" pitchFamily="34" charset="-122"/>
                        </a:rPr>
                        <a:t> </a:t>
                      </a:r>
                    </a:p>
                    <a:p>
                      <a:pPr algn="ctr"/>
                      <a:r>
                        <a:rPr lang="en-US" altLang="zh-CN" baseline="0" dirty="0">
                          <a:latin typeface="Arial Unicode MS" pitchFamily="34" charset="-122"/>
                          <a:ea typeface="Arial Unicode MS" pitchFamily="34" charset="-122"/>
                          <a:cs typeface="Arial Unicode MS" pitchFamily="34" charset="-122"/>
                        </a:rPr>
                        <a:t> Bounce Rate</a:t>
                      </a:r>
                      <a:endParaRPr lang="zh-CN" altLang="en-US" dirty="0">
                        <a:latin typeface="Arial Unicode MS" pitchFamily="34" charset="-122"/>
                        <a:ea typeface="Arial Unicode MS" pitchFamily="34" charset="-122"/>
                        <a:cs typeface="Arial Unicode MS" pitchFamily="34" charset="-122"/>
                      </a:endParaRPr>
                    </a:p>
                  </a:txBody>
                  <a:tcPr/>
                </a:tc>
                <a:tc>
                  <a:txBody>
                    <a:bodyPr/>
                    <a:lstStyle/>
                    <a:p>
                      <a:r>
                        <a:rPr lang="zh-CN" altLang="en-US" baseline="0" dirty="0">
                          <a:latin typeface="Arial Unicode MS" pitchFamily="34" charset="-122"/>
                          <a:ea typeface="Arial Unicode MS" pitchFamily="34" charset="-122"/>
                          <a:cs typeface="Arial Unicode MS" pitchFamily="34" charset="-122"/>
                        </a:rPr>
                        <a:t>页面停留时间时间越长、跳出率越低，对排名正影响越大；</a:t>
                      </a:r>
                      <a:endParaRPr lang="zh-CN" altLang="en-US" dirty="0">
                        <a:latin typeface="Arial Unicode MS" pitchFamily="34" charset="-122"/>
                        <a:ea typeface="Arial Unicode MS" pitchFamily="34" charset="-122"/>
                        <a:cs typeface="Arial Unicode MS" pitchFamily="34" charset="-122"/>
                      </a:endParaRPr>
                    </a:p>
                  </a:txBody>
                  <a:tcPr/>
                </a:tc>
                <a:extLst>
                  <a:ext uri="{0D108BD9-81ED-4DB2-BD59-A6C34878D82A}">
                    <a16:rowId xmlns:a16="http://schemas.microsoft.com/office/drawing/2014/main" val="10005"/>
                  </a:ext>
                </a:extLst>
              </a:tr>
              <a:tr h="370840">
                <a:tc>
                  <a:txBody>
                    <a:bodyPr/>
                    <a:lstStyle/>
                    <a:p>
                      <a:pPr algn="ctr"/>
                      <a:r>
                        <a:rPr lang="en-US" altLang="zh-CN" dirty="0">
                          <a:latin typeface="Arial Unicode MS" pitchFamily="34" charset="-122"/>
                          <a:ea typeface="Arial Unicode MS" pitchFamily="34" charset="-122"/>
                          <a:cs typeface="Arial Unicode MS" pitchFamily="34" charset="-122"/>
                        </a:rPr>
                        <a:t>6</a:t>
                      </a:r>
                      <a:endParaRPr lang="zh-CN" altLang="en-US" dirty="0">
                        <a:latin typeface="Arial Unicode MS" pitchFamily="34" charset="-122"/>
                        <a:ea typeface="Arial Unicode MS" pitchFamily="34" charset="-122"/>
                        <a:cs typeface="Arial Unicode MS" pitchFamily="34" charset="-122"/>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Arial Unicode MS" pitchFamily="34" charset="-122"/>
                          <a:ea typeface="Arial Unicode MS" pitchFamily="34" charset="-122"/>
                          <a:cs typeface="Arial Unicode MS" pitchFamily="34" charset="-122"/>
                        </a:rPr>
                        <a:t>Listing</a:t>
                      </a:r>
                      <a:r>
                        <a:rPr lang="zh-CN" altLang="en-US" dirty="0">
                          <a:latin typeface="Arial Unicode MS" pitchFamily="34" charset="-122"/>
                          <a:ea typeface="Arial Unicode MS" pitchFamily="34" charset="-122"/>
                          <a:cs typeface="Arial Unicode MS" pitchFamily="34" charset="-122"/>
                        </a:rPr>
                        <a:t>完整性</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aseline="0" dirty="0">
                          <a:latin typeface="Arial Unicode MS" pitchFamily="34" charset="-122"/>
                          <a:ea typeface="Arial Unicode MS" pitchFamily="34" charset="-122"/>
                          <a:cs typeface="Arial Unicode MS" pitchFamily="34" charset="-122"/>
                        </a:rPr>
                        <a:t>创建</a:t>
                      </a:r>
                      <a:r>
                        <a:rPr lang="en-US" altLang="zh-CN" baseline="0" dirty="0">
                          <a:latin typeface="Arial Unicode MS" pitchFamily="34" charset="-122"/>
                          <a:ea typeface="Arial Unicode MS" pitchFamily="34" charset="-122"/>
                          <a:cs typeface="Arial Unicode MS" pitchFamily="34" charset="-122"/>
                        </a:rPr>
                        <a:t>Listing</a:t>
                      </a:r>
                      <a:r>
                        <a:rPr lang="zh-CN" altLang="en-US" baseline="0" dirty="0">
                          <a:latin typeface="Arial Unicode MS" pitchFamily="34" charset="-122"/>
                          <a:ea typeface="Arial Unicode MS" pitchFamily="34" charset="-122"/>
                          <a:cs typeface="Arial Unicode MS" pitchFamily="34" charset="-122"/>
                        </a:rPr>
                        <a:t>的时候，属性填写的越完整，</a:t>
                      </a:r>
                      <a:r>
                        <a:rPr lang="en-US" altLang="zh-CN" baseline="0" dirty="0">
                          <a:latin typeface="Arial Unicode MS" pitchFamily="34" charset="-122"/>
                          <a:ea typeface="Arial Unicode MS" pitchFamily="34" charset="-122"/>
                          <a:cs typeface="Arial Unicode MS" pitchFamily="34" charset="-122"/>
                        </a:rPr>
                        <a:t>Listing</a:t>
                      </a:r>
                      <a:r>
                        <a:rPr lang="zh-CN" altLang="en-US" baseline="0" dirty="0">
                          <a:latin typeface="Arial Unicode MS" pitchFamily="34" charset="-122"/>
                          <a:ea typeface="Arial Unicode MS" pitchFamily="34" charset="-122"/>
                          <a:cs typeface="Arial Unicode MS" pitchFamily="34" charset="-122"/>
                        </a:rPr>
                        <a:t>的完整性越全面；</a:t>
                      </a:r>
                      <a:endParaRPr lang="zh-CN" altLang="en-US" dirty="0">
                        <a:latin typeface="Arial Unicode MS" pitchFamily="34" charset="-122"/>
                        <a:ea typeface="Arial Unicode MS" pitchFamily="34" charset="-122"/>
                        <a:cs typeface="Arial Unicode MS" pitchFamily="34" charset="-122"/>
                      </a:endParaRPr>
                    </a:p>
                  </a:txBody>
                  <a:tcPr/>
                </a:tc>
                <a:extLst>
                  <a:ext uri="{0D108BD9-81ED-4DB2-BD59-A6C34878D82A}">
                    <a16:rowId xmlns:a16="http://schemas.microsoft.com/office/drawing/2014/main" val="10006"/>
                  </a:ext>
                </a:extLst>
              </a:tr>
              <a:tr h="370840">
                <a:tc>
                  <a:txBody>
                    <a:bodyPr/>
                    <a:lstStyle/>
                    <a:p>
                      <a:pPr algn="ctr"/>
                      <a:r>
                        <a:rPr lang="en-US" altLang="zh-CN" dirty="0">
                          <a:latin typeface="Arial Unicode MS" pitchFamily="34" charset="-122"/>
                          <a:ea typeface="Arial Unicode MS" pitchFamily="34" charset="-122"/>
                          <a:cs typeface="Arial Unicode MS" pitchFamily="34" charset="-122"/>
                        </a:rPr>
                        <a:t>7</a:t>
                      </a:r>
                      <a:endParaRPr lang="zh-CN" altLang="en-US" dirty="0">
                        <a:latin typeface="Arial Unicode MS" pitchFamily="34" charset="-122"/>
                        <a:ea typeface="Arial Unicode MS" pitchFamily="34" charset="-122"/>
                        <a:cs typeface="Arial Unicode MS" pitchFamily="34" charset="-122"/>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kern="1200" dirty="0">
                          <a:solidFill>
                            <a:schemeClr val="dk1"/>
                          </a:solidFill>
                          <a:latin typeface="Arial Unicode MS" pitchFamily="34" charset="-122"/>
                          <a:ea typeface="Arial Unicode MS" pitchFamily="34" charset="-122"/>
                          <a:cs typeface="Arial Unicode MS" pitchFamily="34" charset="-122"/>
                        </a:rPr>
                        <a:t>Relevance </a:t>
                      </a:r>
                      <a:r>
                        <a:rPr lang="zh-CN" altLang="en-US" sz="1800" kern="1200" dirty="0">
                          <a:solidFill>
                            <a:schemeClr val="dk1"/>
                          </a:solidFill>
                          <a:latin typeface="Arial Unicode MS" pitchFamily="34" charset="-122"/>
                          <a:ea typeface="Arial Unicode MS" pitchFamily="34" charset="-122"/>
                          <a:cs typeface="Arial Unicode MS" pitchFamily="34" charset="-122"/>
                        </a:rPr>
                        <a:t> 相关性</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dk1"/>
                          </a:solidFill>
                          <a:latin typeface="Arial Unicode MS" pitchFamily="34" charset="-122"/>
                          <a:ea typeface="Arial Unicode MS" pitchFamily="34" charset="-122"/>
                          <a:cs typeface="Arial Unicode MS" pitchFamily="34" charset="-122"/>
                        </a:rPr>
                        <a:t>产品特征</a:t>
                      </a:r>
                      <a:r>
                        <a:rPr lang="en-US" altLang="en-US" sz="1800" kern="1200" dirty="0">
                          <a:solidFill>
                            <a:schemeClr val="dk1"/>
                          </a:solidFill>
                          <a:latin typeface="Arial Unicode MS" pitchFamily="34" charset="-122"/>
                          <a:ea typeface="Arial Unicode MS" pitchFamily="34" charset="-122"/>
                          <a:cs typeface="Arial Unicode MS" pitchFamily="34" charset="-122"/>
                        </a:rPr>
                        <a:t>Bullet Points</a:t>
                      </a:r>
                      <a:r>
                        <a:rPr lang="zh-CN" altLang="en-US" sz="1800" kern="1200" dirty="0">
                          <a:solidFill>
                            <a:schemeClr val="dk1"/>
                          </a:solidFill>
                          <a:latin typeface="Arial Unicode MS" pitchFamily="34" charset="-122"/>
                          <a:ea typeface="Arial Unicode MS" pitchFamily="34" charset="-122"/>
                          <a:cs typeface="Arial Unicode MS" pitchFamily="34" charset="-122"/>
                        </a:rPr>
                        <a:t>完整性</a:t>
                      </a:r>
                      <a:r>
                        <a:rPr lang="en-US" altLang="zh-CN" sz="1800" kern="1200" dirty="0">
                          <a:solidFill>
                            <a:schemeClr val="dk1"/>
                          </a:solidFill>
                          <a:latin typeface="Arial Unicode MS" pitchFamily="34" charset="-122"/>
                          <a:ea typeface="Arial Unicode MS" pitchFamily="34" charset="-122"/>
                          <a:cs typeface="Arial Unicode MS" pitchFamily="34" charset="-122"/>
                        </a:rPr>
                        <a:t>+</a:t>
                      </a:r>
                      <a:r>
                        <a:rPr lang="zh-CN" altLang="en-US" sz="1800" kern="1200" dirty="0">
                          <a:solidFill>
                            <a:schemeClr val="dk1"/>
                          </a:solidFill>
                          <a:latin typeface="Arial Unicode MS" pitchFamily="34" charset="-122"/>
                          <a:ea typeface="Arial Unicode MS" pitchFamily="34" charset="-122"/>
                          <a:cs typeface="Arial Unicode MS" pitchFamily="34" charset="-122"/>
                        </a:rPr>
                        <a:t>产品描述</a:t>
                      </a:r>
                      <a:r>
                        <a:rPr lang="en-US" altLang="en-US" sz="1800" kern="1200" dirty="0">
                          <a:solidFill>
                            <a:schemeClr val="dk1"/>
                          </a:solidFill>
                          <a:latin typeface="Arial Unicode MS" pitchFamily="34" charset="-122"/>
                          <a:ea typeface="Arial Unicode MS" pitchFamily="34" charset="-122"/>
                          <a:cs typeface="Arial Unicode MS" pitchFamily="34" charset="-122"/>
                        </a:rPr>
                        <a:t>Product Description</a:t>
                      </a:r>
                      <a:r>
                        <a:rPr lang="zh-CN" altLang="en-US" sz="1800" kern="1200" dirty="0">
                          <a:solidFill>
                            <a:schemeClr val="dk1"/>
                          </a:solidFill>
                          <a:latin typeface="Arial Unicode MS" pitchFamily="34" charset="-122"/>
                          <a:ea typeface="Arial Unicode MS" pitchFamily="34" charset="-122"/>
                          <a:cs typeface="Arial Unicode MS" pitchFamily="34" charset="-122"/>
                        </a:rPr>
                        <a:t>丰富性</a:t>
                      </a:r>
                    </a:p>
                  </a:txBody>
                  <a:tcPr/>
                </a:tc>
                <a:extLst>
                  <a:ext uri="{0D108BD9-81ED-4DB2-BD59-A6C34878D82A}">
                    <a16:rowId xmlns:a16="http://schemas.microsoft.com/office/drawing/2014/main" val="10007"/>
                  </a:ext>
                </a:extLst>
              </a:tr>
              <a:tr h="370840">
                <a:tc>
                  <a:txBody>
                    <a:bodyPr/>
                    <a:lstStyle/>
                    <a:p>
                      <a:pPr algn="ctr"/>
                      <a:r>
                        <a:rPr lang="en-US" altLang="zh-CN" dirty="0">
                          <a:latin typeface="Arial Unicode MS" pitchFamily="34" charset="-122"/>
                          <a:ea typeface="Arial Unicode MS" pitchFamily="34" charset="-122"/>
                          <a:cs typeface="Arial Unicode MS" pitchFamily="34" charset="-122"/>
                        </a:rPr>
                        <a:t>8</a:t>
                      </a:r>
                      <a:endParaRPr lang="zh-CN" altLang="en-US" dirty="0">
                        <a:latin typeface="Arial Unicode MS" pitchFamily="34" charset="-122"/>
                        <a:ea typeface="Arial Unicode MS" pitchFamily="34" charset="-122"/>
                        <a:cs typeface="Arial Unicode MS" pitchFamily="34" charset="-122"/>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dk1"/>
                          </a:solidFill>
                          <a:latin typeface="Arial Unicode MS" pitchFamily="34" charset="-122"/>
                          <a:ea typeface="Arial Unicode MS" pitchFamily="34" charset="-122"/>
                          <a:cs typeface="Arial Unicode MS" pitchFamily="34" charset="-122"/>
                        </a:rPr>
                        <a:t>订单处理速度</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dk1"/>
                          </a:solidFill>
                          <a:latin typeface="Arial Unicode MS" pitchFamily="34" charset="-122"/>
                          <a:ea typeface="Arial Unicode MS" pitchFamily="34" charset="-122"/>
                          <a:cs typeface="Arial Unicode MS" pitchFamily="34" charset="-122"/>
                        </a:rPr>
                        <a:t>处理订单的高效快速会对排名有正影响；</a:t>
                      </a:r>
                    </a:p>
                  </a:txBody>
                  <a:tcPr/>
                </a:tc>
                <a:extLst>
                  <a:ext uri="{0D108BD9-81ED-4DB2-BD59-A6C34878D82A}">
                    <a16:rowId xmlns:a16="http://schemas.microsoft.com/office/drawing/2014/main" val="10008"/>
                  </a:ext>
                </a:extLst>
              </a:tr>
              <a:tr h="370840">
                <a:tc>
                  <a:txBody>
                    <a:bodyPr/>
                    <a:lstStyle/>
                    <a:p>
                      <a:pPr algn="ctr"/>
                      <a:r>
                        <a:rPr lang="en-US" altLang="zh-CN" dirty="0">
                          <a:latin typeface="Arial Unicode MS" pitchFamily="34" charset="-122"/>
                          <a:ea typeface="Arial Unicode MS" pitchFamily="34" charset="-122"/>
                          <a:cs typeface="Arial Unicode MS" pitchFamily="34" charset="-122"/>
                        </a:rPr>
                        <a:t>9</a:t>
                      </a:r>
                      <a:endParaRPr lang="zh-CN" altLang="en-US" dirty="0">
                        <a:latin typeface="Arial Unicode MS" pitchFamily="34" charset="-122"/>
                        <a:ea typeface="Arial Unicode MS" pitchFamily="34" charset="-122"/>
                        <a:cs typeface="Arial Unicode MS" pitchFamily="34" charset="-122"/>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dk1"/>
                          </a:solidFill>
                          <a:latin typeface="Arial Unicode MS" pitchFamily="34" charset="-122"/>
                          <a:ea typeface="Arial Unicode MS" pitchFamily="34" charset="-122"/>
                          <a:cs typeface="Arial Unicode MS" pitchFamily="34" charset="-122"/>
                        </a:rPr>
                        <a:t>可售库存</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b="0" i="0" kern="1200" dirty="0">
                          <a:solidFill>
                            <a:schemeClr val="dk1"/>
                          </a:solidFill>
                          <a:latin typeface="Arial Unicode MS" pitchFamily="34" charset="-122"/>
                          <a:ea typeface="Arial Unicode MS" pitchFamily="34" charset="-122"/>
                          <a:cs typeface="Arial Unicode MS" pitchFamily="34" charset="-122"/>
                        </a:rPr>
                        <a:t>较低的可售库存可能会有更高的退款率和取消率，从而影响产品的排名；</a:t>
                      </a:r>
                      <a:endParaRPr lang="zh-CN" altLang="en-US" sz="1800" kern="1200" dirty="0">
                        <a:solidFill>
                          <a:schemeClr val="dk1"/>
                        </a:solidFill>
                        <a:latin typeface="Arial Unicode MS" pitchFamily="34" charset="-122"/>
                        <a:ea typeface="Arial Unicode MS" pitchFamily="34" charset="-122"/>
                        <a:cs typeface="Arial Unicode MS" pitchFamily="34" charset="-122"/>
                      </a:endParaRPr>
                    </a:p>
                  </a:txBody>
                  <a:tcPr/>
                </a:tc>
                <a:extLst>
                  <a:ext uri="{0D108BD9-81ED-4DB2-BD59-A6C34878D82A}">
                    <a16:rowId xmlns:a16="http://schemas.microsoft.com/office/drawing/2014/main" val="10009"/>
                  </a:ext>
                </a:extLst>
              </a:tr>
              <a:tr h="370840">
                <a:tc>
                  <a:txBody>
                    <a:bodyPr/>
                    <a:lstStyle/>
                    <a:p>
                      <a:pPr algn="ctr"/>
                      <a:r>
                        <a:rPr lang="en-US" altLang="zh-CN" dirty="0">
                          <a:latin typeface="Arial Unicode MS" pitchFamily="34" charset="-122"/>
                          <a:ea typeface="Arial Unicode MS" pitchFamily="34" charset="-122"/>
                          <a:cs typeface="Arial Unicode MS" pitchFamily="34" charset="-122"/>
                        </a:rPr>
                        <a:t>10</a:t>
                      </a:r>
                      <a:endParaRPr lang="zh-CN" altLang="en-US" dirty="0">
                        <a:latin typeface="Arial Unicode MS" pitchFamily="34" charset="-122"/>
                        <a:ea typeface="Arial Unicode MS" pitchFamily="34" charset="-122"/>
                        <a:cs typeface="Arial Unicode MS" pitchFamily="34" charset="-122"/>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dk1"/>
                          </a:solidFill>
                          <a:latin typeface="Arial Unicode MS" pitchFamily="34" charset="-122"/>
                          <a:ea typeface="Arial Unicode MS" pitchFamily="34" charset="-122"/>
                          <a:cs typeface="Arial Unicode MS" pitchFamily="34" charset="-122"/>
                        </a:rPr>
                        <a:t>完美订单率</a:t>
                      </a:r>
                      <a:r>
                        <a:rPr lang="en-US" altLang="zh-CN" sz="1800" kern="1200" dirty="0">
                          <a:solidFill>
                            <a:schemeClr val="dk1"/>
                          </a:solidFill>
                          <a:latin typeface="Arial Unicode MS" pitchFamily="34" charset="-122"/>
                          <a:ea typeface="Arial Unicode MS" pitchFamily="34" charset="-122"/>
                          <a:cs typeface="Arial Unicode MS" pitchFamily="34" charset="-122"/>
                        </a:rPr>
                        <a:t>POP</a:t>
                      </a:r>
                      <a:endParaRPr lang="zh-CN" altLang="en-US" sz="1800" kern="1200" dirty="0">
                        <a:solidFill>
                          <a:schemeClr val="dk1"/>
                        </a:solidFill>
                        <a:latin typeface="Arial Unicode MS" pitchFamily="34" charset="-122"/>
                        <a:ea typeface="Arial Unicode MS" pitchFamily="34" charset="-122"/>
                        <a:cs typeface="Arial Unicode MS" pitchFamily="3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b="0" i="0" kern="1200" dirty="0">
                          <a:solidFill>
                            <a:schemeClr val="dk1"/>
                          </a:solidFill>
                          <a:latin typeface="Arial Unicode MS" pitchFamily="34" charset="-122"/>
                          <a:ea typeface="Arial Unicode MS" pitchFamily="34" charset="-122"/>
                          <a:cs typeface="Arial Unicode MS" pitchFamily="34" charset="-122"/>
                        </a:rPr>
                        <a:t>衡量有多少订单完美得处理完，从买家点击“</a:t>
                      </a:r>
                      <a:r>
                        <a:rPr lang="en-US" altLang="zh-CN" sz="1800" b="0" i="0" kern="1200" dirty="0">
                          <a:solidFill>
                            <a:schemeClr val="dk1"/>
                          </a:solidFill>
                          <a:latin typeface="Arial Unicode MS" pitchFamily="34" charset="-122"/>
                          <a:ea typeface="Arial Unicode MS" pitchFamily="34" charset="-122"/>
                          <a:cs typeface="Arial Unicode MS" pitchFamily="34" charset="-122"/>
                        </a:rPr>
                        <a:t>Add to Cart”</a:t>
                      </a:r>
                      <a:r>
                        <a:rPr lang="zh-CN" altLang="en-US" sz="1800" b="0" i="0" kern="1200" dirty="0">
                          <a:solidFill>
                            <a:schemeClr val="dk1"/>
                          </a:solidFill>
                          <a:latin typeface="Arial Unicode MS" pitchFamily="34" charset="-122"/>
                          <a:ea typeface="Arial Unicode MS" pitchFamily="34" charset="-122"/>
                          <a:cs typeface="Arial Unicode MS" pitchFamily="34" charset="-122"/>
                        </a:rPr>
                        <a:t>到产品到买家手中；</a:t>
                      </a:r>
                      <a:endParaRPr lang="zh-CN" altLang="en-US" sz="1800" kern="1200" dirty="0">
                        <a:solidFill>
                          <a:schemeClr val="dk1"/>
                        </a:solidFill>
                        <a:latin typeface="Arial Unicode MS" pitchFamily="34" charset="-122"/>
                        <a:ea typeface="Arial Unicode MS" pitchFamily="34" charset="-122"/>
                        <a:cs typeface="Arial Unicode MS" pitchFamily="34" charset="-122"/>
                      </a:endParaRPr>
                    </a:p>
                  </a:txBody>
                  <a:tcPr/>
                </a:tc>
                <a:extLst>
                  <a:ext uri="{0D108BD9-81ED-4DB2-BD59-A6C34878D82A}">
                    <a16:rowId xmlns:a16="http://schemas.microsoft.com/office/drawing/2014/main" val="10010"/>
                  </a:ext>
                </a:extLst>
              </a:tr>
              <a:tr h="370840">
                <a:tc>
                  <a:txBody>
                    <a:bodyPr/>
                    <a:lstStyle/>
                    <a:p>
                      <a:pPr algn="ctr"/>
                      <a:r>
                        <a:rPr lang="en-US" altLang="zh-CN" dirty="0">
                          <a:latin typeface="Arial Unicode MS" pitchFamily="34" charset="-122"/>
                          <a:ea typeface="Arial Unicode MS" pitchFamily="34" charset="-122"/>
                          <a:cs typeface="Arial Unicode MS" pitchFamily="34" charset="-122"/>
                        </a:rPr>
                        <a:t>11</a:t>
                      </a:r>
                      <a:endParaRPr lang="zh-CN" altLang="en-US" dirty="0">
                        <a:latin typeface="Arial Unicode MS" pitchFamily="34" charset="-122"/>
                        <a:ea typeface="Arial Unicode MS" pitchFamily="34" charset="-122"/>
                        <a:cs typeface="Arial Unicode MS" pitchFamily="34" charset="-122"/>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kern="1200" dirty="0">
                          <a:solidFill>
                            <a:schemeClr val="dk1"/>
                          </a:solidFill>
                          <a:latin typeface="Arial Unicode MS" pitchFamily="34" charset="-122"/>
                          <a:ea typeface="Arial Unicode MS" pitchFamily="34" charset="-122"/>
                          <a:cs typeface="Arial Unicode MS" pitchFamily="34" charset="-122"/>
                        </a:rPr>
                        <a:t>订单缺陷率</a:t>
                      </a:r>
                      <a:r>
                        <a:rPr lang="en-US" altLang="zh-CN" sz="1800" kern="1200" dirty="0">
                          <a:solidFill>
                            <a:schemeClr val="dk1"/>
                          </a:solidFill>
                          <a:latin typeface="Arial Unicode MS" pitchFamily="34" charset="-122"/>
                          <a:ea typeface="Arial Unicode MS" pitchFamily="34" charset="-122"/>
                          <a:cs typeface="Arial Unicode MS" pitchFamily="34" charset="-122"/>
                        </a:rPr>
                        <a:t>ODR</a:t>
                      </a:r>
                      <a:endParaRPr lang="zh-CN" altLang="en-US" sz="1800" kern="1200" dirty="0">
                        <a:solidFill>
                          <a:schemeClr val="dk1"/>
                        </a:solidFill>
                        <a:latin typeface="Arial Unicode MS" pitchFamily="34" charset="-122"/>
                        <a:ea typeface="Arial Unicode MS" pitchFamily="34" charset="-122"/>
                        <a:cs typeface="Arial Unicode MS" pitchFamily="3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kern="1200" baseline="0" dirty="0">
                          <a:solidFill>
                            <a:schemeClr val="dk1"/>
                          </a:solidFill>
                          <a:latin typeface="Arial Unicode MS" pitchFamily="34" charset="-122"/>
                          <a:ea typeface="Arial Unicode MS" pitchFamily="34" charset="-122"/>
                          <a:cs typeface="Arial Unicode MS" pitchFamily="34" charset="-122"/>
                        </a:rPr>
                        <a:t>缺陷订单的比例（买家差评</a:t>
                      </a:r>
                      <a:r>
                        <a:rPr lang="en-US" altLang="zh-CN" sz="1800" kern="1200" baseline="0" dirty="0">
                          <a:solidFill>
                            <a:schemeClr val="dk1"/>
                          </a:solidFill>
                          <a:latin typeface="Arial Unicode MS" pitchFamily="34" charset="-122"/>
                          <a:ea typeface="Arial Unicode MS" pitchFamily="34" charset="-122"/>
                          <a:cs typeface="Arial Unicode MS" pitchFamily="34" charset="-122"/>
                        </a:rPr>
                        <a:t>/A-to-Z</a:t>
                      </a:r>
                      <a:r>
                        <a:rPr lang="zh-CN" altLang="en-US" sz="1800" kern="1200" baseline="0" dirty="0">
                          <a:solidFill>
                            <a:schemeClr val="dk1"/>
                          </a:solidFill>
                          <a:latin typeface="Arial Unicode MS" pitchFamily="34" charset="-122"/>
                          <a:ea typeface="Arial Unicode MS" pitchFamily="34" charset="-122"/>
                          <a:cs typeface="Arial Unicode MS" pitchFamily="34" charset="-122"/>
                        </a:rPr>
                        <a:t>争议</a:t>
                      </a:r>
                      <a:r>
                        <a:rPr lang="en-US" altLang="zh-CN" sz="1800" kern="1200" baseline="0" dirty="0">
                          <a:solidFill>
                            <a:schemeClr val="dk1"/>
                          </a:solidFill>
                          <a:latin typeface="Arial Unicode MS" pitchFamily="34" charset="-122"/>
                          <a:ea typeface="Arial Unicode MS" pitchFamily="34" charset="-122"/>
                          <a:cs typeface="Arial Unicode MS" pitchFamily="34" charset="-122"/>
                        </a:rPr>
                        <a:t>/</a:t>
                      </a:r>
                      <a:r>
                        <a:rPr lang="zh-CN" altLang="en-US" sz="1800" kern="1200" baseline="0" dirty="0">
                          <a:solidFill>
                            <a:schemeClr val="dk1"/>
                          </a:solidFill>
                          <a:latin typeface="Arial Unicode MS" pitchFamily="34" charset="-122"/>
                          <a:ea typeface="Arial Unicode MS" pitchFamily="34" charset="-122"/>
                          <a:cs typeface="Arial Unicode MS" pitchFamily="34" charset="-122"/>
                        </a:rPr>
                        <a:t>任何运输问题</a:t>
                      </a:r>
                      <a:r>
                        <a:rPr lang="en-US" altLang="zh-CN" sz="1800" kern="1200" baseline="0" dirty="0">
                          <a:solidFill>
                            <a:schemeClr val="dk1"/>
                          </a:solidFill>
                          <a:latin typeface="Arial Unicode MS" pitchFamily="34" charset="-122"/>
                          <a:ea typeface="Arial Unicode MS" pitchFamily="34" charset="-122"/>
                          <a:cs typeface="Arial Unicode MS" pitchFamily="34" charset="-122"/>
                        </a:rPr>
                        <a:t>/</a:t>
                      </a:r>
                      <a:r>
                        <a:rPr lang="zh-CN" altLang="en-US" sz="1800" kern="1200" baseline="0" dirty="0">
                          <a:solidFill>
                            <a:schemeClr val="dk1"/>
                          </a:solidFill>
                          <a:latin typeface="Arial Unicode MS" pitchFamily="34" charset="-122"/>
                          <a:ea typeface="Arial Unicode MS" pitchFamily="34" charset="-122"/>
                          <a:cs typeface="Arial Unicode MS" pitchFamily="34" charset="-122"/>
                        </a:rPr>
                        <a:t>信用卡拒付）</a:t>
                      </a:r>
                      <a:endParaRPr lang="zh-CN" altLang="en-US" sz="1800" kern="1200" dirty="0">
                        <a:solidFill>
                          <a:schemeClr val="dk1"/>
                        </a:solidFill>
                        <a:latin typeface="Arial Unicode MS" pitchFamily="34" charset="-122"/>
                        <a:ea typeface="Arial Unicode MS" pitchFamily="34" charset="-122"/>
                        <a:cs typeface="Arial Unicode MS" pitchFamily="34" charset="-122"/>
                      </a:endParaRPr>
                    </a:p>
                  </a:txBody>
                  <a:tcPr/>
                </a:tc>
                <a:extLst>
                  <a:ext uri="{0D108BD9-81ED-4DB2-BD59-A6C34878D82A}">
                    <a16:rowId xmlns:a16="http://schemas.microsoft.com/office/drawing/2014/main" val="10011"/>
                  </a:ext>
                </a:extLst>
              </a:tr>
            </a:tbl>
          </a:graphicData>
        </a:graphic>
      </p:graphicFrame>
      <p:sp>
        <p:nvSpPr>
          <p:cNvPr id="7" name="TextBox 6"/>
          <p:cNvSpPr txBox="1"/>
          <p:nvPr/>
        </p:nvSpPr>
        <p:spPr>
          <a:xfrm>
            <a:off x="3667109" y="642918"/>
            <a:ext cx="5224507" cy="523220"/>
          </a:xfrm>
          <a:prstGeom prst="rect">
            <a:avLst/>
          </a:prstGeom>
          <a:noFill/>
        </p:spPr>
        <p:txBody>
          <a:bodyPr wrap="none" rtlCol="0">
            <a:spAutoFit/>
          </a:bodyPr>
          <a:lstStyle/>
          <a:p>
            <a:r>
              <a:rPr lang="en-US" sz="2800" b="1" dirty="0">
                <a:solidFill>
                  <a:srgbClr val="0070C0"/>
                </a:solidFill>
                <a:latin typeface="Arial Unicode MS" pitchFamily="34" charset="-122"/>
                <a:ea typeface="Arial Unicode MS" pitchFamily="34" charset="-122"/>
                <a:cs typeface="Arial Unicode MS" pitchFamily="34" charset="-122"/>
              </a:rPr>
              <a:t>Factors Influencing the Ranking</a:t>
            </a:r>
            <a:endParaRPr lang="zh-CN" altLang="en-US" sz="2800" b="1" dirty="0">
              <a:solidFill>
                <a:srgbClr val="0070C0"/>
              </a:solidFill>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4115080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
        <p:nvSpPr>
          <p:cNvPr id="3" name="矩形 2"/>
          <p:cNvSpPr/>
          <p:nvPr/>
        </p:nvSpPr>
        <p:spPr>
          <a:xfrm>
            <a:off x="2595538" y="2000240"/>
            <a:ext cx="1714512" cy="2428892"/>
          </a:xfrm>
          <a:prstGeom prst="rect">
            <a:avLst/>
          </a:prstGeom>
          <a:solidFill>
            <a:schemeClr val="accent6">
              <a:lumMod val="75000"/>
            </a:schemeClr>
          </a:solidFill>
          <a:ln>
            <a:solidFill>
              <a:schemeClr val="accent6">
                <a:lumMod val="75000"/>
              </a:schemeClr>
            </a:solid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类目搜索流量</a:t>
            </a:r>
          </a:p>
        </p:txBody>
      </p:sp>
      <p:cxnSp>
        <p:nvCxnSpPr>
          <p:cNvPr id="6" name="直接箭头连接符 5"/>
          <p:cNvCxnSpPr/>
          <p:nvPr/>
        </p:nvCxnSpPr>
        <p:spPr>
          <a:xfrm>
            <a:off x="4452926" y="3214686"/>
            <a:ext cx="2643206" cy="1588"/>
          </a:xfrm>
          <a:prstGeom prst="straightConnector1">
            <a:avLst/>
          </a:prstGeom>
          <a:ln w="38100">
            <a:solidFill>
              <a:schemeClr val="accent6">
                <a:lumMod val="75000"/>
              </a:schemeClr>
            </a:solidFill>
            <a:tailEnd type="arrow"/>
          </a:ln>
          <a:effectLst>
            <a:reflection blurRad="6350" stA="52000" endA="300" endPos="3500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7310446" y="2714620"/>
            <a:ext cx="3000396" cy="857256"/>
          </a:xfrm>
          <a:prstGeom prst="rect">
            <a:avLst/>
          </a:prstGeom>
          <a:solidFill>
            <a:schemeClr val="accent6">
              <a:lumMod val="75000"/>
            </a:schemeClr>
          </a:solidFill>
          <a:ln>
            <a:solidFill>
              <a:schemeClr val="accent6">
                <a:lumMod val="75000"/>
              </a:schemeClr>
            </a:solid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TextBox 8"/>
          <p:cNvSpPr txBox="1"/>
          <p:nvPr/>
        </p:nvSpPr>
        <p:spPr>
          <a:xfrm>
            <a:off x="7453323" y="3000372"/>
            <a:ext cx="2723823" cy="369332"/>
          </a:xfrm>
          <a:prstGeom prst="rect">
            <a:avLst/>
          </a:prstGeom>
          <a:noFill/>
        </p:spPr>
        <p:txBody>
          <a:bodyPr wrap="none" rtlCol="0">
            <a:spAutoFit/>
          </a:bodyPr>
          <a:lstStyle/>
          <a:p>
            <a:r>
              <a:rPr lang="zh-CN" altLang="en-US" b="1" dirty="0">
                <a:solidFill>
                  <a:schemeClr val="bg1"/>
                </a:solidFill>
              </a:rPr>
              <a:t>标题、类目提交的相关性</a:t>
            </a:r>
          </a:p>
        </p:txBody>
      </p:sp>
    </p:spTree>
    <p:extLst>
      <p:ext uri="{BB962C8B-B14F-4D97-AF65-F5344CB8AC3E}">
        <p14:creationId xmlns:p14="http://schemas.microsoft.com/office/powerpoint/2010/main" val="3123818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
        <p:nvSpPr>
          <p:cNvPr id="3" name="椭圆 2"/>
          <p:cNvSpPr/>
          <p:nvPr/>
        </p:nvSpPr>
        <p:spPr>
          <a:xfrm>
            <a:off x="309522" y="2428868"/>
            <a:ext cx="2000264" cy="1357322"/>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站内运营</a:t>
            </a:r>
          </a:p>
        </p:txBody>
      </p:sp>
      <p:pic>
        <p:nvPicPr>
          <p:cNvPr id="1026" name="Picture 2"/>
          <p:cNvPicPr>
            <a:picLocks noChangeAspect="1" noChangeArrowheads="1"/>
          </p:cNvPicPr>
          <p:nvPr/>
        </p:nvPicPr>
        <p:blipFill>
          <a:blip r:embed="rId2"/>
          <a:srcRect/>
          <a:stretch>
            <a:fillRect/>
          </a:stretch>
        </p:blipFill>
        <p:spPr bwMode="auto">
          <a:xfrm>
            <a:off x="2809852" y="571480"/>
            <a:ext cx="7858180" cy="2776564"/>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2738414" y="3133726"/>
            <a:ext cx="2228850" cy="3724275"/>
          </a:xfrm>
          <a:prstGeom prst="rect">
            <a:avLst/>
          </a:prstGeom>
          <a:noFill/>
          <a:ln w="9525">
            <a:noFill/>
            <a:miter lim="800000"/>
            <a:headEnd/>
            <a:tailEnd/>
          </a:ln>
          <a:effectLst/>
        </p:spPr>
      </p:pic>
      <p:pic>
        <p:nvPicPr>
          <p:cNvPr id="16386" name="Picture 2" descr="Amazon Lightening Deals 新界面，秒杀更容易！ - BQool比酷尔 - 亞马逊销售秘籍-提升好评抢黄金购物车"/>
          <p:cNvPicPr>
            <a:picLocks noChangeAspect="1" noChangeArrowheads="1"/>
          </p:cNvPicPr>
          <p:nvPr/>
        </p:nvPicPr>
        <p:blipFill>
          <a:blip r:embed="rId4"/>
          <a:srcRect/>
          <a:stretch>
            <a:fillRect/>
          </a:stretch>
        </p:blipFill>
        <p:spPr bwMode="auto">
          <a:xfrm>
            <a:off x="5953125" y="3143248"/>
            <a:ext cx="6049185" cy="3000396"/>
          </a:xfrm>
          <a:prstGeom prst="rect">
            <a:avLst/>
          </a:prstGeom>
          <a:noFill/>
        </p:spPr>
      </p:pic>
    </p:spTree>
    <p:extLst>
      <p:ext uri="{BB962C8B-B14F-4D97-AF65-F5344CB8AC3E}">
        <p14:creationId xmlns:p14="http://schemas.microsoft.com/office/powerpoint/2010/main" val="2052600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yj4dfcucm3mswcd2nbkkg14m-wpengine.netdna-ssl.com/wp-content/uploads/2016/01/organic-and-sponsored-ads-homepage.png"/>
          <p:cNvPicPr>
            <a:picLocks noChangeAspect="1" noChangeArrowheads="1"/>
          </p:cNvPicPr>
          <p:nvPr/>
        </p:nvPicPr>
        <p:blipFill>
          <a:blip r:embed="rId3"/>
          <a:srcRect/>
          <a:stretch>
            <a:fillRect/>
          </a:stretch>
        </p:blipFill>
        <p:spPr bwMode="auto">
          <a:xfrm>
            <a:off x="1095340" y="1500174"/>
            <a:ext cx="10072758" cy="5072098"/>
          </a:xfrm>
          <a:prstGeom prst="rect">
            <a:avLst/>
          </a:prstGeom>
          <a:noFill/>
        </p:spPr>
      </p:pic>
      <p:sp>
        <p:nvSpPr>
          <p:cNvPr id="5"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
        <p:nvSpPr>
          <p:cNvPr id="6" name="TextBox 5"/>
          <p:cNvSpPr txBox="1"/>
          <p:nvPr/>
        </p:nvSpPr>
        <p:spPr>
          <a:xfrm>
            <a:off x="3381357" y="714356"/>
            <a:ext cx="5617243" cy="523220"/>
          </a:xfrm>
          <a:prstGeom prst="rect">
            <a:avLst/>
          </a:prstGeom>
          <a:noFill/>
        </p:spPr>
        <p:txBody>
          <a:bodyPr wrap="none" rtlCol="0">
            <a:spAutoFit/>
          </a:bodyPr>
          <a:lstStyle/>
          <a:p>
            <a:r>
              <a:rPr lang="en-US" altLang="zh-CN" sz="2800" b="1" dirty="0">
                <a:solidFill>
                  <a:srgbClr val="0070C0"/>
                </a:solidFill>
              </a:rPr>
              <a:t>Amazon Sponsored Products Ads</a:t>
            </a:r>
            <a:endParaRPr lang="zh-CN" altLang="en-US" sz="2800" b="1" dirty="0">
              <a:solidFill>
                <a:srgbClr val="0070C0"/>
              </a:solidFill>
            </a:endParaRPr>
          </a:p>
        </p:txBody>
      </p:sp>
    </p:spTree>
    <p:extLst>
      <p:ext uri="{BB962C8B-B14F-4D97-AF65-F5344CB8AC3E}">
        <p14:creationId xmlns:p14="http://schemas.microsoft.com/office/powerpoint/2010/main" val="2026405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
        <p:nvSpPr>
          <p:cNvPr id="4" name="TextBox 3"/>
          <p:cNvSpPr txBox="1"/>
          <p:nvPr/>
        </p:nvSpPr>
        <p:spPr>
          <a:xfrm>
            <a:off x="3381357" y="714356"/>
            <a:ext cx="5617243" cy="523220"/>
          </a:xfrm>
          <a:prstGeom prst="rect">
            <a:avLst/>
          </a:prstGeom>
          <a:noFill/>
        </p:spPr>
        <p:txBody>
          <a:bodyPr wrap="none" rtlCol="0">
            <a:spAutoFit/>
          </a:bodyPr>
          <a:lstStyle/>
          <a:p>
            <a:r>
              <a:rPr lang="en-US" altLang="zh-CN" sz="2800" b="1" dirty="0">
                <a:solidFill>
                  <a:srgbClr val="0070C0"/>
                </a:solidFill>
              </a:rPr>
              <a:t>Amazon Sponsored Products Ads</a:t>
            </a:r>
            <a:endParaRPr lang="zh-CN" altLang="en-US" sz="2800" b="1" dirty="0">
              <a:solidFill>
                <a:srgbClr val="0070C0"/>
              </a:solidFill>
            </a:endParaRPr>
          </a:p>
        </p:txBody>
      </p:sp>
      <p:pic>
        <p:nvPicPr>
          <p:cNvPr id="2051" name="Picture 3"/>
          <p:cNvPicPr>
            <a:picLocks noChangeAspect="1" noChangeArrowheads="1"/>
          </p:cNvPicPr>
          <p:nvPr/>
        </p:nvPicPr>
        <p:blipFill>
          <a:blip r:embed="rId2"/>
          <a:srcRect/>
          <a:stretch>
            <a:fillRect/>
          </a:stretch>
        </p:blipFill>
        <p:spPr bwMode="auto">
          <a:xfrm>
            <a:off x="238084" y="1714488"/>
            <a:ext cx="11667370" cy="2643206"/>
          </a:xfrm>
          <a:prstGeom prst="rect">
            <a:avLst/>
          </a:prstGeom>
          <a:noFill/>
          <a:ln w="9525">
            <a:noFill/>
            <a:miter lim="800000"/>
            <a:headEnd/>
            <a:tailEnd/>
          </a:ln>
          <a:effectLst/>
        </p:spPr>
      </p:pic>
      <p:sp>
        <p:nvSpPr>
          <p:cNvPr id="6" name="菱形 5"/>
          <p:cNvSpPr/>
          <p:nvPr/>
        </p:nvSpPr>
        <p:spPr>
          <a:xfrm>
            <a:off x="2952728" y="4643446"/>
            <a:ext cx="1643074" cy="1714512"/>
          </a:xfrm>
          <a:prstGeom prst="diamond">
            <a:avLst/>
          </a:prstGeom>
          <a:solidFill>
            <a:schemeClr val="accent6">
              <a:lumMod val="75000"/>
            </a:schemeClr>
          </a:solidFill>
          <a:ln>
            <a:solidFill>
              <a:schemeClr val="accent6">
                <a:lumMod val="75000"/>
              </a:schemeClr>
            </a:solidFill>
          </a:ln>
          <a:effectLst>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展示位置</a:t>
            </a:r>
          </a:p>
        </p:txBody>
      </p:sp>
      <p:sp>
        <p:nvSpPr>
          <p:cNvPr id="7" name="左大括号 6"/>
          <p:cNvSpPr/>
          <p:nvPr/>
        </p:nvSpPr>
        <p:spPr>
          <a:xfrm>
            <a:off x="4667240" y="4500570"/>
            <a:ext cx="714380" cy="1785950"/>
          </a:xfrm>
          <a:prstGeom prst="leftBrac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TextBox 7"/>
          <p:cNvSpPr txBox="1"/>
          <p:nvPr/>
        </p:nvSpPr>
        <p:spPr>
          <a:xfrm>
            <a:off x="5453058" y="4429132"/>
            <a:ext cx="3313728" cy="369332"/>
          </a:xfrm>
          <a:prstGeom prst="rect">
            <a:avLst/>
          </a:prstGeom>
          <a:noFill/>
        </p:spPr>
        <p:txBody>
          <a:bodyPr wrap="none" rtlCol="0">
            <a:spAutoFit/>
          </a:bodyPr>
          <a:lstStyle/>
          <a:p>
            <a:r>
              <a:rPr lang="en-US" altLang="zh-CN" b="1" dirty="0">
                <a:solidFill>
                  <a:srgbClr val="0070C0"/>
                </a:solidFill>
                <a:latin typeface="Arial Unicode MS" pitchFamily="34" charset="-122"/>
                <a:ea typeface="Arial Unicode MS" pitchFamily="34" charset="-122"/>
                <a:cs typeface="Arial Unicode MS" pitchFamily="34" charset="-122"/>
              </a:rPr>
              <a:t>1</a:t>
            </a:r>
            <a:r>
              <a:rPr lang="zh-CN" altLang="en-US" b="1" dirty="0">
                <a:solidFill>
                  <a:srgbClr val="0070C0"/>
                </a:solidFill>
                <a:latin typeface="Arial Unicode MS" pitchFamily="34" charset="-122"/>
                <a:ea typeface="Arial Unicode MS" pitchFamily="34" charset="-122"/>
                <a:cs typeface="Arial Unicode MS" pitchFamily="34" charset="-122"/>
              </a:rPr>
              <a:t>、站内搜索结果页的第一排；</a:t>
            </a:r>
          </a:p>
        </p:txBody>
      </p:sp>
      <p:sp>
        <p:nvSpPr>
          <p:cNvPr id="9" name="TextBox 8"/>
          <p:cNvSpPr txBox="1"/>
          <p:nvPr/>
        </p:nvSpPr>
        <p:spPr>
          <a:xfrm>
            <a:off x="5453058" y="5214950"/>
            <a:ext cx="3533340" cy="369332"/>
          </a:xfrm>
          <a:prstGeom prst="rect">
            <a:avLst/>
          </a:prstGeom>
          <a:noFill/>
        </p:spPr>
        <p:txBody>
          <a:bodyPr wrap="none" rtlCol="0">
            <a:spAutoFit/>
          </a:bodyPr>
          <a:lstStyle/>
          <a:p>
            <a:r>
              <a:rPr lang="en-US" altLang="zh-CN" b="1" dirty="0">
                <a:solidFill>
                  <a:srgbClr val="0070C0"/>
                </a:solidFill>
                <a:latin typeface="Arial Unicode MS" pitchFamily="34" charset="-122"/>
                <a:ea typeface="Arial Unicode MS" pitchFamily="34" charset="-122"/>
                <a:cs typeface="Arial Unicode MS" pitchFamily="34" charset="-122"/>
              </a:rPr>
              <a:t>2</a:t>
            </a:r>
            <a:r>
              <a:rPr lang="zh-CN" altLang="en-US" b="1" dirty="0">
                <a:solidFill>
                  <a:srgbClr val="0070C0"/>
                </a:solidFill>
                <a:latin typeface="Arial Unicode MS" pitchFamily="34" charset="-122"/>
                <a:ea typeface="Arial Unicode MS" pitchFamily="34" charset="-122"/>
                <a:cs typeface="Arial Unicode MS" pitchFamily="34" charset="-122"/>
              </a:rPr>
              <a:t>、站内搜索结果页右边测边栏；</a:t>
            </a:r>
          </a:p>
        </p:txBody>
      </p:sp>
      <p:sp>
        <p:nvSpPr>
          <p:cNvPr id="10" name="TextBox 9"/>
          <p:cNvSpPr txBox="1"/>
          <p:nvPr/>
        </p:nvSpPr>
        <p:spPr>
          <a:xfrm>
            <a:off x="5453058" y="6072206"/>
            <a:ext cx="2595582" cy="369332"/>
          </a:xfrm>
          <a:prstGeom prst="rect">
            <a:avLst/>
          </a:prstGeom>
          <a:noFill/>
        </p:spPr>
        <p:txBody>
          <a:bodyPr wrap="none" rtlCol="0">
            <a:spAutoFit/>
          </a:bodyPr>
          <a:lstStyle/>
          <a:p>
            <a:r>
              <a:rPr lang="en-US" altLang="zh-CN" b="1" dirty="0">
                <a:solidFill>
                  <a:srgbClr val="0070C0"/>
                </a:solidFill>
                <a:latin typeface="Arial Unicode MS" pitchFamily="34" charset="-122"/>
                <a:ea typeface="Arial Unicode MS" pitchFamily="34" charset="-122"/>
                <a:cs typeface="Arial Unicode MS" pitchFamily="34" charset="-122"/>
              </a:rPr>
              <a:t>3</a:t>
            </a:r>
            <a:r>
              <a:rPr lang="zh-CN" altLang="en-US" b="1" dirty="0">
                <a:solidFill>
                  <a:srgbClr val="0070C0"/>
                </a:solidFill>
                <a:latin typeface="Arial Unicode MS" pitchFamily="34" charset="-122"/>
                <a:ea typeface="Arial Unicode MS" pitchFamily="34" charset="-122"/>
                <a:cs typeface="Arial Unicode MS" pitchFamily="34" charset="-122"/>
              </a:rPr>
              <a:t>、</a:t>
            </a:r>
            <a:r>
              <a:rPr lang="en-US" altLang="zh-CN" b="1" dirty="0">
                <a:solidFill>
                  <a:srgbClr val="0070C0"/>
                </a:solidFill>
                <a:latin typeface="Arial Unicode MS" pitchFamily="34" charset="-122"/>
                <a:ea typeface="Arial Unicode MS" pitchFamily="34" charset="-122"/>
                <a:cs typeface="Arial Unicode MS" pitchFamily="34" charset="-122"/>
              </a:rPr>
              <a:t>Listing</a:t>
            </a:r>
            <a:r>
              <a:rPr lang="zh-CN" altLang="en-US" b="1" dirty="0">
                <a:solidFill>
                  <a:srgbClr val="0070C0"/>
                </a:solidFill>
                <a:latin typeface="Arial Unicode MS" pitchFamily="34" charset="-122"/>
                <a:ea typeface="Arial Unicode MS" pitchFamily="34" charset="-122"/>
                <a:cs typeface="Arial Unicode MS" pitchFamily="34" charset="-122"/>
              </a:rPr>
              <a:t>页面的下方；</a:t>
            </a:r>
          </a:p>
        </p:txBody>
      </p:sp>
    </p:spTree>
    <p:extLst>
      <p:ext uri="{BB962C8B-B14F-4D97-AF65-F5344CB8AC3E}">
        <p14:creationId xmlns:p14="http://schemas.microsoft.com/office/powerpoint/2010/main" val="1806475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
        <p:nvSpPr>
          <p:cNvPr id="3" name="TextBox 2"/>
          <p:cNvSpPr txBox="1"/>
          <p:nvPr/>
        </p:nvSpPr>
        <p:spPr>
          <a:xfrm>
            <a:off x="3381357" y="642918"/>
            <a:ext cx="5617243" cy="523220"/>
          </a:xfrm>
          <a:prstGeom prst="rect">
            <a:avLst/>
          </a:prstGeom>
          <a:noFill/>
        </p:spPr>
        <p:txBody>
          <a:bodyPr wrap="none" rtlCol="0">
            <a:spAutoFit/>
          </a:bodyPr>
          <a:lstStyle/>
          <a:p>
            <a:r>
              <a:rPr lang="en-US" altLang="zh-CN" sz="2800" b="1" dirty="0">
                <a:solidFill>
                  <a:srgbClr val="0070C0"/>
                </a:solidFill>
              </a:rPr>
              <a:t>Amazon Sponsored Products Ads</a:t>
            </a:r>
            <a:endParaRPr lang="zh-CN" altLang="en-US" sz="2800" b="1" dirty="0">
              <a:solidFill>
                <a:srgbClr val="0070C0"/>
              </a:solidFill>
            </a:endParaRPr>
          </a:p>
        </p:txBody>
      </p:sp>
      <p:pic>
        <p:nvPicPr>
          <p:cNvPr id="4098" name="Picture 2"/>
          <p:cNvPicPr>
            <a:picLocks noChangeAspect="1" noChangeArrowheads="1"/>
          </p:cNvPicPr>
          <p:nvPr/>
        </p:nvPicPr>
        <p:blipFill>
          <a:blip r:embed="rId2"/>
          <a:srcRect/>
          <a:stretch>
            <a:fillRect/>
          </a:stretch>
        </p:blipFill>
        <p:spPr bwMode="auto">
          <a:xfrm>
            <a:off x="452399" y="1571613"/>
            <a:ext cx="11403013" cy="3324225"/>
          </a:xfrm>
          <a:prstGeom prst="rect">
            <a:avLst/>
          </a:prstGeom>
          <a:noFill/>
          <a:ln w="9525">
            <a:noFill/>
            <a:miter lim="800000"/>
            <a:headEnd/>
            <a:tailEnd/>
          </a:ln>
          <a:effectLst/>
        </p:spPr>
      </p:pic>
      <p:sp>
        <p:nvSpPr>
          <p:cNvPr id="6" name="TextBox 5"/>
          <p:cNvSpPr txBox="1"/>
          <p:nvPr/>
        </p:nvSpPr>
        <p:spPr>
          <a:xfrm>
            <a:off x="595274" y="5357828"/>
            <a:ext cx="10644262" cy="1200329"/>
          </a:xfrm>
          <a:prstGeom prst="rect">
            <a:avLst/>
          </a:prstGeom>
          <a:noFill/>
        </p:spPr>
        <p:txBody>
          <a:bodyPr wrap="square" rtlCol="0">
            <a:spAutoFit/>
          </a:bodyPr>
          <a:lstStyle/>
          <a:p>
            <a:r>
              <a:rPr lang="en-US" altLang="zh-CN" b="1" dirty="0">
                <a:solidFill>
                  <a:srgbClr val="0070C0"/>
                </a:solidFill>
                <a:latin typeface="Arial Unicode MS" pitchFamily="34" charset="-122"/>
                <a:ea typeface="Arial Unicode MS" pitchFamily="34" charset="-122"/>
                <a:cs typeface="Arial Unicode MS" pitchFamily="34" charset="-122"/>
              </a:rPr>
              <a:t>1</a:t>
            </a:r>
            <a:r>
              <a:rPr lang="zh-CN" altLang="en-US" b="1" dirty="0">
                <a:solidFill>
                  <a:srgbClr val="0070C0"/>
                </a:solidFill>
                <a:latin typeface="Arial Unicode MS" pitchFamily="34" charset="-122"/>
                <a:ea typeface="Arial Unicode MS" pitchFamily="34" charset="-122"/>
                <a:cs typeface="Arial Unicode MS" pitchFamily="34" charset="-122"/>
              </a:rPr>
              <a:t>、建立广告系列；</a:t>
            </a:r>
            <a:endParaRPr lang="en-US" altLang="zh-CN" b="1" dirty="0">
              <a:solidFill>
                <a:srgbClr val="0070C0"/>
              </a:solidFill>
              <a:latin typeface="Arial Unicode MS" pitchFamily="34" charset="-122"/>
              <a:ea typeface="Arial Unicode MS" pitchFamily="34" charset="-122"/>
              <a:cs typeface="Arial Unicode MS" pitchFamily="34" charset="-122"/>
            </a:endParaRPr>
          </a:p>
          <a:p>
            <a:r>
              <a:rPr lang="en-US" altLang="zh-CN" b="1" dirty="0">
                <a:solidFill>
                  <a:srgbClr val="0070C0"/>
                </a:solidFill>
                <a:latin typeface="Arial Unicode MS" pitchFamily="34" charset="-122"/>
                <a:ea typeface="Arial Unicode MS" pitchFamily="34" charset="-122"/>
                <a:cs typeface="Arial Unicode MS" pitchFamily="34" charset="-122"/>
              </a:rPr>
              <a:t>2</a:t>
            </a:r>
            <a:r>
              <a:rPr lang="zh-CN" altLang="en-US" b="1" dirty="0">
                <a:solidFill>
                  <a:srgbClr val="0070C0"/>
                </a:solidFill>
                <a:latin typeface="Arial Unicode MS" pitchFamily="34" charset="-122"/>
                <a:ea typeface="Arial Unicode MS" pitchFamily="34" charset="-122"/>
                <a:cs typeface="Arial Unicode MS" pitchFamily="34" charset="-122"/>
              </a:rPr>
              <a:t>、选择广告系列</a:t>
            </a:r>
            <a:r>
              <a:rPr lang="en-US" altLang="zh-CN" b="1" dirty="0">
                <a:solidFill>
                  <a:srgbClr val="0070C0"/>
                </a:solidFill>
                <a:latin typeface="Arial Unicode MS" pitchFamily="34" charset="-122"/>
                <a:ea typeface="Arial Unicode MS" pitchFamily="34" charset="-122"/>
                <a:cs typeface="Arial Unicode MS" pitchFamily="34" charset="-122"/>
              </a:rPr>
              <a:t>Targeting</a:t>
            </a:r>
            <a:r>
              <a:rPr lang="zh-CN" altLang="en-US" b="1" dirty="0">
                <a:solidFill>
                  <a:srgbClr val="0070C0"/>
                </a:solidFill>
                <a:latin typeface="Arial Unicode MS" pitchFamily="34" charset="-122"/>
                <a:ea typeface="Arial Unicode MS" pitchFamily="34" charset="-122"/>
                <a:cs typeface="Arial Unicode MS" pitchFamily="34" charset="-122"/>
              </a:rPr>
              <a:t>方式：自动（系统自动匹配产品相关的关键字）</a:t>
            </a:r>
            <a:r>
              <a:rPr lang="en-US" altLang="zh-CN" b="1" dirty="0">
                <a:solidFill>
                  <a:srgbClr val="0070C0"/>
                </a:solidFill>
                <a:latin typeface="Arial Unicode MS" pitchFamily="34" charset="-122"/>
                <a:ea typeface="Arial Unicode MS" pitchFamily="34" charset="-122"/>
                <a:cs typeface="Arial Unicode MS" pitchFamily="34" charset="-122"/>
              </a:rPr>
              <a:t>or </a:t>
            </a:r>
            <a:r>
              <a:rPr lang="zh-CN" altLang="en-US" b="1" dirty="0">
                <a:solidFill>
                  <a:srgbClr val="0070C0"/>
                </a:solidFill>
                <a:latin typeface="Arial Unicode MS" pitchFamily="34" charset="-122"/>
                <a:ea typeface="Arial Unicode MS" pitchFamily="34" charset="-122"/>
                <a:cs typeface="Arial Unicode MS" pitchFamily="34" charset="-122"/>
              </a:rPr>
              <a:t>手动（手动添加关键字）；</a:t>
            </a:r>
            <a:endParaRPr lang="en-US" altLang="zh-CN" b="1" dirty="0">
              <a:solidFill>
                <a:srgbClr val="0070C0"/>
              </a:solidFill>
              <a:latin typeface="Arial Unicode MS" pitchFamily="34" charset="-122"/>
              <a:ea typeface="Arial Unicode MS" pitchFamily="34" charset="-122"/>
              <a:cs typeface="Arial Unicode MS" pitchFamily="34" charset="-122"/>
            </a:endParaRPr>
          </a:p>
          <a:p>
            <a:r>
              <a:rPr lang="en-US" altLang="zh-CN" b="1" dirty="0">
                <a:solidFill>
                  <a:srgbClr val="0070C0"/>
                </a:solidFill>
                <a:latin typeface="Arial Unicode MS" pitchFamily="34" charset="-122"/>
                <a:ea typeface="Arial Unicode MS" pitchFamily="34" charset="-122"/>
                <a:cs typeface="Arial Unicode MS" pitchFamily="34" charset="-122"/>
              </a:rPr>
              <a:t>3</a:t>
            </a:r>
            <a:r>
              <a:rPr lang="zh-CN" altLang="en-US" b="1" dirty="0">
                <a:solidFill>
                  <a:srgbClr val="0070C0"/>
                </a:solidFill>
                <a:latin typeface="Arial Unicode MS" pitchFamily="34" charset="-122"/>
                <a:ea typeface="Arial Unicode MS" pitchFamily="34" charset="-122"/>
                <a:cs typeface="Arial Unicode MS" pitchFamily="34" charset="-122"/>
              </a:rPr>
              <a:t>、设置广告组和关键字的出价；</a:t>
            </a:r>
            <a:endParaRPr lang="en-US" altLang="zh-CN" b="1" dirty="0">
              <a:solidFill>
                <a:srgbClr val="0070C0"/>
              </a:solidFill>
              <a:latin typeface="Arial Unicode MS" pitchFamily="34" charset="-122"/>
              <a:ea typeface="Arial Unicode MS" pitchFamily="34" charset="-122"/>
              <a:cs typeface="Arial Unicode MS" pitchFamily="34" charset="-122"/>
            </a:endParaRPr>
          </a:p>
          <a:p>
            <a:endParaRPr lang="en-US" altLang="zh-CN" dirty="0"/>
          </a:p>
        </p:txBody>
      </p:sp>
    </p:spTree>
    <p:extLst>
      <p:ext uri="{BB962C8B-B14F-4D97-AF65-F5344CB8AC3E}">
        <p14:creationId xmlns:p14="http://schemas.microsoft.com/office/powerpoint/2010/main" val="186947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
        <p:nvSpPr>
          <p:cNvPr id="4" name="TextBox 3"/>
          <p:cNvSpPr txBox="1"/>
          <p:nvPr/>
        </p:nvSpPr>
        <p:spPr>
          <a:xfrm>
            <a:off x="3381357" y="642918"/>
            <a:ext cx="5617243" cy="523220"/>
          </a:xfrm>
          <a:prstGeom prst="rect">
            <a:avLst/>
          </a:prstGeom>
          <a:noFill/>
        </p:spPr>
        <p:txBody>
          <a:bodyPr wrap="none" rtlCol="0">
            <a:spAutoFit/>
          </a:bodyPr>
          <a:lstStyle/>
          <a:p>
            <a:r>
              <a:rPr lang="en-US" altLang="zh-CN" sz="2800" b="1" dirty="0">
                <a:solidFill>
                  <a:srgbClr val="0070C0"/>
                </a:solidFill>
              </a:rPr>
              <a:t>Amazon Sponsored Products Ads</a:t>
            </a:r>
            <a:endParaRPr lang="zh-CN" altLang="en-US" sz="2800" b="1" dirty="0">
              <a:solidFill>
                <a:srgbClr val="0070C0"/>
              </a:solidFill>
            </a:endParaRPr>
          </a:p>
        </p:txBody>
      </p:sp>
      <p:pic>
        <p:nvPicPr>
          <p:cNvPr id="3075" name="Picture 3"/>
          <p:cNvPicPr>
            <a:picLocks noChangeAspect="1" noChangeArrowheads="1"/>
          </p:cNvPicPr>
          <p:nvPr/>
        </p:nvPicPr>
        <p:blipFill>
          <a:blip r:embed="rId2"/>
          <a:srcRect/>
          <a:stretch>
            <a:fillRect/>
          </a:stretch>
        </p:blipFill>
        <p:spPr bwMode="auto">
          <a:xfrm>
            <a:off x="523836" y="1357299"/>
            <a:ext cx="11303904" cy="4367211"/>
          </a:xfrm>
          <a:prstGeom prst="rect">
            <a:avLst/>
          </a:prstGeom>
          <a:noFill/>
          <a:ln w="9525">
            <a:noFill/>
            <a:miter lim="800000"/>
            <a:headEnd/>
            <a:tailEnd/>
          </a:ln>
          <a:effectLst/>
        </p:spPr>
      </p:pic>
    </p:spTree>
    <p:extLst>
      <p:ext uri="{BB962C8B-B14F-4D97-AF65-F5344CB8AC3E}">
        <p14:creationId xmlns:p14="http://schemas.microsoft.com/office/powerpoint/2010/main" val="615512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
        <p:nvSpPr>
          <p:cNvPr id="3" name="TextBox 2"/>
          <p:cNvSpPr txBox="1"/>
          <p:nvPr/>
        </p:nvSpPr>
        <p:spPr>
          <a:xfrm>
            <a:off x="3381357" y="642918"/>
            <a:ext cx="5617243" cy="523220"/>
          </a:xfrm>
          <a:prstGeom prst="rect">
            <a:avLst/>
          </a:prstGeom>
          <a:noFill/>
        </p:spPr>
        <p:txBody>
          <a:bodyPr wrap="none" rtlCol="0">
            <a:spAutoFit/>
          </a:bodyPr>
          <a:lstStyle/>
          <a:p>
            <a:r>
              <a:rPr lang="en-US" altLang="zh-CN" sz="2800" b="1" dirty="0">
                <a:solidFill>
                  <a:srgbClr val="0070C0"/>
                </a:solidFill>
              </a:rPr>
              <a:t>Amazon Sponsored Products Ads</a:t>
            </a:r>
            <a:endParaRPr lang="zh-CN" altLang="en-US" sz="2800" b="1" dirty="0">
              <a:solidFill>
                <a:srgbClr val="0070C0"/>
              </a:solidFill>
            </a:endParaRPr>
          </a:p>
        </p:txBody>
      </p:sp>
      <p:sp>
        <p:nvSpPr>
          <p:cNvPr id="4" name="七边形 3"/>
          <p:cNvSpPr/>
          <p:nvPr/>
        </p:nvSpPr>
        <p:spPr>
          <a:xfrm>
            <a:off x="166646" y="3000372"/>
            <a:ext cx="1214446" cy="1285884"/>
          </a:xfrm>
          <a:prstGeom prst="heptagon">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Factors</a:t>
            </a:r>
            <a:endParaRPr lang="zh-CN" altLang="en-US" dirty="0"/>
          </a:p>
        </p:txBody>
      </p:sp>
      <p:sp>
        <p:nvSpPr>
          <p:cNvPr id="6" name="TextBox 5"/>
          <p:cNvSpPr txBox="1"/>
          <p:nvPr/>
        </p:nvSpPr>
        <p:spPr>
          <a:xfrm>
            <a:off x="1952596" y="1714489"/>
            <a:ext cx="9644130" cy="1200329"/>
          </a:xfrm>
          <a:prstGeom prst="rect">
            <a:avLst/>
          </a:prstGeom>
          <a:noFill/>
        </p:spPr>
        <p:txBody>
          <a:bodyPr wrap="square" rtlCol="0">
            <a:spAutoFit/>
          </a:bodyPr>
          <a:lstStyle/>
          <a:p>
            <a:r>
              <a:rPr lang="en-US" altLang="zh-CN" b="1" dirty="0">
                <a:solidFill>
                  <a:srgbClr val="0070C0"/>
                </a:solidFill>
              </a:rPr>
              <a:t>1</a:t>
            </a:r>
            <a:r>
              <a:rPr lang="zh-CN" altLang="en-US" b="1" dirty="0">
                <a:solidFill>
                  <a:srgbClr val="0070C0"/>
                </a:solidFill>
              </a:rPr>
              <a:t>、出价（</a:t>
            </a:r>
            <a:r>
              <a:rPr lang="en-US" altLang="zh-CN" b="1" dirty="0">
                <a:solidFill>
                  <a:srgbClr val="0070C0"/>
                </a:solidFill>
              </a:rPr>
              <a:t>Bid</a:t>
            </a:r>
            <a:r>
              <a:rPr lang="zh-CN" altLang="en-US" b="1" dirty="0">
                <a:solidFill>
                  <a:srgbClr val="0070C0"/>
                </a:solidFill>
              </a:rPr>
              <a:t>）：</a:t>
            </a:r>
            <a:r>
              <a:rPr lang="en-US" altLang="zh-CN" b="1" dirty="0">
                <a:solidFill>
                  <a:srgbClr val="0070C0"/>
                </a:solidFill>
              </a:rPr>
              <a:t>CPC</a:t>
            </a:r>
            <a:r>
              <a:rPr lang="zh-CN" altLang="en-US" b="1" dirty="0">
                <a:solidFill>
                  <a:srgbClr val="0070C0"/>
                </a:solidFill>
              </a:rPr>
              <a:t>计价的费用最终是由第二名的出价</a:t>
            </a:r>
            <a:r>
              <a:rPr lang="en-US" altLang="zh-CN" b="1" dirty="0">
                <a:solidFill>
                  <a:srgbClr val="0070C0"/>
                </a:solidFill>
              </a:rPr>
              <a:t>+</a:t>
            </a:r>
            <a:r>
              <a:rPr lang="zh-CN" altLang="en-US" b="1" dirty="0">
                <a:solidFill>
                  <a:srgbClr val="0070C0"/>
                </a:solidFill>
              </a:rPr>
              <a:t>第一名与第二名之间差价的百分比</a:t>
            </a:r>
            <a:r>
              <a:rPr lang="en-US" altLang="zh-CN" b="1" dirty="0">
                <a:solidFill>
                  <a:srgbClr val="0070C0"/>
                </a:solidFill>
              </a:rPr>
              <a:t>+Listing</a:t>
            </a:r>
            <a:r>
              <a:rPr lang="zh-CN" altLang="en-US" b="1" dirty="0">
                <a:solidFill>
                  <a:srgbClr val="0070C0"/>
                </a:solidFill>
              </a:rPr>
              <a:t>的表现，综合得出；</a:t>
            </a:r>
            <a:endParaRPr lang="en-US" altLang="zh-CN" b="1" dirty="0">
              <a:solidFill>
                <a:srgbClr val="0070C0"/>
              </a:solidFill>
            </a:endParaRPr>
          </a:p>
          <a:p>
            <a:endParaRPr lang="en-US" altLang="zh-CN" b="1" dirty="0">
              <a:solidFill>
                <a:srgbClr val="FF0000"/>
              </a:solidFill>
            </a:endParaRPr>
          </a:p>
          <a:p>
            <a:r>
              <a:rPr lang="zh-CN" altLang="en-US" b="1" dirty="0">
                <a:solidFill>
                  <a:srgbClr val="FF0000"/>
                </a:solidFill>
              </a:rPr>
              <a:t>误区：出价越高，广告效果越好 </a:t>
            </a:r>
          </a:p>
        </p:txBody>
      </p:sp>
      <p:sp>
        <p:nvSpPr>
          <p:cNvPr id="7" name="TextBox 6"/>
          <p:cNvSpPr txBox="1"/>
          <p:nvPr/>
        </p:nvSpPr>
        <p:spPr>
          <a:xfrm>
            <a:off x="1952596" y="3357562"/>
            <a:ext cx="9644130" cy="2862322"/>
          </a:xfrm>
          <a:prstGeom prst="rect">
            <a:avLst/>
          </a:prstGeom>
          <a:noFill/>
        </p:spPr>
        <p:txBody>
          <a:bodyPr wrap="square" rtlCol="0">
            <a:spAutoFit/>
          </a:bodyPr>
          <a:lstStyle/>
          <a:p>
            <a:r>
              <a:rPr lang="en-US" altLang="zh-CN" b="1" dirty="0">
                <a:solidFill>
                  <a:srgbClr val="0070C0"/>
                </a:solidFill>
              </a:rPr>
              <a:t>2</a:t>
            </a:r>
            <a:r>
              <a:rPr lang="zh-CN" altLang="en-US" b="1" dirty="0">
                <a:solidFill>
                  <a:srgbClr val="0070C0"/>
                </a:solidFill>
              </a:rPr>
              <a:t>、点击率（</a:t>
            </a:r>
            <a:r>
              <a:rPr lang="en-US" altLang="zh-CN" b="1" dirty="0">
                <a:solidFill>
                  <a:srgbClr val="0070C0"/>
                </a:solidFill>
              </a:rPr>
              <a:t>CTR</a:t>
            </a:r>
            <a:r>
              <a:rPr lang="zh-CN" altLang="en-US" b="1" dirty="0">
                <a:solidFill>
                  <a:srgbClr val="0070C0"/>
                </a:solidFill>
              </a:rPr>
              <a:t>）：</a:t>
            </a:r>
            <a:r>
              <a:rPr lang="en-US" altLang="zh-CN" b="1" dirty="0">
                <a:solidFill>
                  <a:srgbClr val="0070C0"/>
                </a:solidFill>
              </a:rPr>
              <a:t>CTR</a:t>
            </a:r>
            <a:r>
              <a:rPr lang="zh-CN" altLang="en-US" b="1" dirty="0">
                <a:solidFill>
                  <a:srgbClr val="0070C0"/>
                </a:solidFill>
              </a:rPr>
              <a:t>越高，广告效果越好，同等</a:t>
            </a:r>
            <a:r>
              <a:rPr lang="en-US" altLang="zh-CN" b="1" dirty="0">
                <a:solidFill>
                  <a:srgbClr val="0070C0"/>
                </a:solidFill>
              </a:rPr>
              <a:t>bid</a:t>
            </a:r>
            <a:r>
              <a:rPr lang="zh-CN" altLang="en-US" b="1" dirty="0">
                <a:solidFill>
                  <a:srgbClr val="0070C0"/>
                </a:solidFill>
              </a:rPr>
              <a:t>情况下位置越靠前；</a:t>
            </a:r>
            <a:endParaRPr lang="en-US" altLang="zh-CN" b="1" dirty="0">
              <a:solidFill>
                <a:srgbClr val="0070C0"/>
              </a:solidFill>
            </a:endParaRPr>
          </a:p>
          <a:p>
            <a:endParaRPr lang="en-US" altLang="zh-CN" b="1" dirty="0">
              <a:solidFill>
                <a:srgbClr val="FF0000"/>
              </a:solidFill>
            </a:endParaRPr>
          </a:p>
          <a:p>
            <a:r>
              <a:rPr lang="en-US" altLang="zh-CN" b="1" dirty="0">
                <a:solidFill>
                  <a:srgbClr val="FF0000"/>
                </a:solidFill>
              </a:rPr>
              <a:t>CTR</a:t>
            </a:r>
            <a:r>
              <a:rPr lang="zh-CN" altLang="en-US" b="1" dirty="0">
                <a:solidFill>
                  <a:srgbClr val="FF0000"/>
                </a:solidFill>
              </a:rPr>
              <a:t>低的解决办法：优化</a:t>
            </a:r>
            <a:r>
              <a:rPr lang="en-US" altLang="zh-CN" b="1" dirty="0">
                <a:solidFill>
                  <a:srgbClr val="FF0000"/>
                </a:solidFill>
              </a:rPr>
              <a:t>Listing</a:t>
            </a:r>
            <a:r>
              <a:rPr lang="zh-CN" altLang="en-US" b="1" dirty="0">
                <a:solidFill>
                  <a:srgbClr val="FF0000"/>
                </a:solidFill>
              </a:rPr>
              <a:t>的主图</a:t>
            </a:r>
            <a:r>
              <a:rPr lang="en-US" altLang="zh-CN" b="1" dirty="0">
                <a:solidFill>
                  <a:srgbClr val="FF0000"/>
                </a:solidFill>
              </a:rPr>
              <a:t>+</a:t>
            </a:r>
            <a:r>
              <a:rPr lang="en-US" altLang="zh-CN" b="1" dirty="0" err="1">
                <a:solidFill>
                  <a:srgbClr val="FF0000"/>
                </a:solidFill>
              </a:rPr>
              <a:t>Title+Kewords+Search</a:t>
            </a:r>
            <a:r>
              <a:rPr lang="en-US" altLang="zh-CN" b="1" dirty="0">
                <a:solidFill>
                  <a:srgbClr val="FF0000"/>
                </a:solidFill>
              </a:rPr>
              <a:t> Term</a:t>
            </a:r>
          </a:p>
          <a:p>
            <a:endParaRPr lang="en-US" altLang="zh-CN" b="1" dirty="0">
              <a:solidFill>
                <a:srgbClr val="FF0000"/>
              </a:solidFill>
            </a:endParaRPr>
          </a:p>
          <a:p>
            <a:endParaRPr lang="en-US" altLang="zh-CN" b="1" dirty="0">
              <a:solidFill>
                <a:srgbClr val="FF0000"/>
              </a:solidFill>
            </a:endParaRPr>
          </a:p>
          <a:p>
            <a:r>
              <a:rPr lang="en-US" altLang="zh-CN" b="1" dirty="0">
                <a:solidFill>
                  <a:srgbClr val="0070C0"/>
                </a:solidFill>
              </a:rPr>
              <a:t>3</a:t>
            </a:r>
            <a:r>
              <a:rPr lang="zh-CN" altLang="en-US" b="1" dirty="0">
                <a:solidFill>
                  <a:srgbClr val="0070C0"/>
                </a:solidFill>
              </a:rPr>
              <a:t>、订单转化率 </a:t>
            </a:r>
            <a:r>
              <a:rPr lang="en-US" altLang="zh-CN" b="1" dirty="0">
                <a:solidFill>
                  <a:srgbClr val="0070C0"/>
                </a:solidFill>
              </a:rPr>
              <a:t>(</a:t>
            </a:r>
            <a:r>
              <a:rPr lang="en-US" altLang="en-US" b="1" dirty="0">
                <a:solidFill>
                  <a:srgbClr val="0070C0"/>
                </a:solidFill>
              </a:rPr>
              <a:t>Conversions Rates)</a:t>
            </a:r>
            <a:r>
              <a:rPr lang="zh-CN" altLang="en-US" b="1" dirty="0">
                <a:solidFill>
                  <a:srgbClr val="0070C0"/>
                </a:solidFill>
              </a:rPr>
              <a:t>：转化率是决定自然排名和广告排名的核心因素；</a:t>
            </a:r>
            <a:endParaRPr lang="en-US" altLang="zh-CN" b="1" dirty="0">
              <a:solidFill>
                <a:srgbClr val="0070C0"/>
              </a:solidFill>
            </a:endParaRPr>
          </a:p>
          <a:p>
            <a:r>
              <a:rPr lang="zh-CN" altLang="en-US" b="1" dirty="0">
                <a:solidFill>
                  <a:srgbClr val="0070C0"/>
                </a:solidFill>
              </a:rPr>
              <a:t> 转化率越高，同等</a:t>
            </a:r>
            <a:r>
              <a:rPr lang="en-US" altLang="zh-CN" b="1" dirty="0">
                <a:solidFill>
                  <a:srgbClr val="0070C0"/>
                </a:solidFill>
              </a:rPr>
              <a:t>bid</a:t>
            </a:r>
            <a:r>
              <a:rPr lang="zh-CN" altLang="en-US" b="1" dirty="0">
                <a:solidFill>
                  <a:srgbClr val="0070C0"/>
                </a:solidFill>
              </a:rPr>
              <a:t>情况下位置越靠前；</a:t>
            </a:r>
            <a:endParaRPr lang="en-US" altLang="zh-CN" b="1" dirty="0">
              <a:solidFill>
                <a:srgbClr val="0070C0"/>
              </a:solidFill>
            </a:endParaRPr>
          </a:p>
          <a:p>
            <a:r>
              <a:rPr lang="zh-CN" altLang="en-US" b="1" dirty="0">
                <a:solidFill>
                  <a:srgbClr val="0070C0"/>
                </a:solidFill>
              </a:rPr>
              <a:t>影响转化率的因素：</a:t>
            </a:r>
            <a:r>
              <a:rPr lang="en-US" altLang="zh-CN" b="1" dirty="0">
                <a:solidFill>
                  <a:srgbClr val="0070C0"/>
                </a:solidFill>
              </a:rPr>
              <a:t>Review &amp; Feedback</a:t>
            </a:r>
            <a:r>
              <a:rPr lang="zh-CN" altLang="en-US" b="1" dirty="0">
                <a:solidFill>
                  <a:srgbClr val="0070C0"/>
                </a:solidFill>
              </a:rPr>
              <a:t> 数量和质量；</a:t>
            </a:r>
            <a:endParaRPr lang="en-US" altLang="zh-CN" b="1" dirty="0">
              <a:solidFill>
                <a:srgbClr val="0070C0"/>
              </a:solidFill>
            </a:endParaRPr>
          </a:p>
          <a:p>
            <a:endParaRPr lang="en-US" altLang="zh-CN" b="1" dirty="0">
              <a:solidFill>
                <a:srgbClr val="0070C0"/>
              </a:solidFill>
            </a:endParaRPr>
          </a:p>
          <a:p>
            <a:r>
              <a:rPr lang="zh-CN" altLang="en-US" b="1" dirty="0">
                <a:solidFill>
                  <a:srgbClr val="FF0000"/>
                </a:solidFill>
              </a:rPr>
              <a:t>误区：新品刚上线马上去投广告，基本上花费高转化差；</a:t>
            </a:r>
          </a:p>
        </p:txBody>
      </p:sp>
      <p:sp>
        <p:nvSpPr>
          <p:cNvPr id="8" name="左大括号 7"/>
          <p:cNvSpPr/>
          <p:nvPr/>
        </p:nvSpPr>
        <p:spPr>
          <a:xfrm>
            <a:off x="1666844" y="2000240"/>
            <a:ext cx="285752" cy="3286148"/>
          </a:xfrm>
          <a:prstGeom prst="leftBrac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566109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
        <p:nvSpPr>
          <p:cNvPr id="3" name="TextBox 2"/>
          <p:cNvSpPr txBox="1"/>
          <p:nvPr/>
        </p:nvSpPr>
        <p:spPr>
          <a:xfrm>
            <a:off x="2881290" y="642918"/>
            <a:ext cx="6853158" cy="523220"/>
          </a:xfrm>
          <a:prstGeom prst="rect">
            <a:avLst/>
          </a:prstGeom>
          <a:noFill/>
        </p:spPr>
        <p:txBody>
          <a:bodyPr wrap="none" rtlCol="0">
            <a:spAutoFit/>
          </a:bodyPr>
          <a:lstStyle/>
          <a:p>
            <a:r>
              <a:rPr lang="en-US" altLang="zh-CN" sz="2800" b="1" dirty="0">
                <a:solidFill>
                  <a:srgbClr val="0070C0"/>
                </a:solidFill>
              </a:rPr>
              <a:t>Amazon Display Ads </a:t>
            </a:r>
            <a:r>
              <a:rPr lang="zh-CN" altLang="en-US" sz="2800" b="1" dirty="0">
                <a:solidFill>
                  <a:srgbClr val="0070C0"/>
                </a:solidFill>
              </a:rPr>
              <a:t>亚马逊站内展示广告</a:t>
            </a:r>
          </a:p>
        </p:txBody>
      </p:sp>
      <p:pic>
        <p:nvPicPr>
          <p:cNvPr id="5122" name="Picture 2"/>
          <p:cNvPicPr>
            <a:picLocks noChangeAspect="1" noChangeArrowheads="1"/>
          </p:cNvPicPr>
          <p:nvPr/>
        </p:nvPicPr>
        <p:blipFill>
          <a:blip r:embed="rId2"/>
          <a:srcRect/>
          <a:stretch>
            <a:fillRect/>
          </a:stretch>
        </p:blipFill>
        <p:spPr bwMode="auto">
          <a:xfrm>
            <a:off x="302002" y="1643050"/>
            <a:ext cx="11509038" cy="2803483"/>
          </a:xfrm>
          <a:prstGeom prst="rect">
            <a:avLst/>
          </a:prstGeom>
          <a:noFill/>
          <a:ln w="9525">
            <a:noFill/>
            <a:miter lim="800000"/>
            <a:headEnd/>
            <a:tailEnd/>
          </a:ln>
          <a:effectLst/>
        </p:spPr>
      </p:pic>
      <p:sp>
        <p:nvSpPr>
          <p:cNvPr id="5" name="等腰三角形 4"/>
          <p:cNvSpPr/>
          <p:nvPr/>
        </p:nvSpPr>
        <p:spPr>
          <a:xfrm>
            <a:off x="5738810" y="4714884"/>
            <a:ext cx="785818" cy="928694"/>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3238480" y="5857893"/>
            <a:ext cx="5572164" cy="646331"/>
          </a:xfrm>
          <a:prstGeom prst="rect">
            <a:avLst/>
          </a:prstGeom>
          <a:noFill/>
        </p:spPr>
        <p:txBody>
          <a:bodyPr wrap="square" rtlCol="0">
            <a:spAutoFit/>
          </a:bodyPr>
          <a:lstStyle/>
          <a:p>
            <a:pPr algn="ctr"/>
            <a:r>
              <a:rPr lang="zh-CN" altLang="en-US" b="1" dirty="0">
                <a:solidFill>
                  <a:srgbClr val="0070C0"/>
                </a:solidFill>
              </a:rPr>
              <a:t>搜索结果页面的顶部：包含图片、广告文案、产品                  </a:t>
            </a:r>
            <a:r>
              <a:rPr lang="en-US" altLang="zh-CN" b="1" dirty="0">
                <a:solidFill>
                  <a:srgbClr val="0070C0"/>
                </a:solidFill>
              </a:rPr>
              <a:t>Headline Search Ads</a:t>
            </a:r>
            <a:endParaRPr lang="zh-CN" altLang="en-US" b="1" dirty="0">
              <a:solidFill>
                <a:srgbClr val="0070C0"/>
              </a:solidFill>
            </a:endParaRPr>
          </a:p>
        </p:txBody>
      </p:sp>
    </p:spTree>
    <p:extLst>
      <p:ext uri="{BB962C8B-B14F-4D97-AF65-F5344CB8AC3E}">
        <p14:creationId xmlns:p14="http://schemas.microsoft.com/office/powerpoint/2010/main" val="1828336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
        <p:nvSpPr>
          <p:cNvPr id="3" name="TextBox 2"/>
          <p:cNvSpPr txBox="1"/>
          <p:nvPr/>
        </p:nvSpPr>
        <p:spPr>
          <a:xfrm>
            <a:off x="2881290" y="642918"/>
            <a:ext cx="6853158" cy="523220"/>
          </a:xfrm>
          <a:prstGeom prst="rect">
            <a:avLst/>
          </a:prstGeom>
          <a:noFill/>
        </p:spPr>
        <p:txBody>
          <a:bodyPr wrap="none" rtlCol="0">
            <a:spAutoFit/>
          </a:bodyPr>
          <a:lstStyle/>
          <a:p>
            <a:r>
              <a:rPr lang="en-US" altLang="zh-CN" sz="2800" b="1" dirty="0">
                <a:solidFill>
                  <a:srgbClr val="0070C0"/>
                </a:solidFill>
              </a:rPr>
              <a:t>Amazon Display Ads </a:t>
            </a:r>
            <a:r>
              <a:rPr lang="zh-CN" altLang="en-US" sz="2800" b="1" dirty="0">
                <a:solidFill>
                  <a:srgbClr val="0070C0"/>
                </a:solidFill>
              </a:rPr>
              <a:t>亚马逊站内展示广告</a:t>
            </a:r>
          </a:p>
        </p:txBody>
      </p:sp>
      <p:pic>
        <p:nvPicPr>
          <p:cNvPr id="6147" name="Picture 3"/>
          <p:cNvPicPr>
            <a:picLocks noChangeAspect="1" noChangeArrowheads="1"/>
          </p:cNvPicPr>
          <p:nvPr/>
        </p:nvPicPr>
        <p:blipFill>
          <a:blip r:embed="rId2"/>
          <a:srcRect/>
          <a:stretch>
            <a:fillRect/>
          </a:stretch>
        </p:blipFill>
        <p:spPr bwMode="auto">
          <a:xfrm>
            <a:off x="595275" y="1285860"/>
            <a:ext cx="11020425" cy="2786082"/>
          </a:xfrm>
          <a:prstGeom prst="rect">
            <a:avLst/>
          </a:prstGeom>
          <a:noFill/>
          <a:ln w="9525">
            <a:noFill/>
            <a:miter lim="800000"/>
            <a:headEnd/>
            <a:tailEnd/>
          </a:ln>
          <a:effectLst/>
        </p:spPr>
      </p:pic>
      <p:sp>
        <p:nvSpPr>
          <p:cNvPr id="7" name="等腰三角形 6"/>
          <p:cNvSpPr/>
          <p:nvPr/>
        </p:nvSpPr>
        <p:spPr>
          <a:xfrm>
            <a:off x="5381620" y="3857628"/>
            <a:ext cx="785818" cy="928694"/>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3309918" y="5072074"/>
            <a:ext cx="5572164" cy="369332"/>
          </a:xfrm>
          <a:prstGeom prst="rect">
            <a:avLst/>
          </a:prstGeom>
          <a:noFill/>
        </p:spPr>
        <p:txBody>
          <a:bodyPr wrap="square" rtlCol="0">
            <a:spAutoFit/>
          </a:bodyPr>
          <a:lstStyle/>
          <a:p>
            <a:r>
              <a:rPr lang="zh-CN" altLang="en-US" b="1" dirty="0">
                <a:solidFill>
                  <a:srgbClr val="0070C0"/>
                </a:solidFill>
              </a:rPr>
              <a:t>搜索结果页面的底部：包含图片、广告文案、产品</a:t>
            </a:r>
          </a:p>
        </p:txBody>
      </p:sp>
    </p:spTree>
    <p:extLst>
      <p:ext uri="{BB962C8B-B14F-4D97-AF65-F5344CB8AC3E}">
        <p14:creationId xmlns:p14="http://schemas.microsoft.com/office/powerpoint/2010/main" val="2434315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
        <p:nvSpPr>
          <p:cNvPr id="3" name="TextBox 2"/>
          <p:cNvSpPr txBox="1"/>
          <p:nvPr/>
        </p:nvSpPr>
        <p:spPr>
          <a:xfrm>
            <a:off x="2881290" y="642918"/>
            <a:ext cx="6853158" cy="523220"/>
          </a:xfrm>
          <a:prstGeom prst="rect">
            <a:avLst/>
          </a:prstGeom>
          <a:noFill/>
        </p:spPr>
        <p:txBody>
          <a:bodyPr wrap="none" rtlCol="0">
            <a:spAutoFit/>
          </a:bodyPr>
          <a:lstStyle/>
          <a:p>
            <a:r>
              <a:rPr lang="en-US" altLang="zh-CN" sz="2800" b="1" dirty="0">
                <a:solidFill>
                  <a:srgbClr val="0070C0"/>
                </a:solidFill>
              </a:rPr>
              <a:t>Amazon Display Ads </a:t>
            </a:r>
            <a:r>
              <a:rPr lang="zh-CN" altLang="en-US" sz="2800" b="1" dirty="0">
                <a:solidFill>
                  <a:srgbClr val="0070C0"/>
                </a:solidFill>
              </a:rPr>
              <a:t>亚马逊站内展示广告</a:t>
            </a:r>
          </a:p>
        </p:txBody>
      </p:sp>
      <p:pic>
        <p:nvPicPr>
          <p:cNvPr id="29698" name="Picture 2" descr="Image result for amazon display ads placement"/>
          <p:cNvPicPr>
            <a:picLocks noChangeAspect="1" noChangeArrowheads="1"/>
          </p:cNvPicPr>
          <p:nvPr/>
        </p:nvPicPr>
        <p:blipFill>
          <a:blip r:embed="rId2"/>
          <a:srcRect/>
          <a:stretch>
            <a:fillRect/>
          </a:stretch>
        </p:blipFill>
        <p:spPr bwMode="auto">
          <a:xfrm>
            <a:off x="238084" y="1428737"/>
            <a:ext cx="7429552" cy="4811375"/>
          </a:xfrm>
          <a:prstGeom prst="rect">
            <a:avLst/>
          </a:prstGeom>
          <a:noFill/>
        </p:spPr>
      </p:pic>
      <p:sp>
        <p:nvSpPr>
          <p:cNvPr id="5" name="左箭头 4"/>
          <p:cNvSpPr/>
          <p:nvPr/>
        </p:nvSpPr>
        <p:spPr>
          <a:xfrm>
            <a:off x="7810512" y="3143248"/>
            <a:ext cx="1357322" cy="500066"/>
          </a:xfrm>
          <a:prstGeom prst="leftArrow">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9382149" y="3214686"/>
            <a:ext cx="2029723" cy="369332"/>
          </a:xfrm>
          <a:prstGeom prst="rect">
            <a:avLst/>
          </a:prstGeom>
          <a:noFill/>
        </p:spPr>
        <p:txBody>
          <a:bodyPr wrap="none" rtlCol="0">
            <a:spAutoFit/>
          </a:bodyPr>
          <a:lstStyle/>
          <a:p>
            <a:r>
              <a:rPr lang="en-US" altLang="zh-CN" b="1" dirty="0">
                <a:solidFill>
                  <a:srgbClr val="0070C0"/>
                </a:solidFill>
              </a:rPr>
              <a:t>Listing</a:t>
            </a:r>
            <a:r>
              <a:rPr lang="zh-CN" altLang="en-US" b="1" dirty="0">
                <a:solidFill>
                  <a:srgbClr val="0070C0"/>
                </a:solidFill>
              </a:rPr>
              <a:t>页面右下角</a:t>
            </a:r>
          </a:p>
        </p:txBody>
      </p:sp>
    </p:spTree>
    <p:extLst>
      <p:ext uri="{BB962C8B-B14F-4D97-AF65-F5344CB8AC3E}">
        <p14:creationId xmlns:p14="http://schemas.microsoft.com/office/powerpoint/2010/main" val="149649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Amazon retargeting"/>
          <p:cNvPicPr>
            <a:picLocks noChangeAspect="1" noChangeArrowheads="1"/>
          </p:cNvPicPr>
          <p:nvPr/>
        </p:nvPicPr>
        <p:blipFill>
          <a:blip r:embed="rId2"/>
          <a:srcRect/>
          <a:stretch>
            <a:fillRect/>
          </a:stretch>
        </p:blipFill>
        <p:spPr bwMode="auto">
          <a:xfrm>
            <a:off x="3024166" y="1285860"/>
            <a:ext cx="8929750" cy="5333864"/>
          </a:xfrm>
          <a:prstGeom prst="rect">
            <a:avLst/>
          </a:prstGeom>
          <a:noFill/>
        </p:spPr>
      </p:pic>
      <p:sp>
        <p:nvSpPr>
          <p:cNvPr id="3"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
        <p:nvSpPr>
          <p:cNvPr id="4" name="TextBox 3"/>
          <p:cNvSpPr txBox="1"/>
          <p:nvPr/>
        </p:nvSpPr>
        <p:spPr>
          <a:xfrm>
            <a:off x="2881290" y="571480"/>
            <a:ext cx="6853158" cy="523220"/>
          </a:xfrm>
          <a:prstGeom prst="rect">
            <a:avLst/>
          </a:prstGeom>
          <a:noFill/>
        </p:spPr>
        <p:txBody>
          <a:bodyPr wrap="none" rtlCol="0">
            <a:spAutoFit/>
          </a:bodyPr>
          <a:lstStyle/>
          <a:p>
            <a:r>
              <a:rPr lang="en-US" altLang="zh-CN" sz="2800" b="1" dirty="0">
                <a:solidFill>
                  <a:srgbClr val="0070C0"/>
                </a:solidFill>
              </a:rPr>
              <a:t>Amazon Display Ads </a:t>
            </a:r>
            <a:r>
              <a:rPr lang="zh-CN" altLang="en-US" sz="2800" b="1" dirty="0">
                <a:solidFill>
                  <a:srgbClr val="0070C0"/>
                </a:solidFill>
              </a:rPr>
              <a:t>亚马逊站内展示广告</a:t>
            </a:r>
          </a:p>
        </p:txBody>
      </p:sp>
      <p:sp>
        <p:nvSpPr>
          <p:cNvPr id="5" name="TextBox 4"/>
          <p:cNvSpPr txBox="1"/>
          <p:nvPr/>
        </p:nvSpPr>
        <p:spPr>
          <a:xfrm>
            <a:off x="794" y="3571876"/>
            <a:ext cx="3281668" cy="369332"/>
          </a:xfrm>
          <a:prstGeom prst="rect">
            <a:avLst/>
          </a:prstGeom>
          <a:noFill/>
        </p:spPr>
        <p:txBody>
          <a:bodyPr wrap="none" rtlCol="0">
            <a:spAutoFit/>
          </a:bodyPr>
          <a:lstStyle/>
          <a:p>
            <a:r>
              <a:rPr lang="zh-CN" altLang="en-US" b="1" dirty="0">
                <a:solidFill>
                  <a:srgbClr val="0070C0"/>
                </a:solidFill>
              </a:rPr>
              <a:t>再营销</a:t>
            </a:r>
            <a:r>
              <a:rPr lang="en-US" altLang="zh-CN" b="1" dirty="0">
                <a:solidFill>
                  <a:srgbClr val="0070C0"/>
                </a:solidFill>
              </a:rPr>
              <a:t>Remarketing-FB</a:t>
            </a:r>
            <a:r>
              <a:rPr lang="zh-CN" altLang="en-US" b="1" dirty="0">
                <a:solidFill>
                  <a:srgbClr val="0070C0"/>
                </a:solidFill>
              </a:rPr>
              <a:t>广告位</a:t>
            </a:r>
          </a:p>
        </p:txBody>
      </p:sp>
    </p:spTree>
    <p:extLst>
      <p:ext uri="{BB962C8B-B14F-4D97-AF65-F5344CB8AC3E}">
        <p14:creationId xmlns:p14="http://schemas.microsoft.com/office/powerpoint/2010/main" val="10257880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
        <p:nvSpPr>
          <p:cNvPr id="3" name="TextBox 2"/>
          <p:cNvSpPr txBox="1"/>
          <p:nvPr/>
        </p:nvSpPr>
        <p:spPr>
          <a:xfrm>
            <a:off x="2881290" y="642918"/>
            <a:ext cx="6853158" cy="523220"/>
          </a:xfrm>
          <a:prstGeom prst="rect">
            <a:avLst/>
          </a:prstGeom>
          <a:noFill/>
        </p:spPr>
        <p:txBody>
          <a:bodyPr wrap="none" rtlCol="0">
            <a:spAutoFit/>
          </a:bodyPr>
          <a:lstStyle/>
          <a:p>
            <a:r>
              <a:rPr lang="en-US" altLang="zh-CN" sz="2800" b="1" dirty="0">
                <a:solidFill>
                  <a:srgbClr val="0070C0"/>
                </a:solidFill>
              </a:rPr>
              <a:t>Amazon Display Ads </a:t>
            </a:r>
            <a:r>
              <a:rPr lang="zh-CN" altLang="en-US" sz="2800" b="1" dirty="0">
                <a:solidFill>
                  <a:srgbClr val="0070C0"/>
                </a:solidFill>
              </a:rPr>
              <a:t>亚马逊站内展示广告</a:t>
            </a:r>
          </a:p>
        </p:txBody>
      </p:sp>
      <p:sp>
        <p:nvSpPr>
          <p:cNvPr id="4" name="十二边形 3"/>
          <p:cNvSpPr/>
          <p:nvPr/>
        </p:nvSpPr>
        <p:spPr>
          <a:xfrm>
            <a:off x="1023902" y="2643182"/>
            <a:ext cx="1714512" cy="1643074"/>
          </a:xfrm>
          <a:prstGeom prst="dodecagon">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广告申请条件</a:t>
            </a:r>
          </a:p>
        </p:txBody>
      </p:sp>
      <p:sp>
        <p:nvSpPr>
          <p:cNvPr id="5" name="TextBox 4"/>
          <p:cNvSpPr txBox="1"/>
          <p:nvPr/>
        </p:nvSpPr>
        <p:spPr>
          <a:xfrm>
            <a:off x="3595670" y="3214687"/>
            <a:ext cx="6074612" cy="646331"/>
          </a:xfrm>
          <a:prstGeom prst="rect">
            <a:avLst/>
          </a:prstGeom>
          <a:noFill/>
        </p:spPr>
        <p:txBody>
          <a:bodyPr wrap="none" rtlCol="0">
            <a:spAutoFit/>
          </a:bodyPr>
          <a:lstStyle/>
          <a:p>
            <a:r>
              <a:rPr lang="zh-CN" altLang="en-US" dirty="0"/>
              <a:t>大卖家开放</a:t>
            </a:r>
            <a:r>
              <a:rPr lang="en-US" altLang="zh-CN" dirty="0">
                <a:hlinkClick r:id="rId2"/>
              </a:rPr>
              <a:t>https://www.youtube.com/watch?v=UJkvej9Vfiw</a:t>
            </a:r>
            <a:endParaRPr lang="en-US" altLang="zh-CN" dirty="0"/>
          </a:p>
          <a:p>
            <a:r>
              <a:rPr lang="zh-CN" altLang="en-US" dirty="0"/>
              <a:t>需要登录帐号查看具体的标准，回头跟</a:t>
            </a:r>
            <a:r>
              <a:rPr lang="en-US" altLang="zh-CN" dirty="0"/>
              <a:t>penny</a:t>
            </a:r>
            <a:r>
              <a:rPr lang="zh-CN" altLang="en-US" dirty="0"/>
              <a:t>确认帐号登录</a:t>
            </a:r>
          </a:p>
        </p:txBody>
      </p:sp>
    </p:spTree>
    <p:extLst>
      <p:ext uri="{BB962C8B-B14F-4D97-AF65-F5344CB8AC3E}">
        <p14:creationId xmlns:p14="http://schemas.microsoft.com/office/powerpoint/2010/main" val="1483634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
        <p:nvSpPr>
          <p:cNvPr id="3" name="TextBox 2"/>
          <p:cNvSpPr txBox="1"/>
          <p:nvPr/>
        </p:nvSpPr>
        <p:spPr>
          <a:xfrm>
            <a:off x="2881291" y="642918"/>
            <a:ext cx="6224781" cy="523220"/>
          </a:xfrm>
          <a:prstGeom prst="rect">
            <a:avLst/>
          </a:prstGeom>
          <a:noFill/>
        </p:spPr>
        <p:txBody>
          <a:bodyPr wrap="none" rtlCol="0">
            <a:spAutoFit/>
          </a:bodyPr>
          <a:lstStyle/>
          <a:p>
            <a:r>
              <a:rPr lang="en-US" altLang="zh-CN" sz="2800" b="1" dirty="0">
                <a:solidFill>
                  <a:srgbClr val="0070C0"/>
                </a:solidFill>
              </a:rPr>
              <a:t>Amazon Affiliate Ads </a:t>
            </a:r>
            <a:r>
              <a:rPr lang="zh-CN" altLang="en-US" sz="2800" b="1" dirty="0">
                <a:solidFill>
                  <a:srgbClr val="0070C0"/>
                </a:solidFill>
              </a:rPr>
              <a:t>亚马逊联盟广告</a:t>
            </a:r>
          </a:p>
        </p:txBody>
      </p:sp>
      <p:pic>
        <p:nvPicPr>
          <p:cNvPr id="30722" name="Picture 2" descr="Image result for Amazon Affiliate  program"/>
          <p:cNvPicPr>
            <a:picLocks noChangeAspect="1" noChangeArrowheads="1"/>
          </p:cNvPicPr>
          <p:nvPr/>
        </p:nvPicPr>
        <p:blipFill>
          <a:blip r:embed="rId2"/>
          <a:srcRect/>
          <a:stretch>
            <a:fillRect/>
          </a:stretch>
        </p:blipFill>
        <p:spPr bwMode="auto">
          <a:xfrm>
            <a:off x="2166910" y="3286124"/>
            <a:ext cx="7786742" cy="2571768"/>
          </a:xfrm>
          <a:prstGeom prst="rect">
            <a:avLst/>
          </a:prstGeom>
          <a:noFill/>
        </p:spPr>
      </p:pic>
      <p:sp>
        <p:nvSpPr>
          <p:cNvPr id="5" name="TextBox 4"/>
          <p:cNvSpPr txBox="1"/>
          <p:nvPr/>
        </p:nvSpPr>
        <p:spPr>
          <a:xfrm>
            <a:off x="4381488" y="1500175"/>
            <a:ext cx="3071834" cy="646331"/>
          </a:xfrm>
          <a:prstGeom prst="rect">
            <a:avLst/>
          </a:prstGeom>
          <a:solidFill>
            <a:schemeClr val="accent6">
              <a:lumMod val="75000"/>
            </a:schemeClr>
          </a:solidFill>
          <a:ln>
            <a:solidFill>
              <a:schemeClr val="accent6">
                <a:lumMod val="75000"/>
              </a:schemeClr>
            </a:solidFill>
          </a:ln>
          <a:effectLst>
            <a:outerShdw blurRad="50800" dist="38100" dir="8100000" algn="tr" rotWithShape="0">
              <a:prstClr val="black">
                <a:alpha val="40000"/>
              </a:prstClr>
            </a:outerShdw>
            <a:reflection blurRad="6350" stA="50000" endA="300" endPos="55000" dir="5400000" sy="-100000" algn="bl" rotWithShape="0"/>
          </a:effectLst>
        </p:spPr>
        <p:txBody>
          <a:bodyPr wrap="square" rtlCol="0">
            <a:spAutoFit/>
          </a:bodyPr>
          <a:lstStyle/>
          <a:p>
            <a:r>
              <a:rPr lang="en-US" altLang="zh-CN" b="1" dirty="0">
                <a:solidFill>
                  <a:schemeClr val="bg1"/>
                </a:solidFill>
              </a:rPr>
              <a:t>Join Amazon Affiliate Program</a:t>
            </a:r>
            <a:endParaRPr lang="zh-CN" altLang="en-US" b="1" dirty="0">
              <a:solidFill>
                <a:schemeClr val="bg1"/>
              </a:solidFill>
            </a:endParaRPr>
          </a:p>
        </p:txBody>
      </p:sp>
      <p:cxnSp>
        <p:nvCxnSpPr>
          <p:cNvPr id="7" name="直接箭头连接符 6"/>
          <p:cNvCxnSpPr/>
          <p:nvPr/>
        </p:nvCxnSpPr>
        <p:spPr>
          <a:xfrm rot="5400000">
            <a:off x="5346695" y="2464587"/>
            <a:ext cx="927900" cy="794"/>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7009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
        <p:nvSpPr>
          <p:cNvPr id="3" name="TextBox 2"/>
          <p:cNvSpPr txBox="1"/>
          <p:nvPr/>
        </p:nvSpPr>
        <p:spPr>
          <a:xfrm>
            <a:off x="2881291" y="642918"/>
            <a:ext cx="6224781" cy="523220"/>
          </a:xfrm>
          <a:prstGeom prst="rect">
            <a:avLst/>
          </a:prstGeom>
          <a:noFill/>
        </p:spPr>
        <p:txBody>
          <a:bodyPr wrap="none" rtlCol="0">
            <a:spAutoFit/>
          </a:bodyPr>
          <a:lstStyle/>
          <a:p>
            <a:r>
              <a:rPr lang="en-US" altLang="zh-CN" sz="2800" b="1" dirty="0">
                <a:solidFill>
                  <a:srgbClr val="0070C0"/>
                </a:solidFill>
              </a:rPr>
              <a:t>Amazon Affiliate Ads </a:t>
            </a:r>
            <a:r>
              <a:rPr lang="zh-CN" altLang="en-US" sz="2800" b="1" dirty="0">
                <a:solidFill>
                  <a:srgbClr val="0070C0"/>
                </a:solidFill>
              </a:rPr>
              <a:t>亚马逊联盟广告</a:t>
            </a:r>
          </a:p>
        </p:txBody>
      </p:sp>
      <p:sp>
        <p:nvSpPr>
          <p:cNvPr id="5" name="TextBox 4"/>
          <p:cNvSpPr txBox="1"/>
          <p:nvPr/>
        </p:nvSpPr>
        <p:spPr>
          <a:xfrm>
            <a:off x="309522" y="2143117"/>
            <a:ext cx="3071834" cy="646331"/>
          </a:xfrm>
          <a:prstGeom prst="rect">
            <a:avLst/>
          </a:prstGeom>
          <a:solidFill>
            <a:schemeClr val="accent6">
              <a:lumMod val="75000"/>
            </a:schemeClr>
          </a:solidFill>
          <a:ln>
            <a:solidFill>
              <a:schemeClr val="accent6">
                <a:lumMod val="75000"/>
              </a:schemeClr>
            </a:solidFill>
          </a:ln>
          <a:effectLst>
            <a:outerShdw blurRad="50800" dist="38100" dir="8100000" algn="tr" rotWithShape="0">
              <a:prstClr val="black">
                <a:alpha val="40000"/>
              </a:prstClr>
            </a:outerShdw>
            <a:reflection blurRad="6350" stA="50000" endA="300" endPos="55000" dir="5400000" sy="-100000" algn="bl" rotWithShape="0"/>
          </a:effectLst>
        </p:spPr>
        <p:txBody>
          <a:bodyPr wrap="square" rtlCol="0">
            <a:spAutoFit/>
          </a:bodyPr>
          <a:lstStyle/>
          <a:p>
            <a:r>
              <a:rPr lang="en-US" altLang="zh-CN" b="1" dirty="0">
                <a:solidFill>
                  <a:schemeClr val="bg1"/>
                </a:solidFill>
              </a:rPr>
              <a:t>Join Amazon Affiliate Program</a:t>
            </a:r>
            <a:endParaRPr lang="zh-CN" altLang="en-US" b="1" dirty="0">
              <a:solidFill>
                <a:schemeClr val="bg1"/>
              </a:solidFill>
            </a:endParaRPr>
          </a:p>
        </p:txBody>
      </p:sp>
      <p:sp>
        <p:nvSpPr>
          <p:cNvPr id="6" name="TextBox 5"/>
          <p:cNvSpPr txBox="1"/>
          <p:nvPr/>
        </p:nvSpPr>
        <p:spPr>
          <a:xfrm>
            <a:off x="4095736" y="2143117"/>
            <a:ext cx="4786346" cy="646331"/>
          </a:xfrm>
          <a:prstGeom prst="rect">
            <a:avLst/>
          </a:prstGeom>
          <a:solidFill>
            <a:schemeClr val="accent6">
              <a:lumMod val="75000"/>
            </a:schemeClr>
          </a:solidFill>
          <a:ln>
            <a:solidFill>
              <a:schemeClr val="accent6">
                <a:lumMod val="75000"/>
              </a:schemeClr>
            </a:solidFill>
          </a:ln>
          <a:effectLst>
            <a:outerShdw blurRad="50800" dist="38100" dir="8100000" algn="tr" rotWithShape="0">
              <a:prstClr val="black">
                <a:alpha val="40000"/>
              </a:prstClr>
            </a:outerShdw>
            <a:reflection blurRad="6350" stA="50000" endA="300" endPos="55000" dir="5400000" sy="-100000" algn="bl" rotWithShape="0"/>
          </a:effectLst>
        </p:spPr>
        <p:txBody>
          <a:bodyPr wrap="square" rtlCol="0">
            <a:spAutoFit/>
          </a:bodyPr>
          <a:lstStyle/>
          <a:p>
            <a:r>
              <a:rPr lang="en-US" altLang="zh-CN" b="1" dirty="0">
                <a:solidFill>
                  <a:schemeClr val="bg1"/>
                </a:solidFill>
              </a:rPr>
              <a:t>Upload </a:t>
            </a:r>
            <a:r>
              <a:rPr lang="en-US" altLang="zh-CN" b="1" dirty="0" err="1">
                <a:solidFill>
                  <a:schemeClr val="bg1"/>
                </a:solidFill>
              </a:rPr>
              <a:t>Creatives</a:t>
            </a:r>
            <a:r>
              <a:rPr lang="en-US" altLang="zh-CN" b="1" dirty="0">
                <a:solidFill>
                  <a:schemeClr val="bg1"/>
                </a:solidFill>
              </a:rPr>
              <a:t>: Banner</a:t>
            </a:r>
            <a:r>
              <a:rPr lang="zh-CN" altLang="en-US" b="1" dirty="0">
                <a:solidFill>
                  <a:schemeClr val="bg1"/>
                </a:solidFill>
              </a:rPr>
              <a:t>、</a:t>
            </a:r>
            <a:r>
              <a:rPr lang="en-US" altLang="zh-CN" b="1" dirty="0">
                <a:solidFill>
                  <a:schemeClr val="bg1"/>
                </a:solidFill>
              </a:rPr>
              <a:t>Coupon</a:t>
            </a:r>
            <a:r>
              <a:rPr lang="zh-CN" altLang="en-US" b="1" dirty="0">
                <a:solidFill>
                  <a:schemeClr val="bg1"/>
                </a:solidFill>
              </a:rPr>
              <a:t>、</a:t>
            </a:r>
            <a:r>
              <a:rPr lang="en-US" altLang="zh-CN" b="1" dirty="0">
                <a:solidFill>
                  <a:schemeClr val="bg1"/>
                </a:solidFill>
              </a:rPr>
              <a:t>Data feed</a:t>
            </a:r>
            <a:endParaRPr lang="zh-CN" altLang="en-US" b="1" dirty="0">
              <a:solidFill>
                <a:schemeClr val="bg1"/>
              </a:solidFill>
            </a:endParaRPr>
          </a:p>
        </p:txBody>
      </p:sp>
      <p:cxnSp>
        <p:nvCxnSpPr>
          <p:cNvPr id="8" name="直接箭头连接符 7"/>
          <p:cNvCxnSpPr/>
          <p:nvPr/>
        </p:nvCxnSpPr>
        <p:spPr>
          <a:xfrm>
            <a:off x="3524232" y="2357430"/>
            <a:ext cx="428628" cy="1588"/>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9024958" y="2357430"/>
            <a:ext cx="428628" cy="1588"/>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9525024" y="2143117"/>
            <a:ext cx="2357454" cy="646331"/>
          </a:xfrm>
          <a:prstGeom prst="rect">
            <a:avLst/>
          </a:prstGeom>
          <a:solidFill>
            <a:schemeClr val="accent6">
              <a:lumMod val="75000"/>
            </a:schemeClr>
          </a:solidFill>
          <a:ln>
            <a:solidFill>
              <a:schemeClr val="accent6">
                <a:lumMod val="75000"/>
              </a:schemeClr>
            </a:solidFill>
          </a:ln>
          <a:effectLst>
            <a:outerShdw blurRad="50800" dist="38100" dir="8100000" algn="tr" rotWithShape="0">
              <a:prstClr val="black">
                <a:alpha val="40000"/>
              </a:prstClr>
            </a:outerShdw>
            <a:reflection blurRad="6350" stA="50000" endA="300" endPos="55000" dir="5400000" sy="-100000" algn="bl" rotWithShape="0"/>
          </a:effectLst>
        </p:spPr>
        <p:txBody>
          <a:bodyPr wrap="square" rtlCol="0">
            <a:spAutoFit/>
          </a:bodyPr>
          <a:lstStyle/>
          <a:p>
            <a:r>
              <a:rPr lang="en-US" altLang="zh-CN" b="1" dirty="0">
                <a:solidFill>
                  <a:schemeClr val="bg1"/>
                </a:solidFill>
              </a:rPr>
              <a:t>Recruitment Affiliates</a:t>
            </a:r>
            <a:endParaRPr lang="zh-CN" altLang="en-US" b="1" dirty="0">
              <a:solidFill>
                <a:schemeClr val="bg1"/>
              </a:solidFill>
            </a:endParaRPr>
          </a:p>
        </p:txBody>
      </p:sp>
      <p:sp>
        <p:nvSpPr>
          <p:cNvPr id="11" name="TextBox 10"/>
          <p:cNvSpPr txBox="1"/>
          <p:nvPr/>
        </p:nvSpPr>
        <p:spPr>
          <a:xfrm>
            <a:off x="809588" y="2643182"/>
            <a:ext cx="1569660" cy="369332"/>
          </a:xfrm>
          <a:prstGeom prst="rect">
            <a:avLst/>
          </a:prstGeom>
          <a:noFill/>
        </p:spPr>
        <p:txBody>
          <a:bodyPr wrap="none" rtlCol="0">
            <a:spAutoFit/>
          </a:bodyPr>
          <a:lstStyle/>
          <a:p>
            <a:r>
              <a:rPr lang="zh-CN" altLang="en-US" b="1" dirty="0">
                <a:solidFill>
                  <a:srgbClr val="0070C0"/>
                </a:solidFill>
              </a:rPr>
              <a:t>加入联盟计划</a:t>
            </a:r>
          </a:p>
        </p:txBody>
      </p:sp>
      <p:sp>
        <p:nvSpPr>
          <p:cNvPr id="12" name="TextBox 11"/>
          <p:cNvSpPr txBox="1"/>
          <p:nvPr/>
        </p:nvSpPr>
        <p:spPr>
          <a:xfrm>
            <a:off x="5167306" y="2714620"/>
            <a:ext cx="2509020" cy="369332"/>
          </a:xfrm>
          <a:prstGeom prst="rect">
            <a:avLst/>
          </a:prstGeom>
          <a:noFill/>
        </p:spPr>
        <p:txBody>
          <a:bodyPr wrap="none" rtlCol="0">
            <a:spAutoFit/>
          </a:bodyPr>
          <a:lstStyle/>
          <a:p>
            <a:r>
              <a:rPr lang="zh-CN" altLang="en-US" b="1" dirty="0">
                <a:solidFill>
                  <a:srgbClr val="0070C0"/>
                </a:solidFill>
              </a:rPr>
              <a:t>优化制作促销创意素材</a:t>
            </a:r>
          </a:p>
        </p:txBody>
      </p:sp>
      <p:sp>
        <p:nvSpPr>
          <p:cNvPr id="13" name="TextBox 12"/>
          <p:cNvSpPr txBox="1"/>
          <p:nvPr/>
        </p:nvSpPr>
        <p:spPr>
          <a:xfrm>
            <a:off x="10025090" y="2714620"/>
            <a:ext cx="1346844" cy="369332"/>
          </a:xfrm>
          <a:prstGeom prst="rect">
            <a:avLst/>
          </a:prstGeom>
          <a:noFill/>
        </p:spPr>
        <p:txBody>
          <a:bodyPr wrap="none" rtlCol="0">
            <a:spAutoFit/>
          </a:bodyPr>
          <a:lstStyle/>
          <a:p>
            <a:r>
              <a:rPr lang="zh-CN" altLang="en-US" b="1" dirty="0">
                <a:solidFill>
                  <a:srgbClr val="0070C0"/>
                </a:solidFill>
              </a:rPr>
              <a:t>招募联盟商</a:t>
            </a:r>
          </a:p>
        </p:txBody>
      </p:sp>
      <p:sp>
        <p:nvSpPr>
          <p:cNvPr id="14" name="等腰三角形 13"/>
          <p:cNvSpPr/>
          <p:nvPr/>
        </p:nvSpPr>
        <p:spPr>
          <a:xfrm>
            <a:off x="5310182" y="3786190"/>
            <a:ext cx="1857388" cy="1071570"/>
          </a:xfrm>
          <a:prstGeom prst="triangl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p:cNvSpPr txBox="1"/>
          <p:nvPr/>
        </p:nvSpPr>
        <p:spPr>
          <a:xfrm>
            <a:off x="4095736" y="5000637"/>
            <a:ext cx="4790094" cy="584775"/>
          </a:xfrm>
          <a:prstGeom prst="rect">
            <a:avLst/>
          </a:prstGeom>
          <a:noFill/>
        </p:spPr>
        <p:txBody>
          <a:bodyPr wrap="none" rtlCol="0">
            <a:spAutoFit/>
          </a:bodyPr>
          <a:lstStyle/>
          <a:p>
            <a:r>
              <a:rPr lang="en-US" altLang="zh-CN" sz="3200" b="1" dirty="0">
                <a:solidFill>
                  <a:srgbClr val="0070C0"/>
                </a:solidFill>
              </a:rPr>
              <a:t>Advertisers or Publishers</a:t>
            </a:r>
            <a:endParaRPr lang="zh-CN" altLang="en-US" sz="3200" b="1" dirty="0">
              <a:solidFill>
                <a:srgbClr val="0070C0"/>
              </a:solidFill>
            </a:endParaRPr>
          </a:p>
        </p:txBody>
      </p:sp>
    </p:spTree>
    <p:extLst>
      <p:ext uri="{BB962C8B-B14F-4D97-AF65-F5344CB8AC3E}">
        <p14:creationId xmlns:p14="http://schemas.microsoft.com/office/powerpoint/2010/main" val="2731870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站内流量来源</a:t>
            </a:r>
          </a:p>
        </p:txBody>
      </p:sp>
      <p:sp>
        <p:nvSpPr>
          <p:cNvPr id="3" name="TextBox 2"/>
          <p:cNvSpPr txBox="1"/>
          <p:nvPr/>
        </p:nvSpPr>
        <p:spPr>
          <a:xfrm>
            <a:off x="2809853" y="857232"/>
            <a:ext cx="6224781" cy="523220"/>
          </a:xfrm>
          <a:prstGeom prst="rect">
            <a:avLst/>
          </a:prstGeom>
          <a:noFill/>
        </p:spPr>
        <p:txBody>
          <a:bodyPr wrap="none" rtlCol="0">
            <a:spAutoFit/>
          </a:bodyPr>
          <a:lstStyle/>
          <a:p>
            <a:r>
              <a:rPr lang="en-US" altLang="zh-CN" sz="2800" b="1" dirty="0">
                <a:solidFill>
                  <a:srgbClr val="0070C0"/>
                </a:solidFill>
              </a:rPr>
              <a:t>Amazon Affiliate Ads </a:t>
            </a:r>
            <a:r>
              <a:rPr lang="zh-CN" altLang="en-US" sz="2800" b="1" dirty="0">
                <a:solidFill>
                  <a:srgbClr val="0070C0"/>
                </a:solidFill>
              </a:rPr>
              <a:t>亚马逊联盟广告</a:t>
            </a:r>
          </a:p>
        </p:txBody>
      </p:sp>
      <p:cxnSp>
        <p:nvCxnSpPr>
          <p:cNvPr id="5" name="肘形连接符 4"/>
          <p:cNvCxnSpPr/>
          <p:nvPr/>
        </p:nvCxnSpPr>
        <p:spPr>
          <a:xfrm>
            <a:off x="1381092" y="2571744"/>
            <a:ext cx="3643338" cy="1071570"/>
          </a:xfrm>
          <a:prstGeom prst="bentConnector3">
            <a:avLst>
              <a:gd name="adj1" fmla="val 50000"/>
            </a:avLst>
          </a:prstGeom>
          <a:ln w="38100">
            <a:solidFill>
              <a:schemeClr val="accent6">
                <a:lumMod val="75000"/>
              </a:schemeClr>
            </a:solidFill>
            <a:tailEnd type="arrow"/>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 name="肘形连接符 7"/>
          <p:cNvCxnSpPr/>
          <p:nvPr/>
        </p:nvCxnSpPr>
        <p:spPr>
          <a:xfrm>
            <a:off x="7167570" y="3643314"/>
            <a:ext cx="4500594" cy="1357322"/>
          </a:xfrm>
          <a:prstGeom prst="bentConnector3">
            <a:avLst>
              <a:gd name="adj1" fmla="val 50000"/>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666844" y="2071678"/>
            <a:ext cx="1107996" cy="369332"/>
          </a:xfrm>
          <a:prstGeom prst="rect">
            <a:avLst/>
          </a:prstGeom>
          <a:noFill/>
          <a:effectLst>
            <a:outerShdw blurRad="50800" dist="38100" dir="8100000" algn="tr" rotWithShape="0">
              <a:prstClr val="black">
                <a:alpha val="40000"/>
              </a:prstClr>
            </a:outerShdw>
          </a:effectLst>
        </p:spPr>
        <p:txBody>
          <a:bodyPr wrap="none" rtlCol="0">
            <a:spAutoFit/>
          </a:bodyPr>
          <a:lstStyle/>
          <a:p>
            <a:r>
              <a:rPr lang="zh-CN" altLang="en-US" b="1" dirty="0">
                <a:solidFill>
                  <a:srgbClr val="0070C0"/>
                </a:solidFill>
              </a:rPr>
              <a:t>佣金比例</a:t>
            </a:r>
          </a:p>
        </p:txBody>
      </p:sp>
      <p:sp>
        <p:nvSpPr>
          <p:cNvPr id="12" name="TextBox 11"/>
          <p:cNvSpPr txBox="1"/>
          <p:nvPr/>
        </p:nvSpPr>
        <p:spPr>
          <a:xfrm>
            <a:off x="3595670" y="3143248"/>
            <a:ext cx="1107996" cy="369332"/>
          </a:xfrm>
          <a:prstGeom prst="rect">
            <a:avLst/>
          </a:prstGeom>
          <a:noFill/>
          <a:effectLst>
            <a:outerShdw blurRad="50800" dist="38100" dir="5400000" algn="t" rotWithShape="0">
              <a:prstClr val="black">
                <a:alpha val="40000"/>
              </a:prstClr>
            </a:outerShdw>
          </a:effectLst>
        </p:spPr>
        <p:txBody>
          <a:bodyPr wrap="none" rtlCol="0">
            <a:spAutoFit/>
          </a:bodyPr>
          <a:lstStyle/>
          <a:p>
            <a:r>
              <a:rPr lang="zh-CN" altLang="en-US" b="1" dirty="0">
                <a:solidFill>
                  <a:srgbClr val="0070C0"/>
                </a:solidFill>
              </a:rPr>
              <a:t>产品单价</a:t>
            </a:r>
          </a:p>
        </p:txBody>
      </p:sp>
      <p:sp>
        <p:nvSpPr>
          <p:cNvPr id="13" name="TextBox 12"/>
          <p:cNvSpPr txBox="1"/>
          <p:nvPr/>
        </p:nvSpPr>
        <p:spPr>
          <a:xfrm>
            <a:off x="7381884" y="3143248"/>
            <a:ext cx="1114408" cy="369332"/>
          </a:xfrm>
          <a:prstGeom prst="rect">
            <a:avLst/>
          </a:prstGeom>
          <a:noFill/>
          <a:effectLst>
            <a:outerShdw blurRad="50800" dist="38100" dir="5400000" algn="t" rotWithShape="0">
              <a:prstClr val="black">
                <a:alpha val="40000"/>
              </a:prstClr>
            </a:outerShdw>
          </a:effectLst>
        </p:spPr>
        <p:txBody>
          <a:bodyPr wrap="none" rtlCol="0">
            <a:spAutoFit/>
          </a:bodyPr>
          <a:lstStyle/>
          <a:p>
            <a:r>
              <a:rPr lang="zh-CN" altLang="en-US" b="1" dirty="0">
                <a:solidFill>
                  <a:srgbClr val="0070C0"/>
                </a:solidFill>
              </a:rPr>
              <a:t>创意形式</a:t>
            </a:r>
          </a:p>
        </p:txBody>
      </p:sp>
      <p:sp>
        <p:nvSpPr>
          <p:cNvPr id="14" name="TextBox 13"/>
          <p:cNvSpPr txBox="1"/>
          <p:nvPr/>
        </p:nvSpPr>
        <p:spPr>
          <a:xfrm>
            <a:off x="9382149" y="4429132"/>
            <a:ext cx="2276585" cy="369332"/>
          </a:xfrm>
          <a:prstGeom prst="rect">
            <a:avLst/>
          </a:prstGeom>
          <a:noFill/>
          <a:effectLst>
            <a:outerShdw blurRad="50800" dist="38100" dir="5400000" algn="t" rotWithShape="0">
              <a:prstClr val="black">
                <a:alpha val="40000"/>
              </a:prstClr>
            </a:outerShdw>
          </a:effectLst>
        </p:spPr>
        <p:txBody>
          <a:bodyPr wrap="none" rtlCol="0">
            <a:spAutoFit/>
          </a:bodyPr>
          <a:lstStyle/>
          <a:p>
            <a:r>
              <a:rPr lang="zh-CN" altLang="en-US" b="1" dirty="0">
                <a:solidFill>
                  <a:srgbClr val="0070C0"/>
                </a:solidFill>
              </a:rPr>
              <a:t>联盟商数量和活跃度</a:t>
            </a:r>
          </a:p>
        </p:txBody>
      </p:sp>
      <p:sp>
        <p:nvSpPr>
          <p:cNvPr id="16" name="流程图: 联系 15"/>
          <p:cNvSpPr/>
          <p:nvPr/>
        </p:nvSpPr>
        <p:spPr>
          <a:xfrm>
            <a:off x="5524496" y="3000372"/>
            <a:ext cx="1285884" cy="1357322"/>
          </a:xfrm>
          <a:prstGeom prst="flowChartConnector">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Factors</a:t>
            </a:r>
            <a:endParaRPr lang="zh-CN" altLang="en-US" b="1" dirty="0"/>
          </a:p>
        </p:txBody>
      </p:sp>
      <p:graphicFrame>
        <p:nvGraphicFramePr>
          <p:cNvPr id="19" name="图示 18"/>
          <p:cNvGraphicFramePr/>
          <p:nvPr/>
        </p:nvGraphicFramePr>
        <p:xfrm>
          <a:off x="3595670" y="4214794"/>
          <a:ext cx="3929090" cy="26432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9029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矩形 2"/>
          <p:cNvSpPr/>
          <p:nvPr/>
        </p:nvSpPr>
        <p:spPr>
          <a:xfrm>
            <a:off x="595274" y="2285992"/>
            <a:ext cx="642942" cy="2286016"/>
          </a:xfrm>
          <a:prstGeom prst="rect">
            <a:avLst/>
          </a:prstGeom>
          <a:solidFill>
            <a:schemeClr val="accent6">
              <a:lumMod val="75000"/>
            </a:schemeClr>
          </a:solidFill>
          <a:ln>
            <a:solidFill>
              <a:schemeClr val="accent6">
                <a:lumMod val="75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站</a:t>
            </a:r>
            <a:endParaRPr lang="en-US" altLang="zh-CN" b="1" dirty="0"/>
          </a:p>
          <a:p>
            <a:pPr algn="ctr"/>
            <a:r>
              <a:rPr lang="zh-CN" altLang="en-US" b="1" dirty="0"/>
              <a:t>外</a:t>
            </a:r>
            <a:endParaRPr lang="en-US" altLang="zh-CN" b="1" dirty="0"/>
          </a:p>
          <a:p>
            <a:pPr algn="ctr"/>
            <a:r>
              <a:rPr lang="zh-CN" altLang="en-US" b="1" dirty="0"/>
              <a:t>流</a:t>
            </a:r>
            <a:endParaRPr lang="en-US" altLang="zh-CN" b="1" dirty="0"/>
          </a:p>
          <a:p>
            <a:pPr algn="ctr"/>
            <a:r>
              <a:rPr lang="zh-CN" altLang="en-US" b="1" dirty="0"/>
              <a:t>量</a:t>
            </a:r>
            <a:endParaRPr lang="en-US" altLang="zh-CN" b="1" dirty="0"/>
          </a:p>
          <a:p>
            <a:pPr algn="ctr"/>
            <a:r>
              <a:rPr lang="zh-CN" altLang="en-US" b="1" dirty="0"/>
              <a:t>来</a:t>
            </a:r>
            <a:endParaRPr lang="en-US" altLang="zh-CN" b="1" dirty="0"/>
          </a:p>
          <a:p>
            <a:pPr algn="ctr"/>
            <a:r>
              <a:rPr lang="zh-CN" altLang="en-US" b="1" dirty="0"/>
              <a:t>源</a:t>
            </a:r>
          </a:p>
        </p:txBody>
      </p:sp>
      <p:sp>
        <p:nvSpPr>
          <p:cNvPr id="4" name="左大括号 3"/>
          <p:cNvSpPr/>
          <p:nvPr/>
        </p:nvSpPr>
        <p:spPr>
          <a:xfrm>
            <a:off x="1523968" y="1428736"/>
            <a:ext cx="785818" cy="3714776"/>
          </a:xfrm>
          <a:prstGeom prst="leftBrace">
            <a:avLst>
              <a:gd name="adj1" fmla="val 8333"/>
              <a:gd name="adj2" fmla="val 4926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TextBox 4"/>
          <p:cNvSpPr txBox="1"/>
          <p:nvPr/>
        </p:nvSpPr>
        <p:spPr>
          <a:xfrm>
            <a:off x="2381224" y="1071546"/>
            <a:ext cx="8715436" cy="923330"/>
          </a:xfrm>
          <a:prstGeom prst="rect">
            <a:avLst/>
          </a:prstGeom>
          <a:solidFill>
            <a:schemeClr val="accent6">
              <a:lumMod val="75000"/>
            </a:schemeClr>
          </a:solidFill>
        </p:spPr>
        <p:txBody>
          <a:bodyPr wrap="square" rtlCol="0">
            <a:spAutoFit/>
          </a:bodyPr>
          <a:lstStyle/>
          <a:p>
            <a:pPr algn="ctr"/>
            <a:r>
              <a:rPr lang="en-US" altLang="zh-CN" b="1" dirty="0">
                <a:solidFill>
                  <a:schemeClr val="bg1"/>
                </a:solidFill>
              </a:rPr>
              <a:t>SNS  (</a:t>
            </a:r>
            <a:r>
              <a:rPr lang="en-US" altLang="zh-CN" b="1" dirty="0" err="1">
                <a:solidFill>
                  <a:schemeClr val="bg1"/>
                </a:solidFill>
              </a:rPr>
              <a:t>Facebook</a:t>
            </a:r>
            <a:r>
              <a:rPr lang="zh-CN" altLang="en-US" b="1" dirty="0">
                <a:solidFill>
                  <a:schemeClr val="bg1"/>
                </a:solidFill>
              </a:rPr>
              <a:t>、</a:t>
            </a:r>
            <a:r>
              <a:rPr lang="en-US" altLang="zh-CN" b="1" dirty="0">
                <a:solidFill>
                  <a:schemeClr val="bg1"/>
                </a:solidFill>
              </a:rPr>
              <a:t>Twitter</a:t>
            </a:r>
            <a:r>
              <a:rPr lang="zh-CN" altLang="en-US" b="1" dirty="0">
                <a:solidFill>
                  <a:schemeClr val="bg1"/>
                </a:solidFill>
              </a:rPr>
              <a:t>、</a:t>
            </a:r>
            <a:r>
              <a:rPr lang="en-US" altLang="zh-CN" b="1" dirty="0" err="1">
                <a:solidFill>
                  <a:schemeClr val="bg1"/>
                </a:solidFill>
              </a:rPr>
              <a:t>Youtube</a:t>
            </a:r>
            <a:r>
              <a:rPr lang="zh-CN" altLang="en-US" b="1" dirty="0">
                <a:solidFill>
                  <a:schemeClr val="bg1"/>
                </a:solidFill>
              </a:rPr>
              <a:t>、</a:t>
            </a:r>
            <a:r>
              <a:rPr lang="en-US" altLang="zh-CN" b="1" dirty="0" err="1">
                <a:solidFill>
                  <a:schemeClr val="bg1"/>
                </a:solidFill>
              </a:rPr>
              <a:t>Vk</a:t>
            </a:r>
            <a:r>
              <a:rPr lang="zh-CN" altLang="en-US" b="1" dirty="0">
                <a:solidFill>
                  <a:schemeClr val="bg1"/>
                </a:solidFill>
              </a:rPr>
              <a:t>、</a:t>
            </a:r>
            <a:r>
              <a:rPr lang="en-US" altLang="zh-CN" b="1" dirty="0" err="1">
                <a:solidFill>
                  <a:schemeClr val="bg1"/>
                </a:solidFill>
              </a:rPr>
              <a:t>Instagram</a:t>
            </a:r>
            <a:r>
              <a:rPr lang="zh-CN" altLang="en-US" b="1" dirty="0">
                <a:solidFill>
                  <a:schemeClr val="bg1"/>
                </a:solidFill>
              </a:rPr>
              <a:t>、</a:t>
            </a:r>
            <a:r>
              <a:rPr lang="en-US" altLang="zh-CN" b="1" dirty="0">
                <a:solidFill>
                  <a:schemeClr val="bg1"/>
                </a:solidFill>
              </a:rPr>
              <a:t>Google+</a:t>
            </a:r>
            <a:r>
              <a:rPr lang="zh-CN" altLang="en-US" b="1" dirty="0">
                <a:solidFill>
                  <a:schemeClr val="bg1"/>
                </a:solidFill>
              </a:rPr>
              <a:t>、</a:t>
            </a:r>
            <a:r>
              <a:rPr lang="en-US" altLang="zh-CN" b="1" dirty="0" err="1">
                <a:solidFill>
                  <a:schemeClr val="bg1"/>
                </a:solidFill>
              </a:rPr>
              <a:t>Pinterest</a:t>
            </a:r>
            <a:r>
              <a:rPr lang="en-US" altLang="zh-CN" b="1" dirty="0">
                <a:solidFill>
                  <a:schemeClr val="bg1"/>
                </a:solidFill>
              </a:rPr>
              <a:t>…</a:t>
            </a:r>
            <a:r>
              <a:rPr lang="zh-CN" altLang="en-US" b="1" dirty="0">
                <a:solidFill>
                  <a:schemeClr val="bg1"/>
                </a:solidFill>
              </a:rPr>
              <a:t>）</a:t>
            </a:r>
            <a:endParaRPr lang="en-US" altLang="zh-CN" b="1" dirty="0">
              <a:solidFill>
                <a:schemeClr val="bg1"/>
              </a:solidFill>
            </a:endParaRPr>
          </a:p>
          <a:p>
            <a:pPr algn="ctr"/>
            <a:r>
              <a:rPr lang="zh-CN" altLang="en-US" b="1" dirty="0">
                <a:solidFill>
                  <a:schemeClr val="bg1"/>
                </a:solidFill>
              </a:rPr>
              <a:t>推广形式：</a:t>
            </a:r>
            <a:r>
              <a:rPr lang="en-US" altLang="zh-CN" b="1" dirty="0">
                <a:solidFill>
                  <a:schemeClr val="bg1"/>
                </a:solidFill>
              </a:rPr>
              <a:t>Post</a:t>
            </a:r>
            <a:r>
              <a:rPr lang="zh-CN" altLang="en-US" b="1" dirty="0">
                <a:solidFill>
                  <a:schemeClr val="bg1"/>
                </a:solidFill>
              </a:rPr>
              <a:t>、</a:t>
            </a:r>
            <a:r>
              <a:rPr lang="en-US" altLang="zh-CN" b="1" dirty="0">
                <a:solidFill>
                  <a:schemeClr val="bg1"/>
                </a:solidFill>
              </a:rPr>
              <a:t>Group</a:t>
            </a:r>
            <a:r>
              <a:rPr lang="zh-CN" altLang="en-US" b="1" dirty="0">
                <a:solidFill>
                  <a:schemeClr val="bg1"/>
                </a:solidFill>
              </a:rPr>
              <a:t>、</a:t>
            </a:r>
            <a:r>
              <a:rPr lang="en-US" altLang="zh-CN" b="1" dirty="0">
                <a:solidFill>
                  <a:schemeClr val="bg1"/>
                </a:solidFill>
              </a:rPr>
              <a:t>Ads</a:t>
            </a:r>
            <a:r>
              <a:rPr lang="zh-CN" altLang="en-US" b="1" dirty="0">
                <a:solidFill>
                  <a:schemeClr val="bg1"/>
                </a:solidFill>
              </a:rPr>
              <a:t>、</a:t>
            </a:r>
            <a:r>
              <a:rPr lang="en-US" altLang="zh-CN" b="1" dirty="0">
                <a:solidFill>
                  <a:schemeClr val="bg1"/>
                </a:solidFill>
              </a:rPr>
              <a:t>Influencer Marketing </a:t>
            </a:r>
            <a:r>
              <a:rPr lang="zh-CN" altLang="en-US" b="1" dirty="0">
                <a:solidFill>
                  <a:schemeClr val="bg1"/>
                </a:solidFill>
              </a:rPr>
              <a:t>  缺点：见效缓慢，定位不精确</a:t>
            </a:r>
          </a:p>
        </p:txBody>
      </p:sp>
      <p:sp>
        <p:nvSpPr>
          <p:cNvPr id="7" name="TextBox 6"/>
          <p:cNvSpPr txBox="1"/>
          <p:nvPr/>
        </p:nvSpPr>
        <p:spPr>
          <a:xfrm>
            <a:off x="2381224" y="2857497"/>
            <a:ext cx="8715436" cy="646331"/>
          </a:xfrm>
          <a:prstGeom prst="rect">
            <a:avLst/>
          </a:prstGeom>
          <a:solidFill>
            <a:schemeClr val="accent6">
              <a:lumMod val="75000"/>
            </a:schemeClr>
          </a:solidFill>
        </p:spPr>
        <p:txBody>
          <a:bodyPr wrap="square" rtlCol="0">
            <a:spAutoFit/>
          </a:bodyPr>
          <a:lstStyle/>
          <a:p>
            <a:pPr algn="ctr"/>
            <a:r>
              <a:rPr lang="en-US" altLang="zh-CN" b="1" dirty="0">
                <a:solidFill>
                  <a:schemeClr val="bg1"/>
                </a:solidFill>
              </a:rPr>
              <a:t>SEM (Google Display Network</a:t>
            </a:r>
            <a:r>
              <a:rPr lang="zh-CN" altLang="en-US" b="1" dirty="0">
                <a:solidFill>
                  <a:schemeClr val="bg1"/>
                </a:solidFill>
              </a:rPr>
              <a:t>、</a:t>
            </a:r>
            <a:r>
              <a:rPr lang="en-US" altLang="zh-CN" b="1" dirty="0">
                <a:solidFill>
                  <a:schemeClr val="bg1"/>
                </a:solidFill>
              </a:rPr>
              <a:t> </a:t>
            </a:r>
            <a:r>
              <a:rPr lang="en-US" altLang="zh-CN" b="1" dirty="0" err="1">
                <a:solidFill>
                  <a:schemeClr val="bg1"/>
                </a:solidFill>
              </a:rPr>
              <a:t>Taboola</a:t>
            </a:r>
            <a:r>
              <a:rPr lang="zh-CN" altLang="en-US" b="1" dirty="0">
                <a:solidFill>
                  <a:schemeClr val="bg1"/>
                </a:solidFill>
              </a:rPr>
              <a:t>、</a:t>
            </a:r>
            <a:r>
              <a:rPr lang="en-US" altLang="zh-CN" b="1" dirty="0" err="1">
                <a:solidFill>
                  <a:schemeClr val="bg1"/>
                </a:solidFill>
              </a:rPr>
              <a:t>Outbrain</a:t>
            </a:r>
            <a:r>
              <a:rPr lang="en-US" altLang="zh-CN" b="1" dirty="0">
                <a:solidFill>
                  <a:schemeClr val="bg1"/>
                </a:solidFill>
              </a:rPr>
              <a:t>… </a:t>
            </a:r>
            <a:r>
              <a:rPr lang="zh-CN" altLang="en-US" b="1" dirty="0">
                <a:solidFill>
                  <a:schemeClr val="bg1"/>
                </a:solidFill>
              </a:rPr>
              <a:t>）</a:t>
            </a:r>
            <a:endParaRPr lang="en-US" altLang="zh-CN" b="1" dirty="0">
              <a:solidFill>
                <a:schemeClr val="bg1"/>
              </a:solidFill>
            </a:endParaRPr>
          </a:p>
          <a:p>
            <a:pPr algn="ctr"/>
            <a:r>
              <a:rPr lang="zh-CN" altLang="en-US" b="1" dirty="0">
                <a:solidFill>
                  <a:schemeClr val="bg1"/>
                </a:solidFill>
              </a:rPr>
              <a:t>推广形式：图片广告、内容营销      缺点：流量定位不精准，成本大，</a:t>
            </a:r>
            <a:r>
              <a:rPr lang="en-US" altLang="zh-CN" b="1" dirty="0">
                <a:solidFill>
                  <a:schemeClr val="bg1"/>
                </a:solidFill>
              </a:rPr>
              <a:t>ROI</a:t>
            </a:r>
            <a:r>
              <a:rPr lang="zh-CN" altLang="en-US" b="1" dirty="0">
                <a:solidFill>
                  <a:schemeClr val="bg1"/>
                </a:solidFill>
              </a:rPr>
              <a:t>低</a:t>
            </a:r>
          </a:p>
        </p:txBody>
      </p:sp>
      <p:sp>
        <p:nvSpPr>
          <p:cNvPr id="8" name="TextBox 7"/>
          <p:cNvSpPr txBox="1"/>
          <p:nvPr/>
        </p:nvSpPr>
        <p:spPr>
          <a:xfrm>
            <a:off x="2381224" y="4714885"/>
            <a:ext cx="8715436" cy="646331"/>
          </a:xfrm>
          <a:prstGeom prst="rect">
            <a:avLst/>
          </a:prstGeom>
          <a:solidFill>
            <a:schemeClr val="accent6">
              <a:lumMod val="75000"/>
            </a:schemeClr>
          </a:solidFill>
        </p:spPr>
        <p:txBody>
          <a:bodyPr wrap="square" rtlCol="0">
            <a:spAutoFit/>
          </a:bodyPr>
          <a:lstStyle/>
          <a:p>
            <a:pPr algn="ctr"/>
            <a:r>
              <a:rPr lang="en-US" altLang="zh-CN" b="1" dirty="0">
                <a:solidFill>
                  <a:schemeClr val="bg1"/>
                </a:solidFill>
              </a:rPr>
              <a:t>Referral (Blog</a:t>
            </a:r>
            <a:r>
              <a:rPr lang="zh-CN" altLang="en-US" b="1" dirty="0">
                <a:solidFill>
                  <a:schemeClr val="bg1"/>
                </a:solidFill>
              </a:rPr>
              <a:t>、</a:t>
            </a:r>
            <a:r>
              <a:rPr lang="en-US" altLang="zh-CN" b="1" dirty="0">
                <a:solidFill>
                  <a:schemeClr val="bg1"/>
                </a:solidFill>
              </a:rPr>
              <a:t> Evaluation </a:t>
            </a:r>
            <a:r>
              <a:rPr lang="zh-CN" altLang="en-US" b="1" dirty="0">
                <a:solidFill>
                  <a:schemeClr val="bg1"/>
                </a:solidFill>
              </a:rPr>
              <a:t>、</a:t>
            </a:r>
            <a:r>
              <a:rPr lang="en-US" altLang="zh-CN" b="1" dirty="0">
                <a:solidFill>
                  <a:schemeClr val="bg1"/>
                </a:solidFill>
              </a:rPr>
              <a:t>Deals</a:t>
            </a:r>
            <a:r>
              <a:rPr lang="zh-CN" altLang="en-US" b="1" dirty="0">
                <a:solidFill>
                  <a:schemeClr val="bg1"/>
                </a:solidFill>
              </a:rPr>
              <a:t>、</a:t>
            </a:r>
            <a:r>
              <a:rPr lang="en-US" altLang="zh-CN" b="1" dirty="0">
                <a:solidFill>
                  <a:schemeClr val="bg1"/>
                </a:solidFill>
              </a:rPr>
              <a:t>Coupon…</a:t>
            </a:r>
            <a:r>
              <a:rPr lang="zh-CN" altLang="en-US" b="1" dirty="0">
                <a:solidFill>
                  <a:schemeClr val="bg1"/>
                </a:solidFill>
              </a:rPr>
              <a:t>）</a:t>
            </a:r>
            <a:endParaRPr lang="en-US" altLang="zh-CN" b="1" dirty="0">
              <a:solidFill>
                <a:schemeClr val="bg1"/>
              </a:solidFill>
            </a:endParaRPr>
          </a:p>
          <a:p>
            <a:pPr algn="ctr"/>
            <a:r>
              <a:rPr lang="zh-CN" altLang="en-US" b="1" dirty="0">
                <a:solidFill>
                  <a:schemeClr val="bg1"/>
                </a:solidFill>
              </a:rPr>
              <a:t>推广形式：图片广告、内容营销      缺点：流量定位不精准，成本大，</a:t>
            </a:r>
            <a:r>
              <a:rPr lang="en-US" altLang="zh-CN" b="1" dirty="0">
                <a:solidFill>
                  <a:schemeClr val="bg1"/>
                </a:solidFill>
              </a:rPr>
              <a:t>ROI</a:t>
            </a:r>
            <a:r>
              <a:rPr lang="zh-CN" altLang="en-US" b="1" dirty="0">
                <a:solidFill>
                  <a:schemeClr val="bg1"/>
                </a:solidFill>
              </a:rPr>
              <a:t>低</a:t>
            </a:r>
          </a:p>
        </p:txBody>
      </p:sp>
      <p:sp>
        <p:nvSpPr>
          <p:cNvPr id="9" name="TextBox 8"/>
          <p:cNvSpPr txBox="1"/>
          <p:nvPr/>
        </p:nvSpPr>
        <p:spPr>
          <a:xfrm>
            <a:off x="3381356" y="5929330"/>
            <a:ext cx="5416868" cy="369332"/>
          </a:xfrm>
          <a:prstGeom prst="rect">
            <a:avLst/>
          </a:prstGeom>
          <a:noFill/>
        </p:spPr>
        <p:txBody>
          <a:bodyPr wrap="none" rtlCol="0">
            <a:spAutoFit/>
          </a:bodyPr>
          <a:lstStyle/>
          <a:p>
            <a:r>
              <a:rPr lang="zh-CN" altLang="en-US" b="1" dirty="0">
                <a:solidFill>
                  <a:srgbClr val="7030A0"/>
                </a:solidFill>
                <a:latin typeface="Arial Unicode MS" pitchFamily="34" charset="-122"/>
                <a:ea typeface="Arial Unicode MS" pitchFamily="34" charset="-122"/>
                <a:cs typeface="Arial Unicode MS" pitchFamily="34" charset="-122"/>
              </a:rPr>
              <a:t>所有的</a:t>
            </a:r>
            <a:r>
              <a:rPr lang="en-US" altLang="zh-CN" b="1" dirty="0">
                <a:solidFill>
                  <a:srgbClr val="7030A0"/>
                </a:solidFill>
                <a:latin typeface="Arial Unicode MS" pitchFamily="34" charset="-122"/>
                <a:ea typeface="Arial Unicode MS" pitchFamily="34" charset="-122"/>
                <a:cs typeface="Arial Unicode MS" pitchFamily="34" charset="-122"/>
              </a:rPr>
              <a:t>Amazon</a:t>
            </a:r>
            <a:r>
              <a:rPr lang="zh-CN" altLang="en-US" b="1" dirty="0">
                <a:solidFill>
                  <a:srgbClr val="7030A0"/>
                </a:solidFill>
                <a:latin typeface="Arial Unicode MS" pitchFamily="34" charset="-122"/>
                <a:ea typeface="Arial Unicode MS" pitchFamily="34" charset="-122"/>
                <a:cs typeface="Arial Unicode MS" pitchFamily="34" charset="-122"/>
              </a:rPr>
              <a:t>站外引荐流量都不好跟踪订单销售额</a:t>
            </a:r>
          </a:p>
        </p:txBody>
      </p:sp>
    </p:spTree>
    <p:extLst>
      <p:ext uri="{BB962C8B-B14F-4D97-AF65-F5344CB8AC3E}">
        <p14:creationId xmlns:p14="http://schemas.microsoft.com/office/powerpoint/2010/main" val="12149552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4381488" y="571481"/>
            <a:ext cx="285752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p>
        </p:txBody>
      </p:sp>
      <p:cxnSp>
        <p:nvCxnSpPr>
          <p:cNvPr id="6" name="直接连接符 5"/>
          <p:cNvCxnSpPr/>
          <p:nvPr/>
        </p:nvCxnSpPr>
        <p:spPr>
          <a:xfrm>
            <a:off x="3452794" y="3357562"/>
            <a:ext cx="4500594" cy="1588"/>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5400000">
            <a:off x="4453720" y="3571082"/>
            <a:ext cx="2857520" cy="1588"/>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309918" y="1643050"/>
            <a:ext cx="5357850" cy="369332"/>
          </a:xfrm>
          <a:prstGeom prst="rect">
            <a:avLst/>
          </a:prstGeom>
          <a:solidFill>
            <a:schemeClr val="accent6">
              <a:lumMod val="75000"/>
            </a:schemeClr>
          </a:solidFill>
          <a:ln>
            <a:solidFill>
              <a:schemeClr val="accent6">
                <a:lumMod val="75000"/>
              </a:schemeClr>
            </a:solidFill>
          </a:ln>
        </p:spPr>
        <p:txBody>
          <a:bodyPr wrap="square" rtlCol="0">
            <a:spAutoFit/>
          </a:bodyPr>
          <a:lstStyle/>
          <a:p>
            <a:pPr algn="ctr"/>
            <a:r>
              <a:rPr lang="zh-CN" altLang="en-US" b="1" dirty="0">
                <a:solidFill>
                  <a:schemeClr val="bg1"/>
                </a:solidFill>
              </a:rPr>
              <a:t>平台综合性：</a:t>
            </a:r>
            <a:r>
              <a:rPr lang="en-US" altLang="zh-CN" b="1" dirty="0" err="1">
                <a:solidFill>
                  <a:schemeClr val="bg1"/>
                </a:solidFill>
              </a:rPr>
              <a:t>Facebook</a:t>
            </a:r>
            <a:r>
              <a:rPr lang="zh-CN" altLang="en-US" b="1" dirty="0">
                <a:solidFill>
                  <a:schemeClr val="bg1"/>
                </a:solidFill>
              </a:rPr>
              <a:t>、</a:t>
            </a:r>
            <a:r>
              <a:rPr lang="en-US" altLang="zh-CN" b="1" dirty="0" err="1">
                <a:solidFill>
                  <a:schemeClr val="bg1"/>
                </a:solidFill>
              </a:rPr>
              <a:t>Youtube</a:t>
            </a:r>
            <a:r>
              <a:rPr lang="zh-CN" altLang="en-US" b="1" dirty="0">
                <a:solidFill>
                  <a:schemeClr val="bg1"/>
                </a:solidFill>
              </a:rPr>
              <a:t>、</a:t>
            </a:r>
            <a:r>
              <a:rPr lang="en-US" altLang="zh-CN" b="1" dirty="0">
                <a:solidFill>
                  <a:schemeClr val="bg1"/>
                </a:solidFill>
              </a:rPr>
              <a:t>Twitter</a:t>
            </a:r>
            <a:endParaRPr lang="zh-CN" altLang="en-US" b="1" dirty="0">
              <a:solidFill>
                <a:schemeClr val="bg1"/>
              </a:solidFill>
            </a:endParaRPr>
          </a:p>
        </p:txBody>
      </p:sp>
      <p:sp>
        <p:nvSpPr>
          <p:cNvPr id="19" name="TextBox 18"/>
          <p:cNvSpPr txBox="1"/>
          <p:nvPr/>
        </p:nvSpPr>
        <p:spPr>
          <a:xfrm>
            <a:off x="238084" y="3071811"/>
            <a:ext cx="3143272" cy="646331"/>
          </a:xfrm>
          <a:prstGeom prst="rect">
            <a:avLst/>
          </a:prstGeom>
          <a:solidFill>
            <a:schemeClr val="accent6">
              <a:lumMod val="75000"/>
            </a:schemeClr>
          </a:solidFill>
          <a:ln>
            <a:solidFill>
              <a:schemeClr val="accent6">
                <a:lumMod val="75000"/>
              </a:schemeClr>
            </a:solidFill>
          </a:ln>
        </p:spPr>
        <p:txBody>
          <a:bodyPr wrap="square" rtlCol="0">
            <a:spAutoFit/>
          </a:bodyPr>
          <a:lstStyle/>
          <a:p>
            <a:r>
              <a:rPr lang="zh-CN" altLang="en-US" b="1" dirty="0">
                <a:solidFill>
                  <a:schemeClr val="bg1"/>
                </a:solidFill>
              </a:rPr>
              <a:t>   受众细分：</a:t>
            </a:r>
            <a:r>
              <a:rPr lang="en-US" altLang="zh-CN" b="1" dirty="0">
                <a:solidFill>
                  <a:schemeClr val="bg1"/>
                </a:solidFill>
              </a:rPr>
              <a:t>INS</a:t>
            </a:r>
            <a:r>
              <a:rPr lang="zh-CN" altLang="en-US" b="1" dirty="0">
                <a:solidFill>
                  <a:schemeClr val="bg1"/>
                </a:solidFill>
              </a:rPr>
              <a:t>、</a:t>
            </a:r>
            <a:r>
              <a:rPr lang="en-US" altLang="zh-CN" b="1" dirty="0" err="1">
                <a:solidFill>
                  <a:schemeClr val="bg1"/>
                </a:solidFill>
              </a:rPr>
              <a:t>Pinterest</a:t>
            </a:r>
            <a:endParaRPr lang="en-US" altLang="zh-CN" b="1" dirty="0">
              <a:solidFill>
                <a:schemeClr val="bg1"/>
              </a:solidFill>
            </a:endParaRPr>
          </a:p>
          <a:p>
            <a:r>
              <a:rPr lang="zh-CN" altLang="en-US" b="1" dirty="0">
                <a:solidFill>
                  <a:schemeClr val="bg1"/>
                </a:solidFill>
              </a:rPr>
              <a:t>适合时尚类、服装类等产品</a:t>
            </a:r>
          </a:p>
        </p:txBody>
      </p:sp>
      <p:sp>
        <p:nvSpPr>
          <p:cNvPr id="20" name="TextBox 19"/>
          <p:cNvSpPr txBox="1"/>
          <p:nvPr/>
        </p:nvSpPr>
        <p:spPr>
          <a:xfrm>
            <a:off x="8096264" y="3143248"/>
            <a:ext cx="2571768" cy="369332"/>
          </a:xfrm>
          <a:prstGeom prst="rect">
            <a:avLst/>
          </a:prstGeom>
          <a:solidFill>
            <a:schemeClr val="accent6">
              <a:lumMod val="75000"/>
            </a:schemeClr>
          </a:solidFill>
          <a:ln>
            <a:solidFill>
              <a:schemeClr val="accent6">
                <a:lumMod val="75000"/>
              </a:schemeClr>
            </a:solidFill>
          </a:ln>
        </p:spPr>
        <p:txBody>
          <a:bodyPr wrap="square" rtlCol="0">
            <a:spAutoFit/>
          </a:bodyPr>
          <a:lstStyle/>
          <a:p>
            <a:r>
              <a:rPr lang="zh-CN" altLang="en-US" b="1" dirty="0">
                <a:solidFill>
                  <a:schemeClr val="bg1"/>
                </a:solidFill>
              </a:rPr>
              <a:t>   地域受众：</a:t>
            </a:r>
            <a:r>
              <a:rPr lang="en-US" altLang="zh-CN" b="1" dirty="0">
                <a:solidFill>
                  <a:schemeClr val="bg1"/>
                </a:solidFill>
              </a:rPr>
              <a:t>VK</a:t>
            </a:r>
            <a:r>
              <a:rPr lang="zh-CN" altLang="en-US" b="1" dirty="0">
                <a:solidFill>
                  <a:schemeClr val="bg1"/>
                </a:solidFill>
              </a:rPr>
              <a:t>、</a:t>
            </a:r>
            <a:r>
              <a:rPr lang="en-US" altLang="zh-CN" b="1" dirty="0">
                <a:solidFill>
                  <a:schemeClr val="bg1"/>
                </a:solidFill>
              </a:rPr>
              <a:t>Line</a:t>
            </a:r>
            <a:endParaRPr lang="zh-CN" altLang="en-US" b="1" dirty="0">
              <a:solidFill>
                <a:schemeClr val="bg1"/>
              </a:solidFill>
            </a:endParaRPr>
          </a:p>
        </p:txBody>
      </p:sp>
      <p:sp>
        <p:nvSpPr>
          <p:cNvPr id="21" name="TextBox 20"/>
          <p:cNvSpPr txBox="1"/>
          <p:nvPr/>
        </p:nvSpPr>
        <p:spPr>
          <a:xfrm>
            <a:off x="3309918" y="5072074"/>
            <a:ext cx="5357850" cy="369332"/>
          </a:xfrm>
          <a:prstGeom prst="rect">
            <a:avLst/>
          </a:prstGeom>
          <a:solidFill>
            <a:srgbClr val="0070C0"/>
          </a:solidFill>
          <a:ln>
            <a:solidFill>
              <a:srgbClr val="0070C0"/>
            </a:solidFill>
          </a:ln>
        </p:spPr>
        <p:txBody>
          <a:bodyPr wrap="square" rtlCol="0">
            <a:spAutoFit/>
          </a:bodyPr>
          <a:lstStyle/>
          <a:p>
            <a:pPr algn="ctr"/>
            <a:r>
              <a:rPr lang="zh-CN" altLang="en-US" b="1" dirty="0">
                <a:solidFill>
                  <a:schemeClr val="bg1"/>
                </a:solidFill>
              </a:rPr>
              <a:t>决定因素：粉丝精准性、粉丝活跃度</a:t>
            </a:r>
          </a:p>
        </p:txBody>
      </p:sp>
    </p:spTree>
    <p:extLst>
      <p:ext uri="{BB962C8B-B14F-4D97-AF65-F5344CB8AC3E}">
        <p14:creationId xmlns:p14="http://schemas.microsoft.com/office/powerpoint/2010/main" val="3224365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167042"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r>
              <a:rPr lang="en-US" altLang="zh-CN" sz="3200" b="1" dirty="0" err="1">
                <a:solidFill>
                  <a:srgbClr val="7030A0"/>
                </a:solidFill>
                <a:latin typeface="Arial Unicode MS" pitchFamily="34" charset="-122"/>
                <a:ea typeface="Arial Unicode MS" pitchFamily="34" charset="-122"/>
                <a:cs typeface="Arial Unicode MS" pitchFamily="34" charset="-122"/>
              </a:rPr>
              <a:t>Facebook</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36866" name="Picture 2"/>
          <p:cNvPicPr>
            <a:picLocks noChangeAspect="1" noChangeArrowheads="1"/>
          </p:cNvPicPr>
          <p:nvPr/>
        </p:nvPicPr>
        <p:blipFill>
          <a:blip r:embed="rId2"/>
          <a:srcRect/>
          <a:stretch>
            <a:fillRect/>
          </a:stretch>
        </p:blipFill>
        <p:spPr bwMode="auto">
          <a:xfrm>
            <a:off x="452398" y="1285861"/>
            <a:ext cx="10072758" cy="5085415"/>
          </a:xfrm>
          <a:prstGeom prst="rect">
            <a:avLst/>
          </a:prstGeom>
          <a:noFill/>
          <a:ln w="9525">
            <a:noFill/>
            <a:miter lim="800000"/>
            <a:headEnd/>
            <a:tailEnd/>
          </a:ln>
          <a:effectLst/>
        </p:spPr>
      </p:pic>
      <p:sp>
        <p:nvSpPr>
          <p:cNvPr id="5" name="矩形 4"/>
          <p:cNvSpPr/>
          <p:nvPr/>
        </p:nvSpPr>
        <p:spPr>
          <a:xfrm>
            <a:off x="11168098" y="2571744"/>
            <a:ext cx="357190" cy="2428892"/>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t>确定广告目标</a:t>
            </a:r>
          </a:p>
        </p:txBody>
      </p:sp>
    </p:spTree>
    <p:extLst>
      <p:ext uri="{BB962C8B-B14F-4D97-AF65-F5344CB8AC3E}">
        <p14:creationId xmlns:p14="http://schemas.microsoft.com/office/powerpoint/2010/main" val="41812184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r>
              <a:rPr lang="en-US" altLang="zh-CN" sz="3200" b="1" dirty="0" err="1">
                <a:solidFill>
                  <a:srgbClr val="7030A0"/>
                </a:solidFill>
                <a:latin typeface="Arial Unicode MS" pitchFamily="34" charset="-122"/>
                <a:ea typeface="Arial Unicode MS" pitchFamily="34" charset="-122"/>
                <a:cs typeface="Arial Unicode MS" pitchFamily="34" charset="-122"/>
              </a:rPr>
              <a:t>Facebook</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sp>
        <p:nvSpPr>
          <p:cNvPr id="5" name="TextBox 4"/>
          <p:cNvSpPr txBox="1"/>
          <p:nvPr/>
        </p:nvSpPr>
        <p:spPr>
          <a:xfrm>
            <a:off x="380961" y="1500174"/>
            <a:ext cx="5240537" cy="369332"/>
          </a:xfrm>
          <a:prstGeom prst="rect">
            <a:avLst/>
          </a:prstGeom>
          <a:solidFill>
            <a:schemeClr val="accent6">
              <a:lumMod val="75000"/>
            </a:schemeClr>
          </a:solidFill>
          <a:ln>
            <a:solidFill>
              <a:schemeClr val="accent6">
                <a:lumMod val="75000"/>
              </a:schemeClr>
            </a:solidFill>
          </a:ln>
        </p:spPr>
        <p:txBody>
          <a:bodyPr wrap="none" rtlCol="0">
            <a:spAutoFit/>
          </a:bodyPr>
          <a:lstStyle/>
          <a:p>
            <a:r>
              <a:rPr lang="zh-CN" altLang="en-US" b="1" dirty="0">
                <a:solidFill>
                  <a:schemeClr val="bg1"/>
                </a:solidFill>
              </a:rPr>
              <a:t>第一类：</a:t>
            </a:r>
            <a:r>
              <a:rPr lang="en-US" altLang="zh-CN" b="1" dirty="0">
                <a:solidFill>
                  <a:schemeClr val="bg1"/>
                </a:solidFill>
              </a:rPr>
              <a:t>Boost Traffic to Your Post </a:t>
            </a:r>
            <a:r>
              <a:rPr lang="zh-CN" altLang="en-US" b="1" dirty="0">
                <a:solidFill>
                  <a:schemeClr val="bg1"/>
                </a:solidFill>
              </a:rPr>
              <a:t>推广发帖内容</a:t>
            </a:r>
          </a:p>
        </p:txBody>
      </p:sp>
      <p:graphicFrame>
        <p:nvGraphicFramePr>
          <p:cNvPr id="7" name="图示 6"/>
          <p:cNvGraphicFramePr/>
          <p:nvPr/>
        </p:nvGraphicFramePr>
        <p:xfrm>
          <a:off x="1809720" y="2571745"/>
          <a:ext cx="8143932" cy="29289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7472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r>
              <a:rPr lang="en-US" altLang="zh-CN" sz="3200" b="1" dirty="0" err="1">
                <a:solidFill>
                  <a:srgbClr val="7030A0"/>
                </a:solidFill>
                <a:latin typeface="Arial Unicode MS" pitchFamily="34" charset="-122"/>
                <a:ea typeface="Arial Unicode MS" pitchFamily="34" charset="-122"/>
                <a:cs typeface="Arial Unicode MS" pitchFamily="34" charset="-122"/>
              </a:rPr>
              <a:t>Facebook</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sp>
        <p:nvSpPr>
          <p:cNvPr id="3" name="TextBox 2"/>
          <p:cNvSpPr txBox="1"/>
          <p:nvPr/>
        </p:nvSpPr>
        <p:spPr>
          <a:xfrm>
            <a:off x="380961" y="1500174"/>
            <a:ext cx="5182829" cy="369332"/>
          </a:xfrm>
          <a:prstGeom prst="rect">
            <a:avLst/>
          </a:prstGeom>
          <a:solidFill>
            <a:schemeClr val="accent6">
              <a:lumMod val="75000"/>
            </a:schemeClr>
          </a:solidFill>
          <a:ln>
            <a:solidFill>
              <a:schemeClr val="accent6">
                <a:lumMod val="75000"/>
              </a:schemeClr>
            </a:solidFill>
          </a:ln>
        </p:spPr>
        <p:txBody>
          <a:bodyPr wrap="none" rtlCol="0">
            <a:spAutoFit/>
          </a:bodyPr>
          <a:lstStyle/>
          <a:p>
            <a:r>
              <a:rPr lang="zh-CN" altLang="en-US" b="1" dirty="0">
                <a:solidFill>
                  <a:schemeClr val="bg1"/>
                </a:solidFill>
              </a:rPr>
              <a:t>第二类：</a:t>
            </a:r>
            <a:r>
              <a:rPr lang="en-US" altLang="zh-CN" b="1" dirty="0">
                <a:solidFill>
                  <a:schemeClr val="bg1"/>
                </a:solidFill>
              </a:rPr>
              <a:t>Boost Traffic to Your Products</a:t>
            </a:r>
            <a:r>
              <a:rPr lang="zh-CN" altLang="en-US" b="1" dirty="0">
                <a:solidFill>
                  <a:schemeClr val="bg1"/>
                </a:solidFill>
              </a:rPr>
              <a:t>推广产品</a:t>
            </a:r>
          </a:p>
        </p:txBody>
      </p:sp>
      <p:pic>
        <p:nvPicPr>
          <p:cNvPr id="37890" name="Picture 2"/>
          <p:cNvPicPr>
            <a:picLocks noChangeAspect="1" noChangeArrowheads="1"/>
          </p:cNvPicPr>
          <p:nvPr/>
        </p:nvPicPr>
        <p:blipFill>
          <a:blip r:embed="rId2"/>
          <a:srcRect/>
          <a:stretch>
            <a:fillRect/>
          </a:stretch>
        </p:blipFill>
        <p:spPr bwMode="auto">
          <a:xfrm>
            <a:off x="881026" y="2143117"/>
            <a:ext cx="4000528" cy="3776199"/>
          </a:xfrm>
          <a:prstGeom prst="rect">
            <a:avLst/>
          </a:prstGeom>
          <a:noFill/>
          <a:ln w="9525">
            <a:noFill/>
            <a:miter lim="800000"/>
            <a:headEnd/>
            <a:tailEnd/>
          </a:ln>
          <a:effectLst/>
        </p:spPr>
      </p:pic>
      <p:cxnSp>
        <p:nvCxnSpPr>
          <p:cNvPr id="6" name="直接箭头连接符 5"/>
          <p:cNvCxnSpPr/>
          <p:nvPr/>
        </p:nvCxnSpPr>
        <p:spPr>
          <a:xfrm>
            <a:off x="5310182" y="4000504"/>
            <a:ext cx="1357322" cy="1588"/>
          </a:xfrm>
          <a:prstGeom prst="straightConnector1">
            <a:avLst/>
          </a:prstGeom>
          <a:ln w="762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453322" y="2786059"/>
            <a:ext cx="2714644" cy="2031325"/>
          </a:xfrm>
          <a:prstGeom prst="rect">
            <a:avLst/>
          </a:prstGeom>
          <a:solidFill>
            <a:schemeClr val="accent6">
              <a:lumMod val="75000"/>
            </a:schemeClr>
          </a:solidFill>
        </p:spPr>
        <p:txBody>
          <a:bodyPr wrap="square" rtlCol="0">
            <a:spAutoFit/>
          </a:bodyPr>
          <a:lstStyle/>
          <a:p>
            <a:r>
              <a:rPr lang="en-US" altLang="zh-CN" b="1" dirty="0">
                <a:solidFill>
                  <a:schemeClr val="bg1"/>
                </a:solidFill>
              </a:rPr>
              <a:t>1</a:t>
            </a:r>
            <a:r>
              <a:rPr lang="zh-CN" altLang="en-US" b="1" dirty="0">
                <a:solidFill>
                  <a:schemeClr val="bg1"/>
                </a:solidFill>
              </a:rPr>
              <a:t>、增加网站转化</a:t>
            </a:r>
            <a:endParaRPr lang="en-US" altLang="zh-CN" b="1" dirty="0">
              <a:solidFill>
                <a:schemeClr val="bg1"/>
              </a:solidFill>
            </a:endParaRPr>
          </a:p>
          <a:p>
            <a:endParaRPr lang="en-US" altLang="zh-CN" b="1" dirty="0">
              <a:solidFill>
                <a:schemeClr val="bg1"/>
              </a:solidFill>
            </a:endParaRPr>
          </a:p>
          <a:p>
            <a:r>
              <a:rPr lang="en-US" altLang="zh-CN" b="1" dirty="0">
                <a:solidFill>
                  <a:schemeClr val="bg1"/>
                </a:solidFill>
              </a:rPr>
              <a:t>2</a:t>
            </a:r>
            <a:r>
              <a:rPr lang="zh-CN" altLang="en-US" b="1" dirty="0">
                <a:solidFill>
                  <a:schemeClr val="bg1"/>
                </a:solidFill>
              </a:rPr>
              <a:t>、增加</a:t>
            </a:r>
            <a:r>
              <a:rPr lang="en-US" altLang="zh-CN" b="1" dirty="0">
                <a:solidFill>
                  <a:schemeClr val="bg1"/>
                </a:solidFill>
              </a:rPr>
              <a:t>APP</a:t>
            </a:r>
            <a:r>
              <a:rPr lang="zh-CN" altLang="en-US" b="1" dirty="0">
                <a:solidFill>
                  <a:schemeClr val="bg1"/>
                </a:solidFill>
              </a:rPr>
              <a:t>使用率</a:t>
            </a:r>
            <a:endParaRPr lang="en-US" altLang="zh-CN" b="1" dirty="0">
              <a:solidFill>
                <a:schemeClr val="bg1"/>
              </a:solidFill>
            </a:endParaRPr>
          </a:p>
          <a:p>
            <a:endParaRPr lang="en-US" altLang="zh-CN" b="1" dirty="0">
              <a:solidFill>
                <a:schemeClr val="bg1"/>
              </a:solidFill>
            </a:endParaRPr>
          </a:p>
          <a:p>
            <a:r>
              <a:rPr lang="en-US" altLang="zh-CN" b="1" dirty="0">
                <a:solidFill>
                  <a:schemeClr val="bg1"/>
                </a:solidFill>
              </a:rPr>
              <a:t>3</a:t>
            </a:r>
            <a:r>
              <a:rPr lang="zh-CN" altLang="en-US" b="1" dirty="0">
                <a:solidFill>
                  <a:schemeClr val="bg1"/>
                </a:solidFill>
              </a:rPr>
              <a:t>、吸引用户领取优惠</a:t>
            </a:r>
            <a:endParaRPr lang="en-US" altLang="zh-CN" b="1" dirty="0">
              <a:solidFill>
                <a:schemeClr val="bg1"/>
              </a:solidFill>
            </a:endParaRPr>
          </a:p>
          <a:p>
            <a:endParaRPr lang="en-US" altLang="zh-CN" b="1" dirty="0">
              <a:solidFill>
                <a:schemeClr val="bg1"/>
              </a:solidFill>
            </a:endParaRPr>
          </a:p>
          <a:p>
            <a:r>
              <a:rPr lang="en-US" altLang="zh-CN" b="1" dirty="0">
                <a:solidFill>
                  <a:schemeClr val="bg1"/>
                </a:solidFill>
              </a:rPr>
              <a:t>4</a:t>
            </a:r>
            <a:r>
              <a:rPr lang="zh-CN" altLang="en-US" b="1" dirty="0">
                <a:solidFill>
                  <a:schemeClr val="bg1"/>
                </a:solidFill>
              </a:rPr>
              <a:t>、推广产品目录</a:t>
            </a:r>
          </a:p>
        </p:txBody>
      </p:sp>
      <p:sp>
        <p:nvSpPr>
          <p:cNvPr id="8"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Tree>
    <p:extLst>
      <p:ext uri="{BB962C8B-B14F-4D97-AF65-F5344CB8AC3E}">
        <p14:creationId xmlns:p14="http://schemas.microsoft.com/office/powerpoint/2010/main" val="3496919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r>
              <a:rPr lang="en-US" altLang="zh-CN" sz="3200" b="1" dirty="0" err="1">
                <a:solidFill>
                  <a:srgbClr val="7030A0"/>
                </a:solidFill>
                <a:latin typeface="Arial Unicode MS" pitchFamily="34" charset="-122"/>
                <a:ea typeface="Arial Unicode MS" pitchFamily="34" charset="-122"/>
                <a:cs typeface="Arial Unicode MS" pitchFamily="34" charset="-122"/>
              </a:rPr>
              <a:t>Facebook</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sp>
        <p:nvSpPr>
          <p:cNvPr id="4" name="TextBox 3"/>
          <p:cNvSpPr txBox="1"/>
          <p:nvPr/>
        </p:nvSpPr>
        <p:spPr>
          <a:xfrm>
            <a:off x="380961" y="1357298"/>
            <a:ext cx="5182829" cy="369332"/>
          </a:xfrm>
          <a:prstGeom prst="rect">
            <a:avLst/>
          </a:prstGeom>
          <a:solidFill>
            <a:schemeClr val="accent6">
              <a:lumMod val="75000"/>
            </a:schemeClr>
          </a:solidFill>
          <a:ln>
            <a:solidFill>
              <a:schemeClr val="accent6">
                <a:lumMod val="75000"/>
              </a:schemeClr>
            </a:solidFill>
          </a:ln>
        </p:spPr>
        <p:txBody>
          <a:bodyPr wrap="none" rtlCol="0">
            <a:spAutoFit/>
          </a:bodyPr>
          <a:lstStyle/>
          <a:p>
            <a:r>
              <a:rPr lang="zh-CN" altLang="en-US" b="1" dirty="0">
                <a:solidFill>
                  <a:schemeClr val="bg1"/>
                </a:solidFill>
              </a:rPr>
              <a:t>第二类：</a:t>
            </a:r>
            <a:r>
              <a:rPr lang="en-US" altLang="zh-CN" b="1" dirty="0">
                <a:solidFill>
                  <a:schemeClr val="bg1"/>
                </a:solidFill>
              </a:rPr>
              <a:t>Boost Traffic to Your Products</a:t>
            </a:r>
            <a:r>
              <a:rPr lang="zh-CN" altLang="en-US" b="1" dirty="0">
                <a:solidFill>
                  <a:schemeClr val="bg1"/>
                </a:solidFill>
              </a:rPr>
              <a:t>推广产品</a:t>
            </a:r>
          </a:p>
        </p:txBody>
      </p:sp>
      <p:sp>
        <p:nvSpPr>
          <p:cNvPr id="5" name="矩形 4"/>
          <p:cNvSpPr/>
          <p:nvPr/>
        </p:nvSpPr>
        <p:spPr>
          <a:xfrm>
            <a:off x="1595406" y="2285992"/>
            <a:ext cx="1785950" cy="285752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Display Ads</a:t>
            </a:r>
          </a:p>
          <a:p>
            <a:pPr algn="ctr"/>
            <a:endParaRPr lang="zh-CN" altLang="en-US" dirty="0"/>
          </a:p>
        </p:txBody>
      </p:sp>
      <p:sp>
        <p:nvSpPr>
          <p:cNvPr id="6" name="矩形 5"/>
          <p:cNvSpPr/>
          <p:nvPr/>
        </p:nvSpPr>
        <p:spPr>
          <a:xfrm>
            <a:off x="8096264" y="2214554"/>
            <a:ext cx="1785950" cy="285752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Remarketing Ads</a:t>
            </a:r>
          </a:p>
          <a:p>
            <a:pPr algn="ctr"/>
            <a:endParaRPr lang="zh-CN" altLang="en-US" dirty="0"/>
          </a:p>
        </p:txBody>
      </p:sp>
      <p:cxnSp>
        <p:nvCxnSpPr>
          <p:cNvPr id="8" name="直接连接符 7"/>
          <p:cNvCxnSpPr/>
          <p:nvPr/>
        </p:nvCxnSpPr>
        <p:spPr>
          <a:xfrm>
            <a:off x="795" y="5929330"/>
            <a:ext cx="12190413" cy="1588"/>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94" y="5429264"/>
            <a:ext cx="5493812" cy="369332"/>
          </a:xfrm>
          <a:prstGeom prst="rect">
            <a:avLst/>
          </a:prstGeom>
          <a:solidFill>
            <a:srgbClr val="FFC000"/>
          </a:solidFill>
        </p:spPr>
        <p:txBody>
          <a:bodyPr wrap="none" rtlCol="0">
            <a:spAutoFit/>
          </a:bodyPr>
          <a:lstStyle/>
          <a:p>
            <a:r>
              <a:rPr lang="zh-CN" altLang="en-US" dirty="0"/>
              <a:t>根据人群的地理位置、年龄、兴趣、国家、语言定位</a:t>
            </a:r>
          </a:p>
        </p:txBody>
      </p:sp>
      <p:sp>
        <p:nvSpPr>
          <p:cNvPr id="12" name="TextBox 11"/>
          <p:cNvSpPr txBox="1"/>
          <p:nvPr/>
        </p:nvSpPr>
        <p:spPr>
          <a:xfrm>
            <a:off x="6524628" y="5429264"/>
            <a:ext cx="4570482" cy="369332"/>
          </a:xfrm>
          <a:prstGeom prst="rect">
            <a:avLst/>
          </a:prstGeom>
          <a:solidFill>
            <a:srgbClr val="FFC000"/>
          </a:solidFill>
        </p:spPr>
        <p:txBody>
          <a:bodyPr wrap="none" rtlCol="0">
            <a:spAutoFit/>
          </a:bodyPr>
          <a:lstStyle/>
          <a:p>
            <a:r>
              <a:rPr lang="zh-CN" altLang="en-US" dirty="0"/>
              <a:t>根据浏览过网站的用户的行为细分人群定位</a:t>
            </a:r>
          </a:p>
        </p:txBody>
      </p:sp>
      <p:sp>
        <p:nvSpPr>
          <p:cNvPr id="13" name="椭圆 12"/>
          <p:cNvSpPr/>
          <p:nvPr/>
        </p:nvSpPr>
        <p:spPr>
          <a:xfrm>
            <a:off x="1595406" y="6143644"/>
            <a:ext cx="1857388" cy="714356"/>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New Users</a:t>
            </a:r>
            <a:endParaRPr lang="zh-CN" altLang="en-US" dirty="0"/>
          </a:p>
        </p:txBody>
      </p:sp>
      <p:sp>
        <p:nvSpPr>
          <p:cNvPr id="14" name="椭圆 13"/>
          <p:cNvSpPr/>
          <p:nvPr/>
        </p:nvSpPr>
        <p:spPr>
          <a:xfrm>
            <a:off x="8167702" y="6143644"/>
            <a:ext cx="1857388" cy="714356"/>
          </a:xfrm>
          <a:prstGeom prst="ellipse">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Returning Users</a:t>
            </a:r>
            <a:endParaRPr lang="zh-CN" altLang="en-US" dirty="0"/>
          </a:p>
        </p:txBody>
      </p:sp>
    </p:spTree>
    <p:extLst>
      <p:ext uri="{BB962C8B-B14F-4D97-AF65-F5344CB8AC3E}">
        <p14:creationId xmlns:p14="http://schemas.microsoft.com/office/powerpoint/2010/main" val="36417523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srcRect/>
          <a:stretch>
            <a:fillRect/>
          </a:stretch>
        </p:blipFill>
        <p:spPr bwMode="auto">
          <a:xfrm>
            <a:off x="309522" y="1071547"/>
            <a:ext cx="5214974" cy="5487207"/>
          </a:xfrm>
          <a:prstGeom prst="rect">
            <a:avLst/>
          </a:prstGeom>
          <a:noFill/>
          <a:ln w="9525">
            <a:noFill/>
            <a:miter lim="800000"/>
            <a:headEnd/>
            <a:tailEnd/>
          </a:ln>
          <a:effectLst/>
        </p:spPr>
      </p:pic>
      <p:sp>
        <p:nvSpPr>
          <p:cNvPr id="3"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4" name="TextBox 3"/>
          <p:cNvSpPr txBox="1"/>
          <p:nvPr/>
        </p:nvSpPr>
        <p:spPr>
          <a:xfrm>
            <a:off x="3952860" y="21429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r>
              <a:rPr lang="en-US" altLang="zh-CN" sz="3200" b="1" dirty="0" err="1">
                <a:solidFill>
                  <a:srgbClr val="7030A0"/>
                </a:solidFill>
                <a:latin typeface="Arial Unicode MS" pitchFamily="34" charset="-122"/>
                <a:ea typeface="Arial Unicode MS" pitchFamily="34" charset="-122"/>
                <a:cs typeface="Arial Unicode MS" pitchFamily="34" charset="-122"/>
              </a:rPr>
              <a:t>Facebook</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sp>
        <p:nvSpPr>
          <p:cNvPr id="5" name="TextBox 4"/>
          <p:cNvSpPr txBox="1"/>
          <p:nvPr/>
        </p:nvSpPr>
        <p:spPr>
          <a:xfrm>
            <a:off x="309522" y="785794"/>
            <a:ext cx="6981398" cy="369332"/>
          </a:xfrm>
          <a:prstGeom prst="rect">
            <a:avLst/>
          </a:prstGeom>
          <a:solidFill>
            <a:schemeClr val="accent6">
              <a:lumMod val="75000"/>
            </a:schemeClr>
          </a:solidFill>
          <a:ln>
            <a:solidFill>
              <a:schemeClr val="accent6">
                <a:lumMod val="75000"/>
              </a:schemeClr>
            </a:solidFill>
          </a:ln>
        </p:spPr>
        <p:txBody>
          <a:bodyPr wrap="none" rtlCol="0">
            <a:spAutoFit/>
          </a:bodyPr>
          <a:lstStyle/>
          <a:p>
            <a:r>
              <a:rPr lang="zh-CN" altLang="en-US" b="1" dirty="0">
                <a:solidFill>
                  <a:schemeClr val="bg1"/>
                </a:solidFill>
              </a:rPr>
              <a:t>第二类：</a:t>
            </a:r>
            <a:r>
              <a:rPr lang="en-US" altLang="zh-CN" b="1" dirty="0">
                <a:solidFill>
                  <a:schemeClr val="bg1"/>
                </a:solidFill>
              </a:rPr>
              <a:t>Boost Traffic to Your Products</a:t>
            </a:r>
            <a:r>
              <a:rPr lang="zh-CN" altLang="en-US" b="1" dirty="0">
                <a:solidFill>
                  <a:schemeClr val="bg1"/>
                </a:solidFill>
              </a:rPr>
              <a:t>推广产品</a:t>
            </a:r>
            <a:r>
              <a:rPr lang="en-US" altLang="zh-CN" b="1" dirty="0">
                <a:solidFill>
                  <a:schemeClr val="bg1"/>
                </a:solidFill>
              </a:rPr>
              <a:t>-----Display Ads</a:t>
            </a:r>
            <a:endParaRPr lang="zh-CN" altLang="en-US" b="1" dirty="0">
              <a:solidFill>
                <a:schemeClr val="bg1"/>
              </a:solidFill>
            </a:endParaRPr>
          </a:p>
        </p:txBody>
      </p:sp>
      <p:cxnSp>
        <p:nvCxnSpPr>
          <p:cNvPr id="8" name="直接箭头连接符 7"/>
          <p:cNvCxnSpPr/>
          <p:nvPr/>
        </p:nvCxnSpPr>
        <p:spPr>
          <a:xfrm>
            <a:off x="7024694" y="3357562"/>
            <a:ext cx="3071834" cy="1588"/>
          </a:xfrm>
          <a:prstGeom prst="straightConnector1">
            <a:avLst/>
          </a:prstGeom>
          <a:ln w="38100">
            <a:solidFill>
              <a:schemeClr val="accent6">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rot="16200000" flipV="1">
            <a:off x="7203289" y="3393281"/>
            <a:ext cx="2652730" cy="9524"/>
          </a:xfrm>
          <a:prstGeom prst="straightConnector1">
            <a:avLst/>
          </a:prstGeom>
          <a:ln w="38100">
            <a:solidFill>
              <a:schemeClr val="accent6">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881950" y="1643050"/>
            <a:ext cx="1250872" cy="369332"/>
          </a:xfrm>
          <a:prstGeom prst="rect">
            <a:avLst/>
          </a:prstGeom>
          <a:solidFill>
            <a:srgbClr val="00B0F0"/>
          </a:solidFill>
        </p:spPr>
        <p:txBody>
          <a:bodyPr wrap="square" rtlCol="0">
            <a:spAutoFit/>
          </a:bodyPr>
          <a:lstStyle/>
          <a:p>
            <a:pPr algn="ctr"/>
            <a:r>
              <a:rPr lang="zh-CN" altLang="en-US" dirty="0"/>
              <a:t>国家定位</a:t>
            </a:r>
          </a:p>
        </p:txBody>
      </p:sp>
      <p:sp>
        <p:nvSpPr>
          <p:cNvPr id="14" name="TextBox 13"/>
          <p:cNvSpPr txBox="1"/>
          <p:nvPr/>
        </p:nvSpPr>
        <p:spPr>
          <a:xfrm>
            <a:off x="10167966" y="3143248"/>
            <a:ext cx="1714512" cy="369332"/>
          </a:xfrm>
          <a:prstGeom prst="rect">
            <a:avLst/>
          </a:prstGeom>
          <a:solidFill>
            <a:srgbClr val="00B0F0"/>
          </a:solidFill>
        </p:spPr>
        <p:txBody>
          <a:bodyPr wrap="square" rtlCol="0">
            <a:spAutoFit/>
          </a:bodyPr>
          <a:lstStyle/>
          <a:p>
            <a:pPr algn="ctr"/>
            <a:r>
              <a:rPr lang="zh-CN" altLang="en-US" dirty="0"/>
              <a:t>年龄性别定位</a:t>
            </a:r>
          </a:p>
        </p:txBody>
      </p:sp>
      <p:sp>
        <p:nvSpPr>
          <p:cNvPr id="15" name="TextBox 14"/>
          <p:cNvSpPr txBox="1"/>
          <p:nvPr/>
        </p:nvSpPr>
        <p:spPr>
          <a:xfrm>
            <a:off x="5738810" y="3143248"/>
            <a:ext cx="1250872" cy="369332"/>
          </a:xfrm>
          <a:prstGeom prst="rect">
            <a:avLst/>
          </a:prstGeom>
          <a:solidFill>
            <a:srgbClr val="00B0F0"/>
          </a:solidFill>
        </p:spPr>
        <p:txBody>
          <a:bodyPr wrap="square" rtlCol="0">
            <a:spAutoFit/>
          </a:bodyPr>
          <a:lstStyle/>
          <a:p>
            <a:pPr algn="ctr"/>
            <a:r>
              <a:rPr lang="zh-CN" altLang="en-US" dirty="0"/>
              <a:t>语言定位</a:t>
            </a:r>
          </a:p>
        </p:txBody>
      </p:sp>
      <p:sp>
        <p:nvSpPr>
          <p:cNvPr id="16" name="TextBox 15"/>
          <p:cNvSpPr txBox="1"/>
          <p:nvPr/>
        </p:nvSpPr>
        <p:spPr>
          <a:xfrm>
            <a:off x="7810512" y="4714884"/>
            <a:ext cx="1571636" cy="369332"/>
          </a:xfrm>
          <a:prstGeom prst="rect">
            <a:avLst/>
          </a:prstGeom>
          <a:solidFill>
            <a:srgbClr val="00B0F0"/>
          </a:solidFill>
        </p:spPr>
        <p:txBody>
          <a:bodyPr wrap="square" rtlCol="0">
            <a:spAutoFit/>
          </a:bodyPr>
          <a:lstStyle/>
          <a:p>
            <a:pPr algn="ctr"/>
            <a:r>
              <a:rPr lang="zh-CN" altLang="en-US" dirty="0"/>
              <a:t>兴趣定位</a:t>
            </a:r>
          </a:p>
        </p:txBody>
      </p:sp>
      <p:sp>
        <p:nvSpPr>
          <p:cNvPr id="17" name="TextBox 16"/>
          <p:cNvSpPr txBox="1"/>
          <p:nvPr/>
        </p:nvSpPr>
        <p:spPr>
          <a:xfrm>
            <a:off x="6881818" y="5643579"/>
            <a:ext cx="3416320" cy="646331"/>
          </a:xfrm>
          <a:prstGeom prst="rect">
            <a:avLst/>
          </a:prstGeom>
          <a:solidFill>
            <a:srgbClr val="FFFF00"/>
          </a:solidFill>
        </p:spPr>
        <p:style>
          <a:lnRef idx="2">
            <a:schemeClr val="accent6"/>
          </a:lnRef>
          <a:fillRef idx="1">
            <a:schemeClr val="lt1"/>
          </a:fillRef>
          <a:effectRef idx="0">
            <a:schemeClr val="accent6"/>
          </a:effectRef>
          <a:fontRef idx="minor">
            <a:schemeClr val="dk1"/>
          </a:fontRef>
        </p:style>
        <p:txBody>
          <a:bodyPr wrap="none" rtlCol="0">
            <a:spAutoFit/>
          </a:bodyPr>
          <a:lstStyle/>
          <a:p>
            <a:r>
              <a:rPr lang="zh-CN" altLang="en-US" dirty="0"/>
              <a:t>优点：快速导入流量；</a:t>
            </a:r>
            <a:endParaRPr lang="en-US" altLang="zh-CN" dirty="0"/>
          </a:p>
          <a:p>
            <a:r>
              <a:rPr lang="zh-CN" altLang="en-US" dirty="0"/>
              <a:t>确定：定位不精准，花费巨大；</a:t>
            </a:r>
          </a:p>
        </p:txBody>
      </p:sp>
    </p:spTree>
    <p:extLst>
      <p:ext uri="{BB962C8B-B14F-4D97-AF65-F5344CB8AC3E}">
        <p14:creationId xmlns:p14="http://schemas.microsoft.com/office/powerpoint/2010/main" val="18295130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952860" y="357167"/>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r>
              <a:rPr lang="en-US" altLang="zh-CN" sz="3200" b="1" dirty="0" err="1">
                <a:solidFill>
                  <a:srgbClr val="7030A0"/>
                </a:solidFill>
                <a:latin typeface="Arial Unicode MS" pitchFamily="34" charset="-122"/>
                <a:ea typeface="Arial Unicode MS" pitchFamily="34" charset="-122"/>
                <a:cs typeface="Arial Unicode MS" pitchFamily="34" charset="-122"/>
              </a:rPr>
              <a:t>Facebook</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sp>
        <p:nvSpPr>
          <p:cNvPr id="4" name="TextBox 3"/>
          <p:cNvSpPr txBox="1"/>
          <p:nvPr/>
        </p:nvSpPr>
        <p:spPr>
          <a:xfrm>
            <a:off x="238085" y="928670"/>
            <a:ext cx="7560083" cy="369332"/>
          </a:xfrm>
          <a:prstGeom prst="rect">
            <a:avLst/>
          </a:prstGeom>
          <a:solidFill>
            <a:schemeClr val="accent6">
              <a:lumMod val="75000"/>
            </a:schemeClr>
          </a:solidFill>
          <a:ln>
            <a:solidFill>
              <a:schemeClr val="accent6">
                <a:lumMod val="75000"/>
              </a:schemeClr>
            </a:solidFill>
          </a:ln>
        </p:spPr>
        <p:txBody>
          <a:bodyPr wrap="none" rtlCol="0">
            <a:spAutoFit/>
          </a:bodyPr>
          <a:lstStyle/>
          <a:p>
            <a:r>
              <a:rPr lang="zh-CN" altLang="en-US" b="1" dirty="0">
                <a:solidFill>
                  <a:schemeClr val="bg1"/>
                </a:solidFill>
              </a:rPr>
              <a:t>第二类：</a:t>
            </a:r>
            <a:r>
              <a:rPr lang="en-US" altLang="zh-CN" b="1" dirty="0">
                <a:solidFill>
                  <a:schemeClr val="bg1"/>
                </a:solidFill>
              </a:rPr>
              <a:t>Boost Traffic to Your Products</a:t>
            </a:r>
            <a:r>
              <a:rPr lang="zh-CN" altLang="en-US" b="1" dirty="0">
                <a:solidFill>
                  <a:schemeClr val="bg1"/>
                </a:solidFill>
              </a:rPr>
              <a:t>推广产品</a:t>
            </a:r>
            <a:r>
              <a:rPr lang="en-US" altLang="zh-CN" b="1" dirty="0">
                <a:solidFill>
                  <a:schemeClr val="bg1"/>
                </a:solidFill>
              </a:rPr>
              <a:t>-----Remarketing Ads</a:t>
            </a:r>
            <a:endParaRPr lang="zh-CN" altLang="en-US" b="1" dirty="0">
              <a:solidFill>
                <a:schemeClr val="bg1"/>
              </a:solidFill>
            </a:endParaRPr>
          </a:p>
        </p:txBody>
      </p:sp>
      <p:pic>
        <p:nvPicPr>
          <p:cNvPr id="43012" name="Picture 4" descr="Image result for Remarketing Ads in facebook"/>
          <p:cNvPicPr>
            <a:picLocks noChangeAspect="1" noChangeArrowheads="1"/>
          </p:cNvPicPr>
          <p:nvPr/>
        </p:nvPicPr>
        <p:blipFill>
          <a:blip r:embed="rId2"/>
          <a:srcRect/>
          <a:stretch>
            <a:fillRect/>
          </a:stretch>
        </p:blipFill>
        <p:spPr bwMode="auto">
          <a:xfrm>
            <a:off x="2738414" y="1500174"/>
            <a:ext cx="7929618" cy="3476346"/>
          </a:xfrm>
          <a:prstGeom prst="rect">
            <a:avLst/>
          </a:prstGeom>
          <a:noFill/>
        </p:spPr>
      </p:pic>
      <p:sp>
        <p:nvSpPr>
          <p:cNvPr id="7" name="右箭头标注 6"/>
          <p:cNvSpPr/>
          <p:nvPr/>
        </p:nvSpPr>
        <p:spPr>
          <a:xfrm>
            <a:off x="1023902" y="1857364"/>
            <a:ext cx="1000132" cy="3214710"/>
          </a:xfrm>
          <a:prstGeom prst="rightArrowCallout">
            <a:avLst/>
          </a:prstGeom>
          <a:solidFill>
            <a:schemeClr val="accent3">
              <a:lumMod val="20000"/>
              <a:lumOff val="80000"/>
            </a:schemeClr>
          </a:solidFill>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b="1" dirty="0">
                <a:solidFill>
                  <a:srgbClr val="7030A0"/>
                </a:solidFill>
              </a:rPr>
              <a:t>再</a:t>
            </a:r>
            <a:endParaRPr lang="en-US" altLang="zh-CN" b="1" dirty="0">
              <a:solidFill>
                <a:srgbClr val="7030A0"/>
              </a:solidFill>
            </a:endParaRPr>
          </a:p>
          <a:p>
            <a:pPr algn="ctr"/>
            <a:r>
              <a:rPr lang="zh-CN" altLang="en-US" b="1" dirty="0">
                <a:solidFill>
                  <a:srgbClr val="7030A0"/>
                </a:solidFill>
              </a:rPr>
              <a:t>营</a:t>
            </a:r>
            <a:endParaRPr lang="en-US" altLang="zh-CN" b="1" dirty="0">
              <a:solidFill>
                <a:srgbClr val="7030A0"/>
              </a:solidFill>
            </a:endParaRPr>
          </a:p>
          <a:p>
            <a:pPr algn="ctr"/>
            <a:r>
              <a:rPr lang="zh-CN" altLang="en-US" b="1" dirty="0">
                <a:solidFill>
                  <a:srgbClr val="7030A0"/>
                </a:solidFill>
              </a:rPr>
              <a:t>销</a:t>
            </a:r>
            <a:endParaRPr lang="en-US" altLang="zh-CN" b="1" dirty="0">
              <a:solidFill>
                <a:srgbClr val="7030A0"/>
              </a:solidFill>
            </a:endParaRPr>
          </a:p>
          <a:p>
            <a:pPr algn="ctr"/>
            <a:r>
              <a:rPr lang="zh-CN" altLang="en-US" b="1" dirty="0">
                <a:solidFill>
                  <a:srgbClr val="7030A0"/>
                </a:solidFill>
              </a:rPr>
              <a:t>原</a:t>
            </a:r>
            <a:endParaRPr lang="en-US" altLang="zh-CN" b="1" dirty="0">
              <a:solidFill>
                <a:srgbClr val="7030A0"/>
              </a:solidFill>
            </a:endParaRPr>
          </a:p>
          <a:p>
            <a:pPr algn="ctr"/>
            <a:r>
              <a:rPr lang="zh-CN" altLang="en-US" b="1" dirty="0">
                <a:solidFill>
                  <a:srgbClr val="7030A0"/>
                </a:solidFill>
              </a:rPr>
              <a:t>理</a:t>
            </a:r>
          </a:p>
        </p:txBody>
      </p:sp>
      <p:sp>
        <p:nvSpPr>
          <p:cNvPr id="8" name="TextBox 7"/>
          <p:cNvSpPr txBox="1"/>
          <p:nvPr/>
        </p:nvSpPr>
        <p:spPr>
          <a:xfrm>
            <a:off x="1023902" y="5357827"/>
            <a:ext cx="10072758" cy="1200329"/>
          </a:xfrm>
          <a:prstGeom prst="rect">
            <a:avLst/>
          </a:prstGeom>
          <a:solidFill>
            <a:srgbClr val="FAFAFA"/>
          </a:solidFill>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altLang="zh-CN" dirty="0"/>
              <a:t>Key Point:</a:t>
            </a:r>
          </a:p>
          <a:p>
            <a:r>
              <a:rPr lang="en-US" altLang="zh-CN" dirty="0"/>
              <a:t>1</a:t>
            </a:r>
            <a:r>
              <a:rPr lang="zh-CN" altLang="en-US" dirty="0"/>
              <a:t>、安装</a:t>
            </a:r>
            <a:r>
              <a:rPr lang="en-US" altLang="zh-CN" dirty="0"/>
              <a:t>FB</a:t>
            </a:r>
            <a:r>
              <a:rPr lang="zh-CN" altLang="en-US" dirty="0"/>
              <a:t>自定义像素</a:t>
            </a:r>
            <a:r>
              <a:rPr lang="en-US" altLang="zh-CN" dirty="0"/>
              <a:t>pixel</a:t>
            </a:r>
            <a:r>
              <a:rPr lang="zh-CN" altLang="en-US" dirty="0"/>
              <a:t>在网站上跟踪客户</a:t>
            </a:r>
            <a:r>
              <a:rPr lang="en-US" altLang="zh-CN" dirty="0"/>
              <a:t>cookies</a:t>
            </a:r>
            <a:r>
              <a:rPr lang="zh-CN" altLang="en-US" dirty="0"/>
              <a:t>和浏览行为；</a:t>
            </a:r>
            <a:endParaRPr lang="en-US" altLang="zh-CN" dirty="0"/>
          </a:p>
          <a:p>
            <a:r>
              <a:rPr lang="en-US" altLang="zh-CN" dirty="0"/>
              <a:t>2</a:t>
            </a:r>
            <a:r>
              <a:rPr lang="zh-CN" altLang="en-US" dirty="0"/>
              <a:t>、创建自定义受众群体；</a:t>
            </a:r>
            <a:endParaRPr lang="en-US" altLang="zh-CN" dirty="0"/>
          </a:p>
          <a:p>
            <a:r>
              <a:rPr lang="en-US" altLang="zh-CN" dirty="0"/>
              <a:t>3</a:t>
            </a:r>
            <a:r>
              <a:rPr lang="zh-CN" altLang="en-US" dirty="0"/>
              <a:t>、针对这些自定义受众（老访客）投放广告；</a:t>
            </a:r>
          </a:p>
        </p:txBody>
      </p:sp>
    </p:spTree>
    <p:extLst>
      <p:ext uri="{BB962C8B-B14F-4D97-AF65-F5344CB8AC3E}">
        <p14:creationId xmlns:p14="http://schemas.microsoft.com/office/powerpoint/2010/main" val="33324433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952860" y="357167"/>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r>
              <a:rPr lang="en-US" altLang="zh-CN" sz="3200" b="1" dirty="0" err="1">
                <a:solidFill>
                  <a:srgbClr val="7030A0"/>
                </a:solidFill>
                <a:latin typeface="Arial Unicode MS" pitchFamily="34" charset="-122"/>
                <a:ea typeface="Arial Unicode MS" pitchFamily="34" charset="-122"/>
                <a:cs typeface="Arial Unicode MS" pitchFamily="34" charset="-122"/>
              </a:rPr>
              <a:t>Facebook</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sp>
        <p:nvSpPr>
          <p:cNvPr id="4" name="TextBox 3"/>
          <p:cNvSpPr txBox="1"/>
          <p:nvPr/>
        </p:nvSpPr>
        <p:spPr>
          <a:xfrm>
            <a:off x="238085" y="928670"/>
            <a:ext cx="7560083" cy="369332"/>
          </a:xfrm>
          <a:prstGeom prst="rect">
            <a:avLst/>
          </a:prstGeom>
          <a:solidFill>
            <a:schemeClr val="accent6">
              <a:lumMod val="75000"/>
            </a:schemeClr>
          </a:solidFill>
          <a:ln>
            <a:solidFill>
              <a:schemeClr val="accent6">
                <a:lumMod val="75000"/>
              </a:schemeClr>
            </a:solidFill>
          </a:ln>
        </p:spPr>
        <p:txBody>
          <a:bodyPr wrap="none" rtlCol="0">
            <a:spAutoFit/>
          </a:bodyPr>
          <a:lstStyle/>
          <a:p>
            <a:r>
              <a:rPr lang="zh-CN" altLang="en-US" b="1" dirty="0">
                <a:solidFill>
                  <a:schemeClr val="bg1"/>
                </a:solidFill>
              </a:rPr>
              <a:t>第二类：</a:t>
            </a:r>
            <a:r>
              <a:rPr lang="en-US" altLang="zh-CN" b="1" dirty="0">
                <a:solidFill>
                  <a:schemeClr val="bg1"/>
                </a:solidFill>
              </a:rPr>
              <a:t>Boost Traffic to Your Products</a:t>
            </a:r>
            <a:r>
              <a:rPr lang="zh-CN" altLang="en-US" b="1" dirty="0">
                <a:solidFill>
                  <a:schemeClr val="bg1"/>
                </a:solidFill>
              </a:rPr>
              <a:t>推广产品</a:t>
            </a:r>
            <a:r>
              <a:rPr lang="en-US" altLang="zh-CN" b="1" dirty="0">
                <a:solidFill>
                  <a:schemeClr val="bg1"/>
                </a:solidFill>
              </a:rPr>
              <a:t>-----Remarketing Ads</a:t>
            </a:r>
            <a:endParaRPr lang="zh-CN" altLang="en-US" b="1" dirty="0">
              <a:solidFill>
                <a:schemeClr val="bg1"/>
              </a:solidFill>
            </a:endParaRPr>
          </a:p>
        </p:txBody>
      </p:sp>
      <p:pic>
        <p:nvPicPr>
          <p:cNvPr id="45058" name="Picture 2" descr="Image result for facebook remarketing ads"/>
          <p:cNvPicPr>
            <a:picLocks noChangeAspect="1" noChangeArrowheads="1"/>
          </p:cNvPicPr>
          <p:nvPr/>
        </p:nvPicPr>
        <p:blipFill>
          <a:blip r:embed="rId2"/>
          <a:srcRect/>
          <a:stretch>
            <a:fillRect/>
          </a:stretch>
        </p:blipFill>
        <p:spPr bwMode="auto">
          <a:xfrm>
            <a:off x="238084" y="1643050"/>
            <a:ext cx="6681766" cy="4665492"/>
          </a:xfrm>
          <a:prstGeom prst="rect">
            <a:avLst/>
          </a:prstGeom>
          <a:noFill/>
        </p:spPr>
      </p:pic>
      <p:sp>
        <p:nvSpPr>
          <p:cNvPr id="6" name="TextBox 5"/>
          <p:cNvSpPr txBox="1"/>
          <p:nvPr/>
        </p:nvSpPr>
        <p:spPr>
          <a:xfrm>
            <a:off x="6881818" y="2928934"/>
            <a:ext cx="5000660" cy="175432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dirty="0"/>
              <a:t>优点：定位精准，老访客转化可能性会更高；</a:t>
            </a:r>
            <a:endParaRPr lang="en-US" altLang="zh-CN" dirty="0"/>
          </a:p>
          <a:p>
            <a:endParaRPr lang="en-US" altLang="zh-CN" dirty="0"/>
          </a:p>
          <a:p>
            <a:r>
              <a:rPr lang="zh-CN" altLang="en-US" dirty="0"/>
              <a:t>要求：</a:t>
            </a:r>
            <a:endParaRPr lang="en-US" altLang="zh-CN" dirty="0"/>
          </a:p>
          <a:p>
            <a:r>
              <a:rPr lang="en-US" altLang="zh-CN" dirty="0"/>
              <a:t> 1</a:t>
            </a:r>
            <a:r>
              <a:rPr lang="zh-CN" altLang="en-US" dirty="0"/>
              <a:t>、有自己的独立网站并且具备一定的流量；</a:t>
            </a:r>
            <a:endParaRPr lang="en-US" altLang="zh-CN" dirty="0"/>
          </a:p>
          <a:p>
            <a:r>
              <a:rPr lang="en-US" altLang="zh-CN" dirty="0"/>
              <a:t> 2</a:t>
            </a:r>
            <a:r>
              <a:rPr lang="zh-CN" altLang="en-US" dirty="0"/>
              <a:t>、选品要具有价格、产品卖点优势；</a:t>
            </a:r>
            <a:endParaRPr lang="en-US" altLang="zh-CN" dirty="0"/>
          </a:p>
          <a:p>
            <a:endParaRPr lang="zh-CN" altLang="en-US" dirty="0"/>
          </a:p>
        </p:txBody>
      </p:sp>
    </p:spTree>
    <p:extLst>
      <p:ext uri="{BB962C8B-B14F-4D97-AF65-F5344CB8AC3E}">
        <p14:creationId xmlns:p14="http://schemas.microsoft.com/office/powerpoint/2010/main" val="1728643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r>
              <a:rPr lang="en-US" altLang="zh-CN" sz="3200" b="1" dirty="0" err="1">
                <a:solidFill>
                  <a:srgbClr val="7030A0"/>
                </a:solidFill>
                <a:latin typeface="Arial Unicode MS" pitchFamily="34" charset="-122"/>
                <a:ea typeface="Arial Unicode MS" pitchFamily="34" charset="-122"/>
                <a:cs typeface="Arial Unicode MS" pitchFamily="34" charset="-122"/>
              </a:rPr>
              <a:t>Facebook</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sp>
        <p:nvSpPr>
          <p:cNvPr id="3"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pic>
        <p:nvPicPr>
          <p:cNvPr id="38914" name="Picture 2" descr="Image result for facebook ads"/>
          <p:cNvPicPr>
            <a:picLocks noChangeAspect="1" noChangeArrowheads="1"/>
          </p:cNvPicPr>
          <p:nvPr/>
        </p:nvPicPr>
        <p:blipFill>
          <a:blip r:embed="rId2"/>
          <a:srcRect/>
          <a:stretch>
            <a:fillRect/>
          </a:stretch>
        </p:blipFill>
        <p:spPr bwMode="auto">
          <a:xfrm>
            <a:off x="794" y="1285861"/>
            <a:ext cx="8072494" cy="5255717"/>
          </a:xfrm>
          <a:prstGeom prst="rect">
            <a:avLst/>
          </a:prstGeom>
          <a:noFill/>
        </p:spPr>
      </p:pic>
      <p:sp>
        <p:nvSpPr>
          <p:cNvPr id="5" name="TextBox 4"/>
          <p:cNvSpPr txBox="1"/>
          <p:nvPr/>
        </p:nvSpPr>
        <p:spPr>
          <a:xfrm>
            <a:off x="8239140" y="1785927"/>
            <a:ext cx="3729812" cy="646331"/>
          </a:xfrm>
          <a:prstGeom prst="rect">
            <a:avLst/>
          </a:prstGeom>
          <a:solidFill>
            <a:schemeClr val="accent6">
              <a:lumMod val="75000"/>
            </a:schemeClr>
          </a:solidFill>
          <a:ln>
            <a:solidFill>
              <a:schemeClr val="accent6">
                <a:lumMod val="75000"/>
              </a:schemeClr>
            </a:solidFill>
          </a:ln>
        </p:spPr>
        <p:txBody>
          <a:bodyPr wrap="square" rtlCol="0">
            <a:spAutoFit/>
          </a:bodyPr>
          <a:lstStyle/>
          <a:p>
            <a:r>
              <a:rPr lang="zh-CN" altLang="en-US" b="1" dirty="0">
                <a:solidFill>
                  <a:schemeClr val="bg1"/>
                </a:solidFill>
              </a:rPr>
              <a:t>各种</a:t>
            </a:r>
            <a:r>
              <a:rPr lang="en-US" altLang="zh-CN" b="1" dirty="0">
                <a:solidFill>
                  <a:schemeClr val="bg1"/>
                </a:solidFill>
              </a:rPr>
              <a:t>AD</a:t>
            </a:r>
            <a:r>
              <a:rPr lang="zh-CN" altLang="en-US" b="1" dirty="0">
                <a:solidFill>
                  <a:schemeClr val="bg1"/>
                </a:solidFill>
              </a:rPr>
              <a:t>在</a:t>
            </a:r>
            <a:r>
              <a:rPr lang="en-US" altLang="zh-CN" b="1" dirty="0">
                <a:solidFill>
                  <a:schemeClr val="bg1"/>
                </a:solidFill>
              </a:rPr>
              <a:t>PC</a:t>
            </a:r>
            <a:r>
              <a:rPr lang="zh-CN" altLang="en-US" b="1" dirty="0">
                <a:solidFill>
                  <a:schemeClr val="bg1"/>
                </a:solidFill>
              </a:rPr>
              <a:t>端、移动端的展示位置</a:t>
            </a:r>
          </a:p>
        </p:txBody>
      </p:sp>
      <p:pic>
        <p:nvPicPr>
          <p:cNvPr id="38916" name="Picture 4" descr="Image result for facebook ads placement"/>
          <p:cNvPicPr>
            <a:picLocks noChangeAspect="1" noChangeArrowheads="1"/>
          </p:cNvPicPr>
          <p:nvPr/>
        </p:nvPicPr>
        <p:blipFill>
          <a:blip r:embed="rId3"/>
          <a:srcRect/>
          <a:stretch>
            <a:fillRect/>
          </a:stretch>
        </p:blipFill>
        <p:spPr bwMode="auto">
          <a:xfrm>
            <a:off x="8239141" y="2500306"/>
            <a:ext cx="3952067" cy="3786214"/>
          </a:xfrm>
          <a:prstGeom prst="rect">
            <a:avLst/>
          </a:prstGeom>
          <a:noFill/>
        </p:spPr>
      </p:pic>
    </p:spTree>
    <p:extLst>
      <p:ext uri="{BB962C8B-B14F-4D97-AF65-F5344CB8AC3E}">
        <p14:creationId xmlns:p14="http://schemas.microsoft.com/office/powerpoint/2010/main" val="2926271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46082" name="Picture 2" descr="Image result for youtube marketing"/>
          <p:cNvPicPr>
            <a:picLocks noChangeAspect="1" noChangeArrowheads="1"/>
          </p:cNvPicPr>
          <p:nvPr/>
        </p:nvPicPr>
        <p:blipFill>
          <a:blip r:embed="rId2"/>
          <a:srcRect/>
          <a:stretch>
            <a:fillRect/>
          </a:stretch>
        </p:blipFill>
        <p:spPr bwMode="auto">
          <a:xfrm>
            <a:off x="6310314" y="214290"/>
            <a:ext cx="2857500" cy="1214446"/>
          </a:xfrm>
          <a:prstGeom prst="rect">
            <a:avLst/>
          </a:prstGeom>
          <a:noFill/>
        </p:spPr>
      </p:pic>
      <p:cxnSp>
        <p:nvCxnSpPr>
          <p:cNvPr id="6" name="肘形连接符 5"/>
          <p:cNvCxnSpPr/>
          <p:nvPr/>
        </p:nvCxnSpPr>
        <p:spPr>
          <a:xfrm>
            <a:off x="666712" y="2214554"/>
            <a:ext cx="5143536" cy="178595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7" name="肘形连接符 6"/>
          <p:cNvCxnSpPr/>
          <p:nvPr/>
        </p:nvCxnSpPr>
        <p:spPr>
          <a:xfrm>
            <a:off x="5810248" y="4000504"/>
            <a:ext cx="5143536" cy="178595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38084" y="1785926"/>
            <a:ext cx="3416320" cy="369332"/>
          </a:xfrm>
          <a:prstGeom prst="rect">
            <a:avLst/>
          </a:prstGeom>
          <a:solidFill>
            <a:schemeClr val="accent5">
              <a:lumMod val="60000"/>
              <a:lumOff val="40000"/>
            </a:schemeClr>
          </a:solidFill>
        </p:spPr>
        <p:txBody>
          <a:bodyPr wrap="none" rtlCol="0">
            <a:spAutoFit/>
          </a:bodyPr>
          <a:lstStyle/>
          <a:p>
            <a:r>
              <a:rPr lang="zh-CN" altLang="en-US" dirty="0"/>
              <a:t>自拍视频，培养粉丝，引荐流量</a:t>
            </a:r>
          </a:p>
        </p:txBody>
      </p:sp>
      <p:sp>
        <p:nvSpPr>
          <p:cNvPr id="9" name="TextBox 8"/>
          <p:cNvSpPr txBox="1"/>
          <p:nvPr/>
        </p:nvSpPr>
        <p:spPr>
          <a:xfrm>
            <a:off x="3309919" y="3571876"/>
            <a:ext cx="4932761" cy="369332"/>
          </a:xfrm>
          <a:prstGeom prst="rect">
            <a:avLst/>
          </a:prstGeom>
          <a:solidFill>
            <a:schemeClr val="accent5">
              <a:lumMod val="60000"/>
              <a:lumOff val="40000"/>
            </a:schemeClr>
          </a:solidFill>
        </p:spPr>
        <p:txBody>
          <a:bodyPr wrap="none" rtlCol="0">
            <a:spAutoFit/>
          </a:bodyPr>
          <a:lstStyle/>
          <a:p>
            <a:r>
              <a:rPr lang="zh-CN" altLang="en-US" dirty="0"/>
              <a:t>寻找产品匹配度较高的大</a:t>
            </a:r>
            <a:r>
              <a:rPr lang="en-US" altLang="zh-CN" dirty="0"/>
              <a:t>V</a:t>
            </a:r>
            <a:r>
              <a:rPr lang="zh-CN" altLang="en-US" dirty="0"/>
              <a:t>帮忙拍视频引荐流量</a:t>
            </a:r>
          </a:p>
        </p:txBody>
      </p:sp>
      <p:sp>
        <p:nvSpPr>
          <p:cNvPr id="10" name="TextBox 9"/>
          <p:cNvSpPr txBox="1"/>
          <p:nvPr/>
        </p:nvSpPr>
        <p:spPr>
          <a:xfrm>
            <a:off x="8667769" y="5357826"/>
            <a:ext cx="1946367" cy="369332"/>
          </a:xfrm>
          <a:prstGeom prst="rect">
            <a:avLst/>
          </a:prstGeom>
          <a:solidFill>
            <a:schemeClr val="accent5">
              <a:lumMod val="60000"/>
              <a:lumOff val="40000"/>
            </a:schemeClr>
          </a:solidFill>
        </p:spPr>
        <p:txBody>
          <a:bodyPr wrap="none" rtlCol="0">
            <a:spAutoFit/>
          </a:bodyPr>
          <a:lstStyle/>
          <a:p>
            <a:r>
              <a:rPr lang="en-US" altLang="zh-CN" dirty="0" err="1"/>
              <a:t>Youtube</a:t>
            </a:r>
            <a:r>
              <a:rPr lang="zh-CN" altLang="en-US" dirty="0"/>
              <a:t>视频广告</a:t>
            </a:r>
          </a:p>
        </p:txBody>
      </p:sp>
      <p:sp>
        <p:nvSpPr>
          <p:cNvPr id="11" name="七边形 10"/>
          <p:cNvSpPr/>
          <p:nvPr/>
        </p:nvSpPr>
        <p:spPr>
          <a:xfrm>
            <a:off x="1238216" y="2357430"/>
            <a:ext cx="714380" cy="642942"/>
          </a:xfrm>
          <a:prstGeom prst="heptagon">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a:t>1</a:t>
            </a:r>
            <a:endParaRPr lang="zh-CN" altLang="en-US" dirty="0"/>
          </a:p>
        </p:txBody>
      </p:sp>
      <p:sp>
        <p:nvSpPr>
          <p:cNvPr id="12" name="七边形 11"/>
          <p:cNvSpPr/>
          <p:nvPr/>
        </p:nvSpPr>
        <p:spPr>
          <a:xfrm>
            <a:off x="5238744" y="4143380"/>
            <a:ext cx="714380" cy="642942"/>
          </a:xfrm>
          <a:prstGeom prst="heptagon">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a:t>2</a:t>
            </a:r>
            <a:endParaRPr lang="zh-CN" altLang="en-US" dirty="0"/>
          </a:p>
        </p:txBody>
      </p:sp>
      <p:sp>
        <p:nvSpPr>
          <p:cNvPr id="13" name="七边形 12"/>
          <p:cNvSpPr/>
          <p:nvPr/>
        </p:nvSpPr>
        <p:spPr>
          <a:xfrm>
            <a:off x="9382148" y="5857892"/>
            <a:ext cx="714380" cy="642942"/>
          </a:xfrm>
          <a:prstGeom prst="heptagon">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a:t>3</a:t>
            </a:r>
            <a:endParaRPr lang="zh-CN" altLang="en-US" dirty="0"/>
          </a:p>
        </p:txBody>
      </p:sp>
    </p:spTree>
    <p:extLst>
      <p:ext uri="{BB962C8B-B14F-4D97-AF65-F5344CB8AC3E}">
        <p14:creationId xmlns:p14="http://schemas.microsoft.com/office/powerpoint/2010/main" val="15520559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4" name="Picture 2" descr="Image result for youtube marketing"/>
          <p:cNvPicPr>
            <a:picLocks noChangeAspect="1" noChangeArrowheads="1"/>
          </p:cNvPicPr>
          <p:nvPr/>
        </p:nvPicPr>
        <p:blipFill>
          <a:blip r:embed="rId2"/>
          <a:srcRect/>
          <a:stretch>
            <a:fillRect/>
          </a:stretch>
        </p:blipFill>
        <p:spPr bwMode="auto">
          <a:xfrm>
            <a:off x="6310314" y="214290"/>
            <a:ext cx="2857500" cy="1214446"/>
          </a:xfrm>
          <a:prstGeom prst="rect">
            <a:avLst/>
          </a:prstGeom>
          <a:noFill/>
        </p:spPr>
      </p:pic>
      <p:sp>
        <p:nvSpPr>
          <p:cNvPr id="5" name="七边形 4"/>
          <p:cNvSpPr/>
          <p:nvPr/>
        </p:nvSpPr>
        <p:spPr>
          <a:xfrm>
            <a:off x="1095340" y="1857364"/>
            <a:ext cx="714380" cy="642942"/>
          </a:xfrm>
          <a:prstGeom prst="heptagon">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a:t>1</a:t>
            </a:r>
            <a:endParaRPr lang="zh-CN" altLang="en-US" dirty="0"/>
          </a:p>
        </p:txBody>
      </p:sp>
      <p:sp>
        <p:nvSpPr>
          <p:cNvPr id="6" name="TextBox 5"/>
          <p:cNvSpPr txBox="1"/>
          <p:nvPr/>
        </p:nvSpPr>
        <p:spPr>
          <a:xfrm>
            <a:off x="2024035" y="2000240"/>
            <a:ext cx="7571303" cy="369332"/>
          </a:xfrm>
          <a:prstGeom prst="rect">
            <a:avLst/>
          </a:prstGeom>
          <a:noFill/>
        </p:spPr>
        <p:txBody>
          <a:bodyPr wrap="none" rtlCol="0">
            <a:spAutoFit/>
          </a:bodyPr>
          <a:lstStyle/>
          <a:p>
            <a:r>
              <a:rPr lang="zh-CN" altLang="en-US" dirty="0"/>
              <a:t>见效时间慢，自行拍摄视频对设备、剪辑、后期有较高需求，投入较大；</a:t>
            </a:r>
          </a:p>
        </p:txBody>
      </p:sp>
      <p:cxnSp>
        <p:nvCxnSpPr>
          <p:cNvPr id="8" name="直接连接符 7"/>
          <p:cNvCxnSpPr/>
          <p:nvPr/>
        </p:nvCxnSpPr>
        <p:spPr>
          <a:xfrm>
            <a:off x="2095472" y="2428868"/>
            <a:ext cx="7429552" cy="1588"/>
          </a:xfrm>
          <a:prstGeom prst="line">
            <a:avLst/>
          </a:prstGeom>
          <a:ln w="28575"/>
        </p:spPr>
        <p:style>
          <a:lnRef idx="1">
            <a:schemeClr val="accent6"/>
          </a:lnRef>
          <a:fillRef idx="0">
            <a:schemeClr val="accent6"/>
          </a:fillRef>
          <a:effectRef idx="0">
            <a:schemeClr val="accent6"/>
          </a:effectRef>
          <a:fontRef idx="minor">
            <a:schemeClr val="tx1"/>
          </a:fontRef>
        </p:style>
      </p:cxnSp>
      <p:sp>
        <p:nvSpPr>
          <p:cNvPr id="9" name="七边形 8"/>
          <p:cNvSpPr/>
          <p:nvPr/>
        </p:nvSpPr>
        <p:spPr>
          <a:xfrm>
            <a:off x="1809720" y="3214686"/>
            <a:ext cx="714380" cy="642942"/>
          </a:xfrm>
          <a:prstGeom prst="heptagon">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a:t>2</a:t>
            </a:r>
            <a:endParaRPr lang="zh-CN" altLang="en-US" dirty="0"/>
          </a:p>
        </p:txBody>
      </p:sp>
      <p:sp>
        <p:nvSpPr>
          <p:cNvPr id="10" name="TextBox 9"/>
          <p:cNvSpPr txBox="1"/>
          <p:nvPr/>
        </p:nvSpPr>
        <p:spPr>
          <a:xfrm>
            <a:off x="2666977" y="3357562"/>
            <a:ext cx="7904087" cy="369332"/>
          </a:xfrm>
          <a:prstGeom prst="rect">
            <a:avLst/>
          </a:prstGeom>
          <a:noFill/>
        </p:spPr>
        <p:txBody>
          <a:bodyPr wrap="none" rtlCol="0">
            <a:spAutoFit/>
          </a:bodyPr>
          <a:lstStyle/>
          <a:p>
            <a:r>
              <a:rPr lang="zh-CN" altLang="en-US" dirty="0"/>
              <a:t>开发与产品相关度匹配较高的红人时间成本较大，需邮件沟通，</a:t>
            </a:r>
            <a:r>
              <a:rPr lang="en-US" altLang="zh-CN" dirty="0"/>
              <a:t>ROI</a:t>
            </a:r>
            <a:r>
              <a:rPr lang="zh-CN" altLang="en-US" dirty="0"/>
              <a:t>不可控；</a:t>
            </a:r>
          </a:p>
        </p:txBody>
      </p:sp>
      <p:cxnSp>
        <p:nvCxnSpPr>
          <p:cNvPr id="11" name="直接连接符 10"/>
          <p:cNvCxnSpPr/>
          <p:nvPr/>
        </p:nvCxnSpPr>
        <p:spPr>
          <a:xfrm>
            <a:off x="2809852" y="3786190"/>
            <a:ext cx="7429552" cy="1588"/>
          </a:xfrm>
          <a:prstGeom prst="line">
            <a:avLst/>
          </a:prstGeom>
          <a:ln w="28575"/>
        </p:spPr>
        <p:style>
          <a:lnRef idx="1">
            <a:schemeClr val="accent6"/>
          </a:lnRef>
          <a:fillRef idx="0">
            <a:schemeClr val="accent6"/>
          </a:fillRef>
          <a:effectRef idx="0">
            <a:schemeClr val="accent6"/>
          </a:effectRef>
          <a:fontRef idx="minor">
            <a:schemeClr val="tx1"/>
          </a:fontRef>
        </p:style>
      </p:cxnSp>
      <p:sp>
        <p:nvSpPr>
          <p:cNvPr id="12" name="七边形 11"/>
          <p:cNvSpPr/>
          <p:nvPr/>
        </p:nvSpPr>
        <p:spPr>
          <a:xfrm>
            <a:off x="2952728" y="4572008"/>
            <a:ext cx="714380" cy="642942"/>
          </a:xfrm>
          <a:prstGeom prst="heptagon">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dirty="0"/>
              <a:t>3</a:t>
            </a:r>
            <a:endParaRPr lang="zh-CN" altLang="en-US" dirty="0"/>
          </a:p>
        </p:txBody>
      </p:sp>
      <p:sp>
        <p:nvSpPr>
          <p:cNvPr id="13" name="TextBox 12"/>
          <p:cNvSpPr txBox="1"/>
          <p:nvPr/>
        </p:nvSpPr>
        <p:spPr>
          <a:xfrm>
            <a:off x="3809984" y="4786322"/>
            <a:ext cx="5724644" cy="369332"/>
          </a:xfrm>
          <a:prstGeom prst="rect">
            <a:avLst/>
          </a:prstGeom>
          <a:noFill/>
        </p:spPr>
        <p:txBody>
          <a:bodyPr wrap="none" rtlCol="0">
            <a:spAutoFit/>
          </a:bodyPr>
          <a:lstStyle/>
          <a:p>
            <a:r>
              <a:rPr lang="zh-CN" altLang="en-US" dirty="0"/>
              <a:t>烧钱，视频广告点击流量惊人，花费巨大，转化较差；</a:t>
            </a:r>
          </a:p>
        </p:txBody>
      </p:sp>
      <p:cxnSp>
        <p:nvCxnSpPr>
          <p:cNvPr id="14" name="直接连接符 13"/>
          <p:cNvCxnSpPr/>
          <p:nvPr/>
        </p:nvCxnSpPr>
        <p:spPr>
          <a:xfrm>
            <a:off x="3881422" y="5143512"/>
            <a:ext cx="5429288" cy="1588"/>
          </a:xfrm>
          <a:prstGeom prst="line">
            <a:avLst/>
          </a:prstGeom>
          <a:ln w="28575"/>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9434157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4" name="Picture 2" descr="Image result for youtube marketing"/>
          <p:cNvPicPr>
            <a:picLocks noChangeAspect="1" noChangeArrowheads="1"/>
          </p:cNvPicPr>
          <p:nvPr/>
        </p:nvPicPr>
        <p:blipFill>
          <a:blip r:embed="rId2"/>
          <a:srcRect/>
          <a:stretch>
            <a:fillRect/>
          </a:stretch>
        </p:blipFill>
        <p:spPr bwMode="auto">
          <a:xfrm>
            <a:off x="6310314" y="214290"/>
            <a:ext cx="2857500" cy="1214446"/>
          </a:xfrm>
          <a:prstGeom prst="rect">
            <a:avLst/>
          </a:prstGeom>
          <a:noFill/>
        </p:spPr>
      </p:pic>
      <p:pic>
        <p:nvPicPr>
          <p:cNvPr id="47106" name="Picture 2"/>
          <p:cNvPicPr>
            <a:picLocks noChangeAspect="1" noChangeArrowheads="1"/>
          </p:cNvPicPr>
          <p:nvPr/>
        </p:nvPicPr>
        <p:blipFill>
          <a:blip r:embed="rId3"/>
          <a:srcRect/>
          <a:stretch>
            <a:fillRect/>
          </a:stretch>
        </p:blipFill>
        <p:spPr bwMode="auto">
          <a:xfrm>
            <a:off x="809588" y="1500174"/>
            <a:ext cx="10858576" cy="3643338"/>
          </a:xfrm>
          <a:prstGeom prst="rect">
            <a:avLst/>
          </a:prstGeom>
          <a:noFill/>
          <a:ln w="9525">
            <a:noFill/>
            <a:miter lim="800000"/>
            <a:headEnd/>
            <a:tailEnd/>
          </a:ln>
          <a:effectLst/>
        </p:spPr>
      </p:pic>
      <p:sp>
        <p:nvSpPr>
          <p:cNvPr id="6" name="TextBox 5"/>
          <p:cNvSpPr txBox="1"/>
          <p:nvPr/>
        </p:nvSpPr>
        <p:spPr>
          <a:xfrm>
            <a:off x="523836" y="5572141"/>
            <a:ext cx="11577208" cy="646331"/>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zh-CN" altLang="en-US" dirty="0"/>
              <a:t>     利用产品核心关键字搜相关视频，再跟进视频拍摄者上传视频的频度、视频互动情况、最近视频上传时间筛选</a:t>
            </a:r>
            <a:endParaRPr lang="en-US" altLang="zh-CN" dirty="0"/>
          </a:p>
          <a:p>
            <a:r>
              <a:rPr lang="zh-CN" altLang="en-US" dirty="0"/>
              <a:t>红人资源</a:t>
            </a:r>
          </a:p>
        </p:txBody>
      </p:sp>
    </p:spTree>
    <p:extLst>
      <p:ext uri="{BB962C8B-B14F-4D97-AF65-F5344CB8AC3E}">
        <p14:creationId xmlns:p14="http://schemas.microsoft.com/office/powerpoint/2010/main" val="15798104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4" name="Picture 2" descr="Image result for youtube marketing"/>
          <p:cNvPicPr>
            <a:picLocks noChangeAspect="1" noChangeArrowheads="1"/>
          </p:cNvPicPr>
          <p:nvPr/>
        </p:nvPicPr>
        <p:blipFill>
          <a:blip r:embed="rId2"/>
          <a:srcRect/>
          <a:stretch>
            <a:fillRect/>
          </a:stretch>
        </p:blipFill>
        <p:spPr bwMode="auto">
          <a:xfrm>
            <a:off x="6310314" y="214290"/>
            <a:ext cx="2857500" cy="1214446"/>
          </a:xfrm>
          <a:prstGeom prst="rect">
            <a:avLst/>
          </a:prstGeom>
          <a:noFill/>
        </p:spPr>
      </p:pic>
      <p:pic>
        <p:nvPicPr>
          <p:cNvPr id="48130" name="Picture 2"/>
          <p:cNvPicPr>
            <a:picLocks noChangeAspect="1" noChangeArrowheads="1"/>
          </p:cNvPicPr>
          <p:nvPr/>
        </p:nvPicPr>
        <p:blipFill>
          <a:blip r:embed="rId3"/>
          <a:srcRect/>
          <a:stretch>
            <a:fillRect/>
          </a:stretch>
        </p:blipFill>
        <p:spPr bwMode="auto">
          <a:xfrm>
            <a:off x="523836" y="1071547"/>
            <a:ext cx="11016490" cy="5014461"/>
          </a:xfrm>
          <a:prstGeom prst="rect">
            <a:avLst/>
          </a:prstGeom>
          <a:noFill/>
          <a:ln w="9525">
            <a:noFill/>
            <a:miter lim="800000"/>
            <a:headEnd/>
            <a:tailEnd/>
          </a:ln>
          <a:effectLst/>
        </p:spPr>
      </p:pic>
      <p:sp>
        <p:nvSpPr>
          <p:cNvPr id="6" name="TextBox 5"/>
          <p:cNvSpPr txBox="1"/>
          <p:nvPr/>
        </p:nvSpPr>
        <p:spPr>
          <a:xfrm>
            <a:off x="738150" y="6215082"/>
            <a:ext cx="10365338" cy="369332"/>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zh-CN" altLang="en-US" dirty="0"/>
              <a:t>筛选出红人资源后，进入</a:t>
            </a:r>
            <a:r>
              <a:rPr lang="en-US" altLang="zh-CN" dirty="0"/>
              <a:t>About </a:t>
            </a:r>
            <a:r>
              <a:rPr lang="zh-CN" altLang="en-US" dirty="0"/>
              <a:t>页面，底部一般可以查到</a:t>
            </a:r>
            <a:r>
              <a:rPr lang="en-US" altLang="zh-CN" dirty="0"/>
              <a:t>Business Email</a:t>
            </a:r>
            <a:r>
              <a:rPr lang="zh-CN" altLang="en-US" dirty="0"/>
              <a:t>联系方式，然后邮件沟通合作</a:t>
            </a:r>
          </a:p>
        </p:txBody>
      </p:sp>
    </p:spTree>
    <p:extLst>
      <p:ext uri="{BB962C8B-B14F-4D97-AF65-F5344CB8AC3E}">
        <p14:creationId xmlns:p14="http://schemas.microsoft.com/office/powerpoint/2010/main" val="17433554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49154" name="Picture 2" descr="Image result for instagram"/>
          <p:cNvPicPr>
            <a:picLocks noChangeAspect="1" noChangeArrowheads="1"/>
          </p:cNvPicPr>
          <p:nvPr/>
        </p:nvPicPr>
        <p:blipFill>
          <a:blip r:embed="rId2" cstate="print"/>
          <a:srcRect/>
          <a:stretch>
            <a:fillRect/>
          </a:stretch>
        </p:blipFill>
        <p:spPr bwMode="auto">
          <a:xfrm>
            <a:off x="6524628" y="1"/>
            <a:ext cx="3174938" cy="1785903"/>
          </a:xfrm>
          <a:prstGeom prst="rect">
            <a:avLst/>
          </a:prstGeom>
          <a:noFill/>
        </p:spPr>
      </p:pic>
      <p:pic>
        <p:nvPicPr>
          <p:cNvPr id="49156" name="Picture 4" descr="Instagram Users Engage More"/>
          <p:cNvPicPr>
            <a:picLocks noChangeAspect="1" noChangeArrowheads="1"/>
          </p:cNvPicPr>
          <p:nvPr/>
        </p:nvPicPr>
        <p:blipFill>
          <a:blip r:embed="rId3"/>
          <a:srcRect/>
          <a:stretch>
            <a:fillRect/>
          </a:stretch>
        </p:blipFill>
        <p:spPr bwMode="auto">
          <a:xfrm>
            <a:off x="523836" y="1285861"/>
            <a:ext cx="5715000" cy="5210175"/>
          </a:xfrm>
          <a:prstGeom prst="rect">
            <a:avLst/>
          </a:prstGeom>
          <a:noFill/>
        </p:spPr>
      </p:pic>
      <p:sp>
        <p:nvSpPr>
          <p:cNvPr id="6" name="TextBox 5"/>
          <p:cNvSpPr txBox="1"/>
          <p:nvPr/>
        </p:nvSpPr>
        <p:spPr>
          <a:xfrm>
            <a:off x="7267968" y="2714621"/>
            <a:ext cx="4070345" cy="646331"/>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pPr algn="ctr"/>
            <a:r>
              <a:rPr lang="en-US" altLang="zh-CN" dirty="0" err="1"/>
              <a:t>Facebook</a:t>
            </a:r>
            <a:r>
              <a:rPr lang="en-US" altLang="zh-CN" dirty="0"/>
              <a:t> VS </a:t>
            </a:r>
            <a:r>
              <a:rPr lang="en-US" altLang="zh-CN" dirty="0" err="1"/>
              <a:t>Instagram</a:t>
            </a:r>
            <a:endParaRPr lang="en-US" altLang="zh-CN" dirty="0"/>
          </a:p>
          <a:p>
            <a:pPr algn="ctr"/>
            <a:r>
              <a:rPr lang="en-US" altLang="zh-CN" dirty="0"/>
              <a:t>INS</a:t>
            </a:r>
            <a:r>
              <a:rPr lang="zh-CN" altLang="en-US" dirty="0"/>
              <a:t>交互更深，吸取</a:t>
            </a:r>
            <a:r>
              <a:rPr lang="en-US" altLang="zh-CN" dirty="0"/>
              <a:t>POST</a:t>
            </a:r>
            <a:r>
              <a:rPr lang="zh-CN" altLang="en-US" dirty="0"/>
              <a:t>内容几率更大</a:t>
            </a:r>
          </a:p>
        </p:txBody>
      </p:sp>
      <p:sp>
        <p:nvSpPr>
          <p:cNvPr id="7" name="TextBox 6"/>
          <p:cNvSpPr txBox="1"/>
          <p:nvPr/>
        </p:nvSpPr>
        <p:spPr>
          <a:xfrm>
            <a:off x="7067022" y="4214819"/>
            <a:ext cx="4636206" cy="646331"/>
          </a:xfrm>
          <a:prstGeom prst="rect">
            <a:avLst/>
          </a:prstGeom>
        </p:spPr>
        <p:style>
          <a:lnRef idx="2">
            <a:schemeClr val="accent4"/>
          </a:lnRef>
          <a:fillRef idx="1">
            <a:schemeClr val="lt1"/>
          </a:fillRef>
          <a:effectRef idx="0">
            <a:schemeClr val="accent4"/>
          </a:effectRef>
          <a:fontRef idx="minor">
            <a:schemeClr val="dk1"/>
          </a:fontRef>
        </p:style>
        <p:txBody>
          <a:bodyPr wrap="none" rtlCol="0">
            <a:spAutoFit/>
          </a:bodyPr>
          <a:lstStyle/>
          <a:p>
            <a:pPr algn="ctr"/>
            <a:r>
              <a:rPr lang="en-US" altLang="zh-CN" dirty="0" err="1"/>
              <a:t>Instagram</a:t>
            </a:r>
            <a:r>
              <a:rPr lang="zh-CN" altLang="en-US" dirty="0"/>
              <a:t>对图片要求较高，推广产品最好是</a:t>
            </a:r>
            <a:endParaRPr lang="en-US" altLang="zh-CN" dirty="0"/>
          </a:p>
          <a:p>
            <a:pPr algn="ctr"/>
            <a:r>
              <a:rPr lang="zh-CN" altLang="en-US" dirty="0"/>
              <a:t>创意十足或者构图完美的产品及场景图片</a:t>
            </a:r>
          </a:p>
        </p:txBody>
      </p:sp>
      <p:sp>
        <p:nvSpPr>
          <p:cNvPr id="8" name="流程图: 排序 7"/>
          <p:cNvSpPr/>
          <p:nvPr/>
        </p:nvSpPr>
        <p:spPr>
          <a:xfrm>
            <a:off x="9096396" y="3429000"/>
            <a:ext cx="285752" cy="714380"/>
          </a:xfrm>
          <a:prstGeom prst="flowChartSort">
            <a:avLst/>
          </a:prstGeom>
          <a:solidFill>
            <a:schemeClr val="accent3">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384487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4" name="Picture 2" descr="Image result for instagram"/>
          <p:cNvPicPr>
            <a:picLocks noChangeAspect="1" noChangeArrowheads="1"/>
          </p:cNvPicPr>
          <p:nvPr/>
        </p:nvPicPr>
        <p:blipFill>
          <a:blip r:embed="rId2" cstate="print"/>
          <a:srcRect/>
          <a:stretch>
            <a:fillRect/>
          </a:stretch>
        </p:blipFill>
        <p:spPr bwMode="auto">
          <a:xfrm>
            <a:off x="6524628" y="1"/>
            <a:ext cx="3174938" cy="1785903"/>
          </a:xfrm>
          <a:prstGeom prst="rect">
            <a:avLst/>
          </a:prstGeom>
          <a:noFill/>
        </p:spPr>
      </p:pic>
      <p:sp>
        <p:nvSpPr>
          <p:cNvPr id="5" name="TextBox 4"/>
          <p:cNvSpPr txBox="1"/>
          <p:nvPr/>
        </p:nvSpPr>
        <p:spPr>
          <a:xfrm>
            <a:off x="309522" y="1571613"/>
            <a:ext cx="8858312" cy="923330"/>
          </a:xfrm>
          <a:prstGeom prst="rect">
            <a:avLst/>
          </a:prstGeom>
          <a:noFill/>
        </p:spPr>
        <p:txBody>
          <a:bodyPr wrap="square" rtlCol="0">
            <a:spAutoFit/>
          </a:bodyPr>
          <a:lstStyle/>
          <a:p>
            <a:r>
              <a:rPr lang="en-US" b="1" dirty="0">
                <a:solidFill>
                  <a:schemeClr val="accent2">
                    <a:lumMod val="75000"/>
                  </a:schemeClr>
                </a:solidFill>
              </a:rPr>
              <a:t>Promote </a:t>
            </a:r>
            <a:r>
              <a:rPr lang="en-US" b="1" dirty="0" err="1">
                <a:solidFill>
                  <a:schemeClr val="accent2">
                    <a:lumMod val="75000"/>
                  </a:schemeClr>
                </a:solidFill>
              </a:rPr>
              <a:t>Instagram</a:t>
            </a:r>
            <a:r>
              <a:rPr lang="en-US" b="1" dirty="0">
                <a:solidFill>
                  <a:schemeClr val="accent2">
                    <a:lumMod val="75000"/>
                  </a:schemeClr>
                </a:solidFill>
              </a:rPr>
              <a:t> On Your Website (</a:t>
            </a:r>
            <a:r>
              <a:rPr lang="zh-CN" altLang="en-US" b="1" dirty="0">
                <a:solidFill>
                  <a:schemeClr val="accent2">
                    <a:lumMod val="75000"/>
                  </a:schemeClr>
                </a:solidFill>
              </a:rPr>
              <a:t>产品详情页、网站嵌入更多的</a:t>
            </a:r>
            <a:r>
              <a:rPr lang="en-US" altLang="zh-CN" b="1" dirty="0">
                <a:solidFill>
                  <a:schemeClr val="accent2">
                    <a:lumMod val="75000"/>
                  </a:schemeClr>
                </a:solidFill>
              </a:rPr>
              <a:t>INS</a:t>
            </a:r>
            <a:r>
              <a:rPr lang="zh-CN" altLang="en-US" b="1" dirty="0">
                <a:solidFill>
                  <a:schemeClr val="accent2">
                    <a:lumMod val="75000"/>
                  </a:schemeClr>
                </a:solidFill>
              </a:rPr>
              <a:t>交互分享机会）</a:t>
            </a:r>
            <a:endParaRPr lang="en-US" b="1" dirty="0">
              <a:solidFill>
                <a:schemeClr val="accent2">
                  <a:lumMod val="75000"/>
                </a:schemeClr>
              </a:solidFill>
            </a:endParaRPr>
          </a:p>
          <a:p>
            <a:endParaRPr lang="zh-CN" altLang="en-US" dirty="0"/>
          </a:p>
        </p:txBody>
      </p:sp>
      <p:pic>
        <p:nvPicPr>
          <p:cNvPr id="51202" name="Picture 2" descr="IMG_3175"/>
          <p:cNvPicPr>
            <a:picLocks noChangeAspect="1" noChangeArrowheads="1"/>
          </p:cNvPicPr>
          <p:nvPr/>
        </p:nvPicPr>
        <p:blipFill>
          <a:blip r:embed="rId3"/>
          <a:srcRect/>
          <a:stretch>
            <a:fillRect/>
          </a:stretch>
        </p:blipFill>
        <p:spPr bwMode="auto">
          <a:xfrm>
            <a:off x="1166778" y="2071678"/>
            <a:ext cx="2244046" cy="4000528"/>
          </a:xfrm>
          <a:prstGeom prst="rect">
            <a:avLst/>
          </a:prstGeom>
          <a:noFill/>
        </p:spPr>
      </p:pic>
      <p:sp>
        <p:nvSpPr>
          <p:cNvPr id="7" name="矩形 6"/>
          <p:cNvSpPr/>
          <p:nvPr/>
        </p:nvSpPr>
        <p:spPr>
          <a:xfrm>
            <a:off x="5381621" y="5857892"/>
            <a:ext cx="6319359" cy="369332"/>
          </a:xfrm>
          <a:prstGeom prst="rect">
            <a:avLst/>
          </a:prstGeom>
        </p:spPr>
        <p:txBody>
          <a:bodyPr wrap="none">
            <a:spAutoFit/>
          </a:bodyPr>
          <a:lstStyle/>
          <a:p>
            <a:r>
              <a:rPr lang="en-US" b="1" dirty="0">
                <a:solidFill>
                  <a:schemeClr val="accent2">
                    <a:lumMod val="75000"/>
                  </a:schemeClr>
                </a:solidFill>
              </a:rPr>
              <a:t>Include a Link on </a:t>
            </a:r>
            <a:r>
              <a:rPr lang="en-US" b="1" dirty="0" err="1">
                <a:solidFill>
                  <a:schemeClr val="accent2">
                    <a:lumMod val="75000"/>
                  </a:schemeClr>
                </a:solidFill>
              </a:rPr>
              <a:t>Instagram</a:t>
            </a:r>
            <a:r>
              <a:rPr lang="zh-CN" altLang="en-US" b="1" dirty="0">
                <a:solidFill>
                  <a:schemeClr val="accent2">
                    <a:lumMod val="75000"/>
                  </a:schemeClr>
                </a:solidFill>
              </a:rPr>
              <a:t>（创建你的店铺或者网站链接）</a:t>
            </a:r>
            <a:endParaRPr lang="en-US" b="1" dirty="0">
              <a:solidFill>
                <a:schemeClr val="accent2">
                  <a:lumMod val="75000"/>
                </a:schemeClr>
              </a:solidFill>
            </a:endParaRPr>
          </a:p>
        </p:txBody>
      </p:sp>
      <p:pic>
        <p:nvPicPr>
          <p:cNvPr id="51204" name="Picture 4" descr="birchbox instagram profile bio"/>
          <p:cNvPicPr>
            <a:picLocks noChangeAspect="1" noChangeArrowheads="1"/>
          </p:cNvPicPr>
          <p:nvPr/>
        </p:nvPicPr>
        <p:blipFill>
          <a:blip r:embed="rId4"/>
          <a:srcRect/>
          <a:stretch>
            <a:fillRect/>
          </a:stretch>
        </p:blipFill>
        <p:spPr bwMode="auto">
          <a:xfrm>
            <a:off x="4524365" y="3571876"/>
            <a:ext cx="7347909" cy="1928826"/>
          </a:xfrm>
          <a:prstGeom prst="rect">
            <a:avLst/>
          </a:prstGeom>
          <a:noFill/>
        </p:spPr>
      </p:pic>
    </p:spTree>
    <p:extLst>
      <p:ext uri="{BB962C8B-B14F-4D97-AF65-F5344CB8AC3E}">
        <p14:creationId xmlns:p14="http://schemas.microsoft.com/office/powerpoint/2010/main" val="29067418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4" name="Picture 2" descr="Image result for instagram"/>
          <p:cNvPicPr>
            <a:picLocks noChangeAspect="1" noChangeArrowheads="1"/>
          </p:cNvPicPr>
          <p:nvPr/>
        </p:nvPicPr>
        <p:blipFill>
          <a:blip r:embed="rId2" cstate="print"/>
          <a:srcRect/>
          <a:stretch>
            <a:fillRect/>
          </a:stretch>
        </p:blipFill>
        <p:spPr bwMode="auto">
          <a:xfrm>
            <a:off x="6524628" y="1"/>
            <a:ext cx="3174938" cy="1785903"/>
          </a:xfrm>
          <a:prstGeom prst="rect">
            <a:avLst/>
          </a:prstGeom>
          <a:noFill/>
        </p:spPr>
      </p:pic>
      <p:sp>
        <p:nvSpPr>
          <p:cNvPr id="5" name="矩形 4"/>
          <p:cNvSpPr/>
          <p:nvPr/>
        </p:nvSpPr>
        <p:spPr>
          <a:xfrm>
            <a:off x="809589" y="1214422"/>
            <a:ext cx="3087705" cy="369332"/>
          </a:xfrm>
          <a:prstGeom prst="rect">
            <a:avLst/>
          </a:prstGeom>
        </p:spPr>
        <p:txBody>
          <a:bodyPr wrap="none">
            <a:spAutoFit/>
          </a:bodyPr>
          <a:lstStyle/>
          <a:p>
            <a:r>
              <a:rPr lang="en-US" b="1" dirty="0"/>
              <a:t>Take Advantage of </a:t>
            </a:r>
            <a:r>
              <a:rPr lang="en-US" b="1" dirty="0" err="1"/>
              <a:t>Hashtag</a:t>
            </a:r>
            <a:endParaRPr lang="en-US" b="1" dirty="0"/>
          </a:p>
        </p:txBody>
      </p:sp>
      <p:pic>
        <p:nvPicPr>
          <p:cNvPr id="52226" name="Picture 2" descr="IMG_3177"/>
          <p:cNvPicPr>
            <a:picLocks noChangeAspect="1" noChangeArrowheads="1"/>
          </p:cNvPicPr>
          <p:nvPr/>
        </p:nvPicPr>
        <p:blipFill>
          <a:blip r:embed="rId3"/>
          <a:srcRect/>
          <a:stretch>
            <a:fillRect/>
          </a:stretch>
        </p:blipFill>
        <p:spPr bwMode="auto">
          <a:xfrm>
            <a:off x="809589" y="1643050"/>
            <a:ext cx="2705095" cy="4822454"/>
          </a:xfrm>
          <a:prstGeom prst="rect">
            <a:avLst/>
          </a:prstGeom>
          <a:noFill/>
        </p:spPr>
      </p:pic>
      <p:pic>
        <p:nvPicPr>
          <p:cNvPr id="52227" name="Picture 3"/>
          <p:cNvPicPr>
            <a:picLocks noChangeAspect="1" noChangeArrowheads="1"/>
          </p:cNvPicPr>
          <p:nvPr/>
        </p:nvPicPr>
        <p:blipFill>
          <a:blip r:embed="rId4"/>
          <a:srcRect/>
          <a:stretch>
            <a:fillRect/>
          </a:stretch>
        </p:blipFill>
        <p:spPr bwMode="auto">
          <a:xfrm>
            <a:off x="4024298" y="1500174"/>
            <a:ext cx="7630146" cy="1714512"/>
          </a:xfrm>
          <a:prstGeom prst="rect">
            <a:avLst/>
          </a:prstGeom>
          <a:noFill/>
          <a:ln w="9525">
            <a:noFill/>
            <a:miter lim="800000"/>
            <a:headEnd/>
            <a:tailEnd/>
          </a:ln>
          <a:effectLst/>
        </p:spPr>
      </p:pic>
      <p:sp>
        <p:nvSpPr>
          <p:cNvPr id="8" name="TextBox 7"/>
          <p:cNvSpPr txBox="1"/>
          <p:nvPr/>
        </p:nvSpPr>
        <p:spPr>
          <a:xfrm>
            <a:off x="4381489" y="4500571"/>
            <a:ext cx="7366119" cy="646331"/>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zh-CN" altLang="en-US" b="1" dirty="0"/>
              <a:t>   添加适合和适量的</a:t>
            </a:r>
            <a:r>
              <a:rPr lang="en-US" b="1" dirty="0" err="1"/>
              <a:t>Hashtag</a:t>
            </a:r>
            <a:r>
              <a:rPr lang="zh-CN" altLang="en-US" b="1" dirty="0"/>
              <a:t> </a:t>
            </a:r>
            <a:r>
              <a:rPr lang="en-US" altLang="zh-CN" b="1" dirty="0"/>
              <a:t>,</a:t>
            </a:r>
            <a:r>
              <a:rPr lang="zh-CN" altLang="en-US" b="1" dirty="0"/>
              <a:t>有助于你发布的视频或者照片增加曝光和</a:t>
            </a:r>
            <a:endParaRPr lang="en-US" altLang="zh-CN" b="1" dirty="0"/>
          </a:p>
          <a:p>
            <a:r>
              <a:rPr lang="zh-CN" altLang="en-US" b="1" dirty="0"/>
              <a:t>获得互动</a:t>
            </a:r>
            <a:endParaRPr lang="en-US" b="1" dirty="0"/>
          </a:p>
        </p:txBody>
      </p:sp>
    </p:spTree>
    <p:extLst>
      <p:ext uri="{BB962C8B-B14F-4D97-AF65-F5344CB8AC3E}">
        <p14:creationId xmlns:p14="http://schemas.microsoft.com/office/powerpoint/2010/main" val="38577094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descr="Instagram帖子创建，管理，分析的使用工具全都在这里了"/>
          <p:cNvPicPr>
            <a:picLocks noChangeAspect="1" noChangeArrowheads="1"/>
          </p:cNvPicPr>
          <p:nvPr/>
        </p:nvPicPr>
        <p:blipFill>
          <a:blip r:embed="rId2"/>
          <a:srcRect/>
          <a:stretch>
            <a:fillRect/>
          </a:stretch>
        </p:blipFill>
        <p:spPr bwMode="auto">
          <a:xfrm>
            <a:off x="809588" y="1285861"/>
            <a:ext cx="3371850" cy="5338759"/>
          </a:xfrm>
          <a:prstGeom prst="rect">
            <a:avLst/>
          </a:prstGeom>
          <a:noFill/>
        </p:spPr>
      </p:pic>
      <p:sp>
        <p:nvSpPr>
          <p:cNvPr id="3"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4" name="TextBox 3"/>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5" name="Picture 2" descr="Image result for instagram"/>
          <p:cNvPicPr>
            <a:picLocks noChangeAspect="1" noChangeArrowheads="1"/>
          </p:cNvPicPr>
          <p:nvPr/>
        </p:nvPicPr>
        <p:blipFill>
          <a:blip r:embed="rId3" cstate="print"/>
          <a:srcRect/>
          <a:stretch>
            <a:fillRect/>
          </a:stretch>
        </p:blipFill>
        <p:spPr bwMode="auto">
          <a:xfrm>
            <a:off x="6524628" y="1"/>
            <a:ext cx="3174938" cy="1785903"/>
          </a:xfrm>
          <a:prstGeom prst="rect">
            <a:avLst/>
          </a:prstGeom>
          <a:noFill/>
        </p:spPr>
      </p:pic>
      <p:sp>
        <p:nvSpPr>
          <p:cNvPr id="6" name="矩形 5"/>
          <p:cNvSpPr/>
          <p:nvPr/>
        </p:nvSpPr>
        <p:spPr>
          <a:xfrm>
            <a:off x="5616326" y="3244334"/>
            <a:ext cx="4281941" cy="369332"/>
          </a:xfrm>
          <a:prstGeom prst="rect">
            <a:avLst/>
          </a:prstGeom>
        </p:spPr>
        <p:txBody>
          <a:bodyPr wrap="none">
            <a:spAutoFit/>
          </a:bodyPr>
          <a:lstStyle/>
          <a:p>
            <a:r>
              <a:rPr lang="en-US" b="1" dirty="0" err="1"/>
              <a:t>Hashtag</a:t>
            </a:r>
            <a:r>
              <a:rPr lang="zh-CN" altLang="en-US" b="1" dirty="0"/>
              <a:t>可以利用手机端工具</a:t>
            </a:r>
            <a:r>
              <a:rPr lang="en-US" altLang="zh-CN" b="1" dirty="0" err="1"/>
              <a:t>Grama</a:t>
            </a:r>
            <a:r>
              <a:rPr lang="zh-CN" altLang="en-US" b="1" dirty="0"/>
              <a:t>获得</a:t>
            </a:r>
            <a:endParaRPr lang="zh-CN" altLang="en-US" dirty="0"/>
          </a:p>
        </p:txBody>
      </p:sp>
    </p:spTree>
    <p:extLst>
      <p:ext uri="{BB962C8B-B14F-4D97-AF65-F5344CB8AC3E}">
        <p14:creationId xmlns:p14="http://schemas.microsoft.com/office/powerpoint/2010/main" val="1084260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4" name="Picture 2" descr="Image result for instagram"/>
          <p:cNvPicPr>
            <a:picLocks noChangeAspect="1" noChangeArrowheads="1"/>
          </p:cNvPicPr>
          <p:nvPr/>
        </p:nvPicPr>
        <p:blipFill>
          <a:blip r:embed="rId2" cstate="print"/>
          <a:srcRect/>
          <a:stretch>
            <a:fillRect/>
          </a:stretch>
        </p:blipFill>
        <p:spPr bwMode="auto">
          <a:xfrm>
            <a:off x="6524628" y="1"/>
            <a:ext cx="3174938" cy="1785903"/>
          </a:xfrm>
          <a:prstGeom prst="rect">
            <a:avLst/>
          </a:prstGeom>
          <a:noFill/>
        </p:spPr>
      </p:pic>
      <p:sp>
        <p:nvSpPr>
          <p:cNvPr id="5" name="矩形 4"/>
          <p:cNvSpPr/>
          <p:nvPr/>
        </p:nvSpPr>
        <p:spPr>
          <a:xfrm>
            <a:off x="452398" y="1357298"/>
            <a:ext cx="4684296" cy="369332"/>
          </a:xfrm>
          <a:prstGeom prst="rect">
            <a:avLst/>
          </a:prstGeom>
        </p:spPr>
        <p:txBody>
          <a:bodyPr wrap="none">
            <a:spAutoFit/>
          </a:bodyPr>
          <a:lstStyle/>
          <a:p>
            <a:r>
              <a:rPr lang="en-US" b="1" dirty="0"/>
              <a:t>Use High Quality Images </a:t>
            </a:r>
            <a:r>
              <a:rPr lang="zh-CN" altLang="en-US" b="1" dirty="0"/>
              <a:t>创建高质量的照片</a:t>
            </a:r>
            <a:endParaRPr lang="en-US" b="1" dirty="0"/>
          </a:p>
        </p:txBody>
      </p:sp>
      <p:pic>
        <p:nvPicPr>
          <p:cNvPr id="54274" name="Picture 2" descr="IMG_3161"/>
          <p:cNvPicPr>
            <a:picLocks noChangeAspect="1" noChangeArrowheads="1"/>
          </p:cNvPicPr>
          <p:nvPr/>
        </p:nvPicPr>
        <p:blipFill>
          <a:blip r:embed="rId3"/>
          <a:srcRect/>
          <a:stretch>
            <a:fillRect/>
          </a:stretch>
        </p:blipFill>
        <p:spPr bwMode="auto">
          <a:xfrm>
            <a:off x="1381092" y="1785926"/>
            <a:ext cx="2786082" cy="4857784"/>
          </a:xfrm>
          <a:prstGeom prst="rect">
            <a:avLst/>
          </a:prstGeom>
          <a:noFill/>
        </p:spPr>
      </p:pic>
      <p:pic>
        <p:nvPicPr>
          <p:cNvPr id="54276" name="Picture 4" descr="IMG_3162"/>
          <p:cNvPicPr>
            <a:picLocks noChangeAspect="1" noChangeArrowheads="1"/>
          </p:cNvPicPr>
          <p:nvPr/>
        </p:nvPicPr>
        <p:blipFill>
          <a:blip r:embed="rId4"/>
          <a:srcRect/>
          <a:stretch>
            <a:fillRect/>
          </a:stretch>
        </p:blipFill>
        <p:spPr bwMode="auto">
          <a:xfrm>
            <a:off x="7524760" y="1785926"/>
            <a:ext cx="3000372" cy="4857784"/>
          </a:xfrm>
          <a:prstGeom prst="rect">
            <a:avLst/>
          </a:prstGeom>
          <a:noFill/>
        </p:spPr>
      </p:pic>
      <p:sp>
        <p:nvSpPr>
          <p:cNvPr id="8" name="TextBox 7"/>
          <p:cNvSpPr txBox="1"/>
          <p:nvPr/>
        </p:nvSpPr>
        <p:spPr>
          <a:xfrm>
            <a:off x="4381488" y="3643315"/>
            <a:ext cx="2714644" cy="1200329"/>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endParaRPr lang="en-US" altLang="zh-CN" dirty="0"/>
          </a:p>
          <a:p>
            <a:pPr algn="ctr"/>
            <a:r>
              <a:rPr lang="zh-CN" altLang="en-US" dirty="0"/>
              <a:t>设备要求：大光圈镜头</a:t>
            </a:r>
            <a:endParaRPr lang="en-US" altLang="zh-CN" dirty="0"/>
          </a:p>
          <a:p>
            <a:pPr algn="ctr"/>
            <a:r>
              <a:rPr lang="zh-CN" altLang="en-US" dirty="0"/>
              <a:t>拍摄场景：户外</a:t>
            </a:r>
            <a:endParaRPr lang="en-US" altLang="zh-CN" dirty="0"/>
          </a:p>
          <a:p>
            <a:endParaRPr lang="zh-CN" altLang="en-US" dirty="0"/>
          </a:p>
        </p:txBody>
      </p:sp>
    </p:spTree>
    <p:extLst>
      <p:ext uri="{BB962C8B-B14F-4D97-AF65-F5344CB8AC3E}">
        <p14:creationId xmlns:p14="http://schemas.microsoft.com/office/powerpoint/2010/main" val="27025212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2" descr="Image result for instagram ads facebook"/>
          <p:cNvPicPr>
            <a:picLocks noChangeAspect="1" noChangeArrowheads="1"/>
          </p:cNvPicPr>
          <p:nvPr/>
        </p:nvPicPr>
        <p:blipFill>
          <a:blip r:embed="rId2"/>
          <a:srcRect/>
          <a:stretch>
            <a:fillRect/>
          </a:stretch>
        </p:blipFill>
        <p:spPr bwMode="auto">
          <a:xfrm>
            <a:off x="166646" y="1357298"/>
            <a:ext cx="8001056" cy="4672312"/>
          </a:xfrm>
          <a:prstGeom prst="rect">
            <a:avLst/>
          </a:prstGeom>
          <a:noFill/>
        </p:spPr>
      </p:pic>
      <p:sp>
        <p:nvSpPr>
          <p:cNvPr id="3"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4" name="TextBox 3"/>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5" name="Picture 2" descr="Image result for instagram"/>
          <p:cNvPicPr>
            <a:picLocks noChangeAspect="1" noChangeArrowheads="1"/>
          </p:cNvPicPr>
          <p:nvPr/>
        </p:nvPicPr>
        <p:blipFill>
          <a:blip r:embed="rId3" cstate="print"/>
          <a:srcRect/>
          <a:stretch>
            <a:fillRect/>
          </a:stretch>
        </p:blipFill>
        <p:spPr bwMode="auto">
          <a:xfrm>
            <a:off x="6524628" y="1"/>
            <a:ext cx="3174938" cy="1785903"/>
          </a:xfrm>
          <a:prstGeom prst="rect">
            <a:avLst/>
          </a:prstGeom>
          <a:noFill/>
        </p:spPr>
      </p:pic>
      <p:sp>
        <p:nvSpPr>
          <p:cNvPr id="6" name="TextBox 5"/>
          <p:cNvSpPr txBox="1"/>
          <p:nvPr/>
        </p:nvSpPr>
        <p:spPr>
          <a:xfrm>
            <a:off x="8167703" y="3500439"/>
            <a:ext cx="3217547" cy="646331"/>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dirty="0"/>
              <a:t>     Create Call to Action Image</a:t>
            </a:r>
          </a:p>
          <a:p>
            <a:r>
              <a:rPr lang="zh-CN" altLang="en-US" dirty="0"/>
              <a:t>创建“立刻行动”的主题图片</a:t>
            </a:r>
            <a:endParaRPr lang="en-US" altLang="zh-CN" dirty="0"/>
          </a:p>
        </p:txBody>
      </p:sp>
    </p:spTree>
    <p:extLst>
      <p:ext uri="{BB962C8B-B14F-4D97-AF65-F5344CB8AC3E}">
        <p14:creationId xmlns:p14="http://schemas.microsoft.com/office/powerpoint/2010/main" val="4208949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4" name="Picture 2" descr="Image result for instagram"/>
          <p:cNvPicPr>
            <a:picLocks noChangeAspect="1" noChangeArrowheads="1"/>
          </p:cNvPicPr>
          <p:nvPr/>
        </p:nvPicPr>
        <p:blipFill>
          <a:blip r:embed="rId2" cstate="print"/>
          <a:srcRect/>
          <a:stretch>
            <a:fillRect/>
          </a:stretch>
        </p:blipFill>
        <p:spPr bwMode="auto">
          <a:xfrm>
            <a:off x="6524628" y="1"/>
            <a:ext cx="3174938" cy="1785903"/>
          </a:xfrm>
          <a:prstGeom prst="rect">
            <a:avLst/>
          </a:prstGeom>
          <a:noFill/>
        </p:spPr>
      </p:pic>
      <p:sp>
        <p:nvSpPr>
          <p:cNvPr id="5" name="矩形 4"/>
          <p:cNvSpPr/>
          <p:nvPr/>
        </p:nvSpPr>
        <p:spPr>
          <a:xfrm>
            <a:off x="238084" y="1142984"/>
            <a:ext cx="4817344" cy="369332"/>
          </a:xfrm>
          <a:prstGeom prst="rect">
            <a:avLst/>
          </a:prstGeom>
        </p:spPr>
        <p:txBody>
          <a:bodyPr wrap="none">
            <a:spAutoFit/>
          </a:bodyPr>
          <a:lstStyle/>
          <a:p>
            <a:r>
              <a:rPr lang="en-US" b="1" dirty="0"/>
              <a:t> Invest in </a:t>
            </a:r>
            <a:r>
              <a:rPr lang="en-US" b="1" dirty="0" err="1"/>
              <a:t>Instagram</a:t>
            </a:r>
            <a:r>
              <a:rPr lang="en-US" b="1" dirty="0"/>
              <a:t> Ads </a:t>
            </a:r>
            <a:r>
              <a:rPr lang="zh-CN" altLang="en-US" b="1" dirty="0"/>
              <a:t>参与</a:t>
            </a:r>
            <a:r>
              <a:rPr lang="en-US" altLang="zh-CN" b="1" dirty="0" err="1"/>
              <a:t>Instagram</a:t>
            </a:r>
            <a:r>
              <a:rPr lang="en-US" altLang="zh-CN" b="1" dirty="0"/>
              <a:t> </a:t>
            </a:r>
            <a:r>
              <a:rPr lang="zh-CN" altLang="en-US" b="1" dirty="0"/>
              <a:t>广告</a:t>
            </a:r>
            <a:endParaRPr lang="en-US" b="1" dirty="0"/>
          </a:p>
        </p:txBody>
      </p:sp>
      <p:pic>
        <p:nvPicPr>
          <p:cNvPr id="56322" name="Picture 2" descr="choose clicks to website campaign"/>
          <p:cNvPicPr>
            <a:picLocks noChangeAspect="1" noChangeArrowheads="1"/>
          </p:cNvPicPr>
          <p:nvPr/>
        </p:nvPicPr>
        <p:blipFill>
          <a:blip r:embed="rId3"/>
          <a:srcRect/>
          <a:stretch>
            <a:fillRect/>
          </a:stretch>
        </p:blipFill>
        <p:spPr bwMode="auto">
          <a:xfrm>
            <a:off x="238085" y="1714488"/>
            <a:ext cx="7762871" cy="4932750"/>
          </a:xfrm>
          <a:prstGeom prst="rect">
            <a:avLst/>
          </a:prstGeom>
          <a:noFill/>
        </p:spPr>
      </p:pic>
      <p:sp>
        <p:nvSpPr>
          <p:cNvPr id="7" name="TextBox 6"/>
          <p:cNvSpPr txBox="1"/>
          <p:nvPr/>
        </p:nvSpPr>
        <p:spPr>
          <a:xfrm>
            <a:off x="8096265" y="3643315"/>
            <a:ext cx="4070345" cy="461665"/>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zh-CN" altLang="en-US" sz="2400" dirty="0"/>
              <a:t>在</a:t>
            </a:r>
            <a:r>
              <a:rPr lang="en-US" altLang="zh-CN" sz="2400" dirty="0" err="1"/>
              <a:t>Facebook</a:t>
            </a:r>
            <a:r>
              <a:rPr lang="zh-CN" altLang="en-US" sz="2400" dirty="0"/>
              <a:t>后台创建</a:t>
            </a:r>
            <a:r>
              <a:rPr lang="en-US" altLang="zh-CN" sz="2400" dirty="0"/>
              <a:t>INS</a:t>
            </a:r>
            <a:r>
              <a:rPr lang="zh-CN" altLang="en-US" sz="2400" dirty="0"/>
              <a:t>广告</a:t>
            </a:r>
          </a:p>
        </p:txBody>
      </p:sp>
    </p:spTree>
    <p:extLst>
      <p:ext uri="{BB962C8B-B14F-4D97-AF65-F5344CB8AC3E}">
        <p14:creationId xmlns:p14="http://schemas.microsoft.com/office/powerpoint/2010/main" val="3911749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4" name="Picture 2" descr="Image result for instagram"/>
          <p:cNvPicPr>
            <a:picLocks noChangeAspect="1" noChangeArrowheads="1"/>
          </p:cNvPicPr>
          <p:nvPr/>
        </p:nvPicPr>
        <p:blipFill>
          <a:blip r:embed="rId2" cstate="print"/>
          <a:srcRect/>
          <a:stretch>
            <a:fillRect/>
          </a:stretch>
        </p:blipFill>
        <p:spPr bwMode="auto">
          <a:xfrm>
            <a:off x="6524628" y="1"/>
            <a:ext cx="3174938" cy="1785903"/>
          </a:xfrm>
          <a:prstGeom prst="rect">
            <a:avLst/>
          </a:prstGeom>
          <a:noFill/>
        </p:spPr>
      </p:pic>
      <p:pic>
        <p:nvPicPr>
          <p:cNvPr id="57346" name="Picture 2" descr="View Instagram permalink with comments in Facebook ads manager"/>
          <p:cNvPicPr>
            <a:picLocks noChangeAspect="1" noChangeArrowheads="1"/>
          </p:cNvPicPr>
          <p:nvPr/>
        </p:nvPicPr>
        <p:blipFill>
          <a:blip r:embed="rId3"/>
          <a:srcRect/>
          <a:stretch>
            <a:fillRect/>
          </a:stretch>
        </p:blipFill>
        <p:spPr bwMode="auto">
          <a:xfrm>
            <a:off x="6167439" y="1714489"/>
            <a:ext cx="5792815" cy="4580519"/>
          </a:xfrm>
          <a:prstGeom prst="rect">
            <a:avLst/>
          </a:prstGeom>
          <a:noFill/>
        </p:spPr>
      </p:pic>
      <p:pic>
        <p:nvPicPr>
          <p:cNvPr id="57348" name="Picture 4" descr="Instagram ad Creative setup - Website URL, Text, Image, Call to Action"/>
          <p:cNvPicPr>
            <a:picLocks noChangeAspect="1" noChangeArrowheads="1"/>
          </p:cNvPicPr>
          <p:nvPr/>
        </p:nvPicPr>
        <p:blipFill>
          <a:blip r:embed="rId4"/>
          <a:srcRect/>
          <a:stretch>
            <a:fillRect/>
          </a:stretch>
        </p:blipFill>
        <p:spPr bwMode="auto">
          <a:xfrm>
            <a:off x="794" y="1928802"/>
            <a:ext cx="4610100" cy="4095750"/>
          </a:xfrm>
          <a:prstGeom prst="rect">
            <a:avLst/>
          </a:prstGeom>
          <a:noFill/>
        </p:spPr>
      </p:pic>
      <p:sp>
        <p:nvSpPr>
          <p:cNvPr id="7" name="右箭头 6"/>
          <p:cNvSpPr/>
          <p:nvPr/>
        </p:nvSpPr>
        <p:spPr>
          <a:xfrm>
            <a:off x="4881554" y="3500438"/>
            <a:ext cx="1071570" cy="50006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8" name="矩形 7"/>
          <p:cNvSpPr/>
          <p:nvPr/>
        </p:nvSpPr>
        <p:spPr>
          <a:xfrm>
            <a:off x="794" y="1214422"/>
            <a:ext cx="4817344" cy="369332"/>
          </a:xfrm>
          <a:prstGeom prst="rect">
            <a:avLst/>
          </a:prstGeom>
        </p:spPr>
        <p:txBody>
          <a:bodyPr wrap="none">
            <a:spAutoFit/>
          </a:bodyPr>
          <a:lstStyle/>
          <a:p>
            <a:r>
              <a:rPr lang="en-US" b="1" dirty="0"/>
              <a:t> Invest in </a:t>
            </a:r>
            <a:r>
              <a:rPr lang="en-US" b="1" dirty="0" err="1"/>
              <a:t>Instagram</a:t>
            </a:r>
            <a:r>
              <a:rPr lang="en-US" b="1" dirty="0"/>
              <a:t> Ads </a:t>
            </a:r>
            <a:r>
              <a:rPr lang="zh-CN" altLang="en-US" b="1" dirty="0"/>
              <a:t>参与</a:t>
            </a:r>
            <a:r>
              <a:rPr lang="en-US" altLang="zh-CN" b="1" dirty="0" err="1"/>
              <a:t>Instagram</a:t>
            </a:r>
            <a:r>
              <a:rPr lang="en-US" altLang="zh-CN" b="1" dirty="0"/>
              <a:t> </a:t>
            </a:r>
            <a:r>
              <a:rPr lang="zh-CN" altLang="en-US" b="1" dirty="0"/>
              <a:t>广告</a:t>
            </a:r>
            <a:endParaRPr lang="en-US" b="1" dirty="0"/>
          </a:p>
        </p:txBody>
      </p:sp>
    </p:spTree>
    <p:extLst>
      <p:ext uri="{BB962C8B-B14F-4D97-AF65-F5344CB8AC3E}">
        <p14:creationId xmlns:p14="http://schemas.microsoft.com/office/powerpoint/2010/main" val="16205755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sp>
        <p:nvSpPr>
          <p:cNvPr id="58370" name="AutoShape 2" descr="Image result for pinterest"/>
          <p:cNvSpPr>
            <a:spLocks noChangeAspect="1" noChangeArrowheads="1"/>
          </p:cNvSpPr>
          <p:nvPr/>
        </p:nvSpPr>
        <p:spPr bwMode="auto">
          <a:xfrm>
            <a:off x="156369"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sp>
        <p:nvSpPr>
          <p:cNvPr id="58372" name="AutoShape 4" descr="Image result for pinterest"/>
          <p:cNvSpPr>
            <a:spLocks noChangeAspect="1" noChangeArrowheads="1"/>
          </p:cNvSpPr>
          <p:nvPr/>
        </p:nvSpPr>
        <p:spPr bwMode="auto">
          <a:xfrm>
            <a:off x="156369"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58374" name="Picture 6" descr="Image result for pinterest"/>
          <p:cNvPicPr>
            <a:picLocks noChangeAspect="1" noChangeArrowheads="1"/>
          </p:cNvPicPr>
          <p:nvPr/>
        </p:nvPicPr>
        <p:blipFill>
          <a:blip r:embed="rId2" cstate="print"/>
          <a:srcRect/>
          <a:stretch>
            <a:fillRect/>
          </a:stretch>
        </p:blipFill>
        <p:spPr bwMode="auto">
          <a:xfrm>
            <a:off x="6881818" y="285728"/>
            <a:ext cx="1785870" cy="976266"/>
          </a:xfrm>
          <a:prstGeom prst="rect">
            <a:avLst/>
          </a:prstGeom>
          <a:noFill/>
        </p:spPr>
      </p:pic>
      <p:graphicFrame>
        <p:nvGraphicFramePr>
          <p:cNvPr id="7" name="图表 6"/>
          <p:cNvGraphicFramePr/>
          <p:nvPr/>
        </p:nvGraphicFramePr>
        <p:xfrm>
          <a:off x="452398" y="1785926"/>
          <a:ext cx="5929354" cy="4071966"/>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7596198" y="3357562"/>
            <a:ext cx="4339650" cy="369332"/>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zh-CN" altLang="en-US" dirty="0"/>
              <a:t>适合推广产品：美妆、时尚、服装类产品</a:t>
            </a:r>
          </a:p>
        </p:txBody>
      </p:sp>
      <p:sp>
        <p:nvSpPr>
          <p:cNvPr id="9" name="右箭头 8"/>
          <p:cNvSpPr/>
          <p:nvPr/>
        </p:nvSpPr>
        <p:spPr>
          <a:xfrm>
            <a:off x="6596066" y="3500438"/>
            <a:ext cx="785818" cy="142876"/>
          </a:xfrm>
          <a:prstGeom prst="rightArrow">
            <a:avLst/>
          </a:prstGeom>
          <a:solidFill>
            <a:schemeClr val="accent6">
              <a:lumMod val="7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499050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4" name="Picture 6" descr="Image result for pinterest"/>
          <p:cNvPicPr>
            <a:picLocks noChangeAspect="1" noChangeArrowheads="1"/>
          </p:cNvPicPr>
          <p:nvPr/>
        </p:nvPicPr>
        <p:blipFill>
          <a:blip r:embed="rId2" cstate="print"/>
          <a:srcRect/>
          <a:stretch>
            <a:fillRect/>
          </a:stretch>
        </p:blipFill>
        <p:spPr bwMode="auto">
          <a:xfrm>
            <a:off x="6881818" y="285728"/>
            <a:ext cx="1785870" cy="976266"/>
          </a:xfrm>
          <a:prstGeom prst="rect">
            <a:avLst/>
          </a:prstGeom>
          <a:noFill/>
        </p:spPr>
      </p:pic>
      <p:sp>
        <p:nvSpPr>
          <p:cNvPr id="5" name="矩形 4"/>
          <p:cNvSpPr/>
          <p:nvPr/>
        </p:nvSpPr>
        <p:spPr>
          <a:xfrm>
            <a:off x="666712" y="2928934"/>
            <a:ext cx="3643338" cy="785818"/>
          </a:xfrm>
          <a:prstGeom prst="rect">
            <a:avLst/>
          </a:prstGeom>
          <a:solidFill>
            <a:srgbClr val="0070C0"/>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dirty="0"/>
              <a:t>Boost Traffic from </a:t>
            </a:r>
            <a:r>
              <a:rPr lang="en-US" altLang="zh-CN" dirty="0" err="1"/>
              <a:t>Pinterest</a:t>
            </a:r>
            <a:endParaRPr lang="zh-CN" altLang="en-US" dirty="0"/>
          </a:p>
        </p:txBody>
      </p:sp>
      <p:sp>
        <p:nvSpPr>
          <p:cNvPr id="7" name="椭圆 6"/>
          <p:cNvSpPr/>
          <p:nvPr/>
        </p:nvSpPr>
        <p:spPr>
          <a:xfrm>
            <a:off x="5738810" y="1571612"/>
            <a:ext cx="3786214" cy="928694"/>
          </a:xfrm>
          <a:prstGeom prst="ellipse">
            <a:avLst/>
          </a:prstGeom>
          <a:solidFill>
            <a:srgbClr val="0070C0"/>
          </a:solidFill>
          <a:ln>
            <a:solidFill>
              <a:srgbClr val="0070C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你的</a:t>
            </a:r>
            <a:r>
              <a:rPr lang="en-US" altLang="zh-CN" dirty="0"/>
              <a:t>Pin</a:t>
            </a:r>
            <a:r>
              <a:rPr lang="zh-CN" altLang="en-US" dirty="0"/>
              <a:t>要有较高的排名和曝光</a:t>
            </a:r>
          </a:p>
        </p:txBody>
      </p:sp>
      <p:sp>
        <p:nvSpPr>
          <p:cNvPr id="8" name="椭圆 7"/>
          <p:cNvSpPr/>
          <p:nvPr/>
        </p:nvSpPr>
        <p:spPr>
          <a:xfrm>
            <a:off x="5810248" y="3071810"/>
            <a:ext cx="3786214" cy="928694"/>
          </a:xfrm>
          <a:prstGeom prst="ellipse">
            <a:avLst/>
          </a:prstGeom>
          <a:solidFill>
            <a:srgbClr val="0070C0"/>
          </a:solidFill>
          <a:ln>
            <a:solidFill>
              <a:srgbClr val="0070C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你的</a:t>
            </a:r>
            <a:r>
              <a:rPr lang="en-US" altLang="zh-CN" dirty="0"/>
              <a:t>Pin</a:t>
            </a:r>
            <a:r>
              <a:rPr lang="zh-CN" altLang="en-US" dirty="0"/>
              <a:t>的内容要足够丰富：使用</a:t>
            </a:r>
            <a:r>
              <a:rPr lang="en-US" altLang="zh-CN" dirty="0" err="1"/>
              <a:t>Richpin</a:t>
            </a:r>
            <a:endParaRPr lang="zh-CN" altLang="en-US" dirty="0"/>
          </a:p>
        </p:txBody>
      </p:sp>
      <p:sp>
        <p:nvSpPr>
          <p:cNvPr id="9" name="椭圆 8"/>
          <p:cNvSpPr/>
          <p:nvPr/>
        </p:nvSpPr>
        <p:spPr>
          <a:xfrm>
            <a:off x="5881686" y="4714884"/>
            <a:ext cx="3786214" cy="928694"/>
          </a:xfrm>
          <a:prstGeom prst="ellipse">
            <a:avLst/>
          </a:prstGeom>
          <a:solidFill>
            <a:srgbClr val="0070C0"/>
          </a:solidFill>
          <a:ln>
            <a:solidFill>
              <a:srgbClr val="0070C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t>你的</a:t>
            </a:r>
            <a:r>
              <a:rPr lang="en-US" altLang="zh-CN" dirty="0"/>
              <a:t>Pin</a:t>
            </a:r>
            <a:r>
              <a:rPr lang="zh-CN" altLang="en-US" dirty="0"/>
              <a:t>要有足够的互动入口：网站</a:t>
            </a:r>
            <a:r>
              <a:rPr lang="en-US" altLang="zh-CN" dirty="0"/>
              <a:t>Share</a:t>
            </a:r>
            <a:r>
              <a:rPr lang="zh-CN" altLang="en-US" dirty="0"/>
              <a:t>接口</a:t>
            </a:r>
          </a:p>
        </p:txBody>
      </p:sp>
      <p:sp>
        <p:nvSpPr>
          <p:cNvPr id="10" name="左大括号 9"/>
          <p:cNvSpPr/>
          <p:nvPr/>
        </p:nvSpPr>
        <p:spPr>
          <a:xfrm>
            <a:off x="4881554" y="2000240"/>
            <a:ext cx="500066" cy="3214710"/>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0"/>
          <p:cNvSpPr txBox="1"/>
          <p:nvPr/>
        </p:nvSpPr>
        <p:spPr>
          <a:xfrm>
            <a:off x="738150" y="4286256"/>
            <a:ext cx="35719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dirty="0"/>
              <a:t>Pin</a:t>
            </a:r>
            <a:r>
              <a:rPr lang="zh-CN" altLang="en-US" dirty="0"/>
              <a:t>站内排名的</a:t>
            </a:r>
            <a:r>
              <a:rPr lang="en-US" altLang="zh-CN" dirty="0"/>
              <a:t>SEO</a:t>
            </a:r>
            <a:r>
              <a:rPr lang="zh-CN" altLang="en-US" dirty="0"/>
              <a:t>因素非常关键</a:t>
            </a:r>
          </a:p>
        </p:txBody>
      </p:sp>
    </p:spTree>
    <p:extLst>
      <p:ext uri="{BB962C8B-B14F-4D97-AF65-F5344CB8AC3E}">
        <p14:creationId xmlns:p14="http://schemas.microsoft.com/office/powerpoint/2010/main" val="30361570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4" name="Picture 6" descr="Image result for pinterest"/>
          <p:cNvPicPr>
            <a:picLocks noChangeAspect="1" noChangeArrowheads="1"/>
          </p:cNvPicPr>
          <p:nvPr/>
        </p:nvPicPr>
        <p:blipFill>
          <a:blip r:embed="rId2" cstate="print"/>
          <a:srcRect/>
          <a:stretch>
            <a:fillRect/>
          </a:stretch>
        </p:blipFill>
        <p:spPr bwMode="auto">
          <a:xfrm>
            <a:off x="6881818" y="285728"/>
            <a:ext cx="1785870" cy="976266"/>
          </a:xfrm>
          <a:prstGeom prst="rect">
            <a:avLst/>
          </a:prstGeom>
          <a:noFill/>
        </p:spPr>
      </p:pic>
      <p:pic>
        <p:nvPicPr>
          <p:cNvPr id="1030" name="Picture 6" descr="Image result for pinterest screenshot"/>
          <p:cNvPicPr>
            <a:picLocks noChangeAspect="1" noChangeArrowheads="1"/>
          </p:cNvPicPr>
          <p:nvPr/>
        </p:nvPicPr>
        <p:blipFill>
          <a:blip r:embed="rId3"/>
          <a:srcRect/>
          <a:stretch>
            <a:fillRect/>
          </a:stretch>
        </p:blipFill>
        <p:spPr bwMode="auto">
          <a:xfrm>
            <a:off x="238084" y="1428736"/>
            <a:ext cx="7238214" cy="4829840"/>
          </a:xfrm>
          <a:prstGeom prst="rect">
            <a:avLst/>
          </a:prstGeom>
          <a:noFill/>
        </p:spPr>
      </p:pic>
      <p:sp>
        <p:nvSpPr>
          <p:cNvPr id="8" name="TextBox 7"/>
          <p:cNvSpPr txBox="1"/>
          <p:nvPr/>
        </p:nvSpPr>
        <p:spPr>
          <a:xfrm>
            <a:off x="8810645" y="3286125"/>
            <a:ext cx="2148345" cy="1200329"/>
          </a:xfrm>
          <a:prstGeom prst="rect">
            <a:avLst/>
          </a:prstGeom>
        </p:spPr>
        <p:style>
          <a:lnRef idx="2">
            <a:schemeClr val="accent4"/>
          </a:lnRef>
          <a:fillRef idx="1">
            <a:schemeClr val="lt1"/>
          </a:fillRef>
          <a:effectRef idx="0">
            <a:schemeClr val="accent4"/>
          </a:effectRef>
          <a:fontRef idx="minor">
            <a:schemeClr val="dk1"/>
          </a:fontRef>
        </p:style>
        <p:txBody>
          <a:bodyPr wrap="none" rtlCol="0">
            <a:spAutoFit/>
          </a:bodyPr>
          <a:lstStyle/>
          <a:p>
            <a:pPr algn="ctr"/>
            <a:r>
              <a:rPr lang="zh-CN" altLang="en-US" dirty="0"/>
              <a:t>完善基本信息</a:t>
            </a:r>
            <a:endParaRPr lang="en-US" altLang="zh-CN" dirty="0"/>
          </a:p>
          <a:p>
            <a:r>
              <a:rPr lang="en-US" altLang="zh-CN" dirty="0"/>
              <a:t>1</a:t>
            </a:r>
            <a:r>
              <a:rPr lang="zh-CN" altLang="en-US" dirty="0"/>
              <a:t>、头像</a:t>
            </a:r>
            <a:endParaRPr lang="en-US" altLang="zh-CN" dirty="0"/>
          </a:p>
          <a:p>
            <a:r>
              <a:rPr lang="en-US" altLang="zh-CN" dirty="0"/>
              <a:t>2</a:t>
            </a:r>
            <a:r>
              <a:rPr lang="zh-CN" altLang="en-US" dirty="0"/>
              <a:t>、简介</a:t>
            </a:r>
            <a:endParaRPr lang="en-US" altLang="zh-CN" dirty="0"/>
          </a:p>
          <a:p>
            <a:r>
              <a:rPr lang="en-US" altLang="zh-CN" dirty="0"/>
              <a:t>3</a:t>
            </a:r>
            <a:r>
              <a:rPr lang="zh-CN" altLang="en-US" dirty="0"/>
              <a:t>、需要确认的网站</a:t>
            </a:r>
          </a:p>
        </p:txBody>
      </p:sp>
    </p:spTree>
    <p:extLst>
      <p:ext uri="{BB962C8B-B14F-4D97-AF65-F5344CB8AC3E}">
        <p14:creationId xmlns:p14="http://schemas.microsoft.com/office/powerpoint/2010/main" val="38524828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4" name="Picture 6" descr="Image result for pinterest"/>
          <p:cNvPicPr>
            <a:picLocks noChangeAspect="1" noChangeArrowheads="1"/>
          </p:cNvPicPr>
          <p:nvPr/>
        </p:nvPicPr>
        <p:blipFill>
          <a:blip r:embed="rId2" cstate="print"/>
          <a:srcRect/>
          <a:stretch>
            <a:fillRect/>
          </a:stretch>
        </p:blipFill>
        <p:spPr bwMode="auto">
          <a:xfrm>
            <a:off x="6881818" y="285728"/>
            <a:ext cx="1785870" cy="976266"/>
          </a:xfrm>
          <a:prstGeom prst="rect">
            <a:avLst/>
          </a:prstGeom>
          <a:noFill/>
        </p:spPr>
      </p:pic>
      <p:pic>
        <p:nvPicPr>
          <p:cNvPr id="61442" name="Picture 2"/>
          <p:cNvPicPr>
            <a:picLocks noChangeAspect="1" noChangeArrowheads="1"/>
          </p:cNvPicPr>
          <p:nvPr/>
        </p:nvPicPr>
        <p:blipFill>
          <a:blip r:embed="rId3"/>
          <a:srcRect/>
          <a:stretch>
            <a:fillRect/>
          </a:stretch>
        </p:blipFill>
        <p:spPr bwMode="auto">
          <a:xfrm>
            <a:off x="309523" y="1571612"/>
            <a:ext cx="8200253" cy="4971216"/>
          </a:xfrm>
          <a:prstGeom prst="rect">
            <a:avLst/>
          </a:prstGeom>
          <a:noFill/>
          <a:ln w="9525">
            <a:noFill/>
            <a:miter lim="800000"/>
            <a:headEnd/>
            <a:tailEnd/>
          </a:ln>
          <a:effectLst/>
        </p:spPr>
      </p:pic>
      <p:sp>
        <p:nvSpPr>
          <p:cNvPr id="6" name="TextBox 5"/>
          <p:cNvSpPr txBox="1"/>
          <p:nvPr/>
        </p:nvSpPr>
        <p:spPr>
          <a:xfrm>
            <a:off x="8683903" y="3500439"/>
            <a:ext cx="3231975" cy="646331"/>
          </a:xfrm>
          <a:prstGeom prst="rect">
            <a:avLst/>
          </a:prstGeom>
        </p:spPr>
        <p:style>
          <a:lnRef idx="2">
            <a:schemeClr val="accent4"/>
          </a:lnRef>
          <a:fillRef idx="1">
            <a:schemeClr val="lt1"/>
          </a:fillRef>
          <a:effectRef idx="0">
            <a:schemeClr val="accent4"/>
          </a:effectRef>
          <a:fontRef idx="minor">
            <a:schemeClr val="dk1"/>
          </a:fontRef>
        </p:style>
        <p:txBody>
          <a:bodyPr wrap="none" rtlCol="0">
            <a:spAutoFit/>
          </a:bodyPr>
          <a:lstStyle/>
          <a:p>
            <a:pPr algn="ctr"/>
            <a:r>
              <a:rPr lang="zh-CN" altLang="en-US" dirty="0"/>
              <a:t>网站交互设置</a:t>
            </a:r>
            <a:endParaRPr lang="en-US" altLang="zh-CN" dirty="0"/>
          </a:p>
          <a:p>
            <a:r>
              <a:rPr lang="en-US" altLang="zh-CN" dirty="0"/>
              <a:t>Listing</a:t>
            </a:r>
            <a:r>
              <a:rPr lang="zh-CN" altLang="en-US" dirty="0"/>
              <a:t>页面添加</a:t>
            </a:r>
            <a:r>
              <a:rPr lang="en-US" altLang="zh-CN" dirty="0"/>
              <a:t>add to pin</a:t>
            </a:r>
            <a:r>
              <a:rPr lang="zh-CN" altLang="en-US" dirty="0"/>
              <a:t>标签</a:t>
            </a:r>
          </a:p>
        </p:txBody>
      </p:sp>
    </p:spTree>
    <p:extLst>
      <p:ext uri="{BB962C8B-B14F-4D97-AF65-F5344CB8AC3E}">
        <p14:creationId xmlns:p14="http://schemas.microsoft.com/office/powerpoint/2010/main" val="1686779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4" name="Picture 6" descr="Image result for pinterest"/>
          <p:cNvPicPr>
            <a:picLocks noChangeAspect="1" noChangeArrowheads="1"/>
          </p:cNvPicPr>
          <p:nvPr/>
        </p:nvPicPr>
        <p:blipFill>
          <a:blip r:embed="rId2" cstate="print"/>
          <a:srcRect/>
          <a:stretch>
            <a:fillRect/>
          </a:stretch>
        </p:blipFill>
        <p:spPr bwMode="auto">
          <a:xfrm>
            <a:off x="6881818" y="285728"/>
            <a:ext cx="1785870" cy="976266"/>
          </a:xfrm>
          <a:prstGeom prst="rect">
            <a:avLst/>
          </a:prstGeom>
          <a:noFill/>
        </p:spPr>
      </p:pic>
      <p:pic>
        <p:nvPicPr>
          <p:cNvPr id="62466" name="Picture 2" descr="Image result for pinterest board keywords"/>
          <p:cNvPicPr>
            <a:picLocks noChangeAspect="1" noChangeArrowheads="1"/>
          </p:cNvPicPr>
          <p:nvPr/>
        </p:nvPicPr>
        <p:blipFill>
          <a:blip r:embed="rId3"/>
          <a:srcRect/>
          <a:stretch>
            <a:fillRect/>
          </a:stretch>
        </p:blipFill>
        <p:spPr bwMode="auto">
          <a:xfrm>
            <a:off x="3167042" y="1285861"/>
            <a:ext cx="5281606" cy="5281607"/>
          </a:xfrm>
          <a:prstGeom prst="rect">
            <a:avLst/>
          </a:prstGeom>
          <a:noFill/>
        </p:spPr>
      </p:pic>
      <p:sp>
        <p:nvSpPr>
          <p:cNvPr id="6" name="TextBox 5"/>
          <p:cNvSpPr txBox="1"/>
          <p:nvPr/>
        </p:nvSpPr>
        <p:spPr>
          <a:xfrm>
            <a:off x="166646" y="3000372"/>
            <a:ext cx="1714512" cy="369332"/>
          </a:xfrm>
          <a:prstGeom prst="rect">
            <a:avLst/>
          </a:prstGeom>
          <a:solidFill>
            <a:srgbClr val="0070C0"/>
          </a:solidFill>
          <a:ln>
            <a:solidFill>
              <a:srgbClr val="0070C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solidFill>
                  <a:srgbClr val="FAFAFA"/>
                </a:solidFill>
              </a:rPr>
              <a:t>完善</a:t>
            </a:r>
            <a:r>
              <a:rPr lang="en-US" altLang="zh-CN" dirty="0">
                <a:solidFill>
                  <a:srgbClr val="FAFAFA"/>
                </a:solidFill>
              </a:rPr>
              <a:t>Board</a:t>
            </a:r>
            <a:r>
              <a:rPr lang="zh-CN" altLang="en-US" dirty="0">
                <a:solidFill>
                  <a:srgbClr val="FAFAFA"/>
                </a:solidFill>
              </a:rPr>
              <a:t>信息</a:t>
            </a:r>
          </a:p>
        </p:txBody>
      </p:sp>
      <p:cxnSp>
        <p:nvCxnSpPr>
          <p:cNvPr id="8" name="直接箭头连接符 7"/>
          <p:cNvCxnSpPr/>
          <p:nvPr/>
        </p:nvCxnSpPr>
        <p:spPr>
          <a:xfrm>
            <a:off x="2095472" y="3143248"/>
            <a:ext cx="1071570" cy="1588"/>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9453586" y="2857496"/>
            <a:ext cx="2500330" cy="923330"/>
          </a:xfrm>
          <a:prstGeom prst="rect">
            <a:avLst/>
          </a:prstGeom>
          <a:solidFill>
            <a:srgbClr val="0070C0"/>
          </a:solidFill>
          <a:ln>
            <a:solidFill>
              <a:srgbClr val="0070C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dirty="0">
                <a:solidFill>
                  <a:srgbClr val="FAFAFA"/>
                </a:solidFill>
              </a:rPr>
              <a:t>注意</a:t>
            </a:r>
            <a:r>
              <a:rPr lang="en-US" altLang="zh-CN" dirty="0">
                <a:solidFill>
                  <a:srgbClr val="FAFAFA"/>
                </a:solidFill>
              </a:rPr>
              <a:t>Name</a:t>
            </a:r>
            <a:r>
              <a:rPr lang="zh-CN" altLang="en-US" dirty="0">
                <a:solidFill>
                  <a:srgbClr val="FAFAFA"/>
                </a:solidFill>
              </a:rPr>
              <a:t>、</a:t>
            </a:r>
            <a:r>
              <a:rPr lang="en-US" altLang="zh-CN" dirty="0">
                <a:solidFill>
                  <a:srgbClr val="FAFAFA"/>
                </a:solidFill>
              </a:rPr>
              <a:t>Description</a:t>
            </a:r>
            <a:r>
              <a:rPr lang="zh-CN" altLang="en-US" dirty="0">
                <a:solidFill>
                  <a:srgbClr val="FAFAFA"/>
                </a:solidFill>
              </a:rPr>
              <a:t>合理嵌入关键字</a:t>
            </a:r>
          </a:p>
        </p:txBody>
      </p:sp>
      <p:cxnSp>
        <p:nvCxnSpPr>
          <p:cNvPr id="12" name="直接箭头连接符 11"/>
          <p:cNvCxnSpPr/>
          <p:nvPr/>
        </p:nvCxnSpPr>
        <p:spPr>
          <a:xfrm rot="10800000">
            <a:off x="8524892" y="3214686"/>
            <a:ext cx="785818" cy="1588"/>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19921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3309918" y="571481"/>
            <a:ext cx="5357850" cy="584775"/>
          </a:xfrm>
          <a:prstGeom prst="rect">
            <a:avLst/>
          </a:prstGeom>
          <a:noFill/>
        </p:spPr>
        <p:txBody>
          <a:bodyPr wrap="square" rtlCol="0">
            <a:spAutoFit/>
          </a:bodyPr>
          <a:lstStyle/>
          <a:p>
            <a:r>
              <a:rPr lang="en-US" altLang="zh-CN" sz="3200" b="1" dirty="0">
                <a:solidFill>
                  <a:srgbClr val="7030A0"/>
                </a:solidFill>
                <a:latin typeface="Arial Unicode MS" pitchFamily="34" charset="-122"/>
                <a:ea typeface="Arial Unicode MS" pitchFamily="34" charset="-122"/>
                <a:cs typeface="Arial Unicode MS" pitchFamily="34" charset="-122"/>
              </a:rPr>
              <a:t>SNS</a:t>
            </a:r>
            <a:r>
              <a:rPr lang="zh-CN" altLang="en-US" sz="3200" b="1" dirty="0">
                <a:solidFill>
                  <a:srgbClr val="7030A0"/>
                </a:solidFill>
                <a:latin typeface="Arial Unicode MS" pitchFamily="34" charset="-122"/>
                <a:ea typeface="Arial Unicode MS" pitchFamily="34" charset="-122"/>
                <a:cs typeface="Arial Unicode MS" pitchFamily="34" charset="-122"/>
              </a:rPr>
              <a:t>引流渠道</a:t>
            </a:r>
            <a:r>
              <a:rPr lang="en-US" altLang="zh-CN" sz="3200" b="1" dirty="0">
                <a:solidFill>
                  <a:srgbClr val="7030A0"/>
                </a:solidFill>
                <a:latin typeface="Arial Unicode MS" pitchFamily="34" charset="-122"/>
                <a:ea typeface="Arial Unicode MS" pitchFamily="34" charset="-122"/>
                <a:cs typeface="Arial Unicode MS" pitchFamily="34" charset="-122"/>
              </a:rPr>
              <a:t>——</a:t>
            </a:r>
            <a:endParaRPr lang="zh-CN" altLang="en-US" sz="3200" b="1" dirty="0">
              <a:solidFill>
                <a:srgbClr val="7030A0"/>
              </a:solidFill>
              <a:latin typeface="Arial Unicode MS" pitchFamily="34" charset="-122"/>
              <a:ea typeface="Arial Unicode MS" pitchFamily="34" charset="-122"/>
              <a:cs typeface="Arial Unicode MS" pitchFamily="34" charset="-122"/>
            </a:endParaRPr>
          </a:p>
        </p:txBody>
      </p:sp>
      <p:pic>
        <p:nvPicPr>
          <p:cNvPr id="4" name="Picture 6" descr="Image result for pinterest"/>
          <p:cNvPicPr>
            <a:picLocks noChangeAspect="1" noChangeArrowheads="1"/>
          </p:cNvPicPr>
          <p:nvPr/>
        </p:nvPicPr>
        <p:blipFill>
          <a:blip r:embed="rId2" cstate="print"/>
          <a:srcRect/>
          <a:stretch>
            <a:fillRect/>
          </a:stretch>
        </p:blipFill>
        <p:spPr bwMode="auto">
          <a:xfrm>
            <a:off x="6881818" y="285728"/>
            <a:ext cx="1785870" cy="976266"/>
          </a:xfrm>
          <a:prstGeom prst="rect">
            <a:avLst/>
          </a:prstGeom>
          <a:noFill/>
        </p:spPr>
      </p:pic>
      <p:sp>
        <p:nvSpPr>
          <p:cNvPr id="5" name="矩形 4"/>
          <p:cNvSpPr/>
          <p:nvPr/>
        </p:nvSpPr>
        <p:spPr>
          <a:xfrm>
            <a:off x="809588" y="1928802"/>
            <a:ext cx="500066" cy="2786082"/>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提升帐号的活跃度</a:t>
            </a:r>
          </a:p>
        </p:txBody>
      </p:sp>
      <p:cxnSp>
        <p:nvCxnSpPr>
          <p:cNvPr id="8" name="直接箭头连接符 7"/>
          <p:cNvCxnSpPr/>
          <p:nvPr/>
        </p:nvCxnSpPr>
        <p:spPr>
          <a:xfrm>
            <a:off x="1952596" y="3357562"/>
            <a:ext cx="3857652" cy="1588"/>
          </a:xfrm>
          <a:prstGeom prst="straightConnector1">
            <a:avLst/>
          </a:prstGeom>
          <a:ln w="38100">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452663" y="2928934"/>
            <a:ext cx="2954655" cy="369332"/>
          </a:xfrm>
          <a:prstGeom prst="rect">
            <a:avLst/>
          </a:prstGeom>
          <a:noFill/>
        </p:spPr>
        <p:txBody>
          <a:bodyPr wrap="none" rtlCol="0">
            <a:spAutoFit/>
          </a:bodyPr>
          <a:lstStyle/>
          <a:p>
            <a:r>
              <a:rPr lang="zh-CN" altLang="en-US" dirty="0"/>
              <a:t>帐号越活跃，排名权重越高</a:t>
            </a:r>
          </a:p>
        </p:txBody>
      </p:sp>
      <p:sp>
        <p:nvSpPr>
          <p:cNvPr id="12" name="矩形 11"/>
          <p:cNvSpPr/>
          <p:nvPr/>
        </p:nvSpPr>
        <p:spPr>
          <a:xfrm>
            <a:off x="6096000" y="2786058"/>
            <a:ext cx="285752" cy="178595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坚持更新</a:t>
            </a:r>
          </a:p>
        </p:txBody>
      </p:sp>
      <p:sp>
        <p:nvSpPr>
          <p:cNvPr id="13" name="矩形 12"/>
          <p:cNvSpPr/>
          <p:nvPr/>
        </p:nvSpPr>
        <p:spPr>
          <a:xfrm>
            <a:off x="6810380" y="2214554"/>
            <a:ext cx="285752" cy="2357454"/>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加入群组</a:t>
            </a:r>
          </a:p>
        </p:txBody>
      </p:sp>
      <p:sp>
        <p:nvSpPr>
          <p:cNvPr id="14" name="矩形 13"/>
          <p:cNvSpPr/>
          <p:nvPr/>
        </p:nvSpPr>
        <p:spPr>
          <a:xfrm>
            <a:off x="7524760" y="1714488"/>
            <a:ext cx="214314" cy="285752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策划活动</a:t>
            </a:r>
          </a:p>
        </p:txBody>
      </p:sp>
      <p:pic>
        <p:nvPicPr>
          <p:cNvPr id="63491" name="Picture 3"/>
          <p:cNvPicPr>
            <a:picLocks noChangeAspect="1" noChangeArrowheads="1"/>
          </p:cNvPicPr>
          <p:nvPr/>
        </p:nvPicPr>
        <p:blipFill>
          <a:blip r:embed="rId3"/>
          <a:srcRect/>
          <a:stretch>
            <a:fillRect/>
          </a:stretch>
        </p:blipFill>
        <p:spPr bwMode="auto">
          <a:xfrm>
            <a:off x="9096396" y="1714488"/>
            <a:ext cx="2286000" cy="2933700"/>
          </a:xfrm>
          <a:prstGeom prst="rect">
            <a:avLst/>
          </a:prstGeom>
          <a:noFill/>
          <a:ln w="9525">
            <a:noFill/>
            <a:miter lim="800000"/>
            <a:headEnd/>
            <a:tailEnd/>
          </a:ln>
          <a:effectLst/>
        </p:spPr>
      </p:pic>
      <p:sp>
        <p:nvSpPr>
          <p:cNvPr id="17" name="TextBox 16"/>
          <p:cNvSpPr txBox="1"/>
          <p:nvPr/>
        </p:nvSpPr>
        <p:spPr>
          <a:xfrm>
            <a:off x="3381357" y="5572140"/>
            <a:ext cx="5149167" cy="369332"/>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zh-CN" altLang="en-US" dirty="0"/>
              <a:t>做</a:t>
            </a:r>
            <a:r>
              <a:rPr lang="en-US" altLang="zh-CN" dirty="0" err="1"/>
              <a:t>Pinterest</a:t>
            </a:r>
            <a:r>
              <a:rPr lang="zh-CN" altLang="en-US" dirty="0"/>
              <a:t>的关键是内容、互动、然后要注重</a:t>
            </a:r>
            <a:r>
              <a:rPr lang="en-US" altLang="zh-CN" dirty="0"/>
              <a:t>SEO</a:t>
            </a:r>
            <a:endParaRPr lang="zh-CN" altLang="en-US" dirty="0"/>
          </a:p>
        </p:txBody>
      </p:sp>
    </p:spTree>
    <p:extLst>
      <p:ext uri="{BB962C8B-B14F-4D97-AF65-F5344CB8AC3E}">
        <p14:creationId xmlns:p14="http://schemas.microsoft.com/office/powerpoint/2010/main" val="36247407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2452662" y="785794"/>
            <a:ext cx="7143800" cy="523220"/>
          </a:xfrm>
          <a:prstGeom prst="rect">
            <a:avLst/>
          </a:prstGeom>
          <a:noFill/>
        </p:spPr>
        <p:txBody>
          <a:bodyPr wrap="square" rtlCol="0">
            <a:spAutoFit/>
          </a:bodyPr>
          <a:lstStyle/>
          <a:p>
            <a:r>
              <a:rPr lang="en-US" altLang="zh-CN" sz="2800" b="1" dirty="0">
                <a:solidFill>
                  <a:srgbClr val="7030A0"/>
                </a:solidFill>
                <a:latin typeface="Arial Unicode MS" pitchFamily="34" charset="-122"/>
                <a:ea typeface="Arial Unicode MS" pitchFamily="34" charset="-122"/>
                <a:cs typeface="Arial Unicode MS" pitchFamily="34" charset="-122"/>
              </a:rPr>
              <a:t>SEM</a:t>
            </a:r>
            <a:r>
              <a:rPr lang="zh-CN" altLang="en-US" sz="2800" b="1" dirty="0">
                <a:solidFill>
                  <a:srgbClr val="7030A0"/>
                </a:solidFill>
                <a:latin typeface="Arial Unicode MS" pitchFamily="34" charset="-122"/>
                <a:ea typeface="Arial Unicode MS" pitchFamily="34" charset="-122"/>
                <a:cs typeface="Arial Unicode MS" pitchFamily="34" charset="-122"/>
              </a:rPr>
              <a:t>引流渠道</a:t>
            </a:r>
            <a:r>
              <a:rPr lang="en-US" altLang="zh-CN" sz="2800" b="1" dirty="0">
                <a:solidFill>
                  <a:srgbClr val="7030A0"/>
                </a:solidFill>
                <a:latin typeface="Arial Unicode MS" pitchFamily="34" charset="-122"/>
                <a:ea typeface="Arial Unicode MS" pitchFamily="34" charset="-122"/>
                <a:cs typeface="Arial Unicode MS" pitchFamily="34" charset="-122"/>
              </a:rPr>
              <a:t>——Google Display Network</a:t>
            </a:r>
            <a:endParaRPr lang="zh-CN" altLang="en-US" sz="2800" b="1" dirty="0">
              <a:solidFill>
                <a:srgbClr val="7030A0"/>
              </a:solidFill>
              <a:latin typeface="Arial Unicode MS" pitchFamily="34" charset="-122"/>
              <a:ea typeface="Arial Unicode MS" pitchFamily="34" charset="-122"/>
              <a:cs typeface="Arial Unicode MS" pitchFamily="34" charset="-122"/>
            </a:endParaRPr>
          </a:p>
        </p:txBody>
      </p:sp>
      <p:pic>
        <p:nvPicPr>
          <p:cNvPr id="64514" name="Picture 2" descr="Image result for Google Display Network"/>
          <p:cNvPicPr>
            <a:picLocks noChangeAspect="1" noChangeArrowheads="1"/>
          </p:cNvPicPr>
          <p:nvPr/>
        </p:nvPicPr>
        <p:blipFill>
          <a:blip r:embed="rId2"/>
          <a:srcRect/>
          <a:stretch>
            <a:fillRect/>
          </a:stretch>
        </p:blipFill>
        <p:spPr bwMode="auto">
          <a:xfrm>
            <a:off x="2952729" y="1643050"/>
            <a:ext cx="8988451" cy="4333872"/>
          </a:xfrm>
          <a:prstGeom prst="rect">
            <a:avLst/>
          </a:prstGeom>
          <a:noFill/>
        </p:spPr>
      </p:pic>
      <p:sp>
        <p:nvSpPr>
          <p:cNvPr id="5" name="燕尾形 4"/>
          <p:cNvSpPr/>
          <p:nvPr/>
        </p:nvSpPr>
        <p:spPr>
          <a:xfrm>
            <a:off x="1452530" y="3643314"/>
            <a:ext cx="928694" cy="357190"/>
          </a:xfrm>
          <a:prstGeom prst="chevron">
            <a:avLst/>
          </a:prstGeom>
          <a:solidFill>
            <a:schemeClr val="accent6">
              <a:lumMod val="75000"/>
            </a:schemeClr>
          </a:solidFill>
          <a:ln>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solidFill>
                <a:schemeClr val="tx1"/>
              </a:solidFill>
            </a:endParaRPr>
          </a:p>
        </p:txBody>
      </p:sp>
      <p:sp>
        <p:nvSpPr>
          <p:cNvPr id="6" name="TextBox 5"/>
          <p:cNvSpPr txBox="1"/>
          <p:nvPr/>
        </p:nvSpPr>
        <p:spPr>
          <a:xfrm>
            <a:off x="666712" y="3071810"/>
            <a:ext cx="428628" cy="1754326"/>
          </a:xfrm>
          <a:prstGeom prst="rect">
            <a:avLst/>
          </a:prstGeom>
          <a:solidFill>
            <a:srgbClr val="0070C0"/>
          </a:solidFill>
          <a:ln>
            <a:solidFill>
              <a:srgbClr val="0070C0"/>
            </a:solidFill>
          </a:ln>
        </p:spPr>
        <p:txBody>
          <a:bodyPr wrap="square" rtlCol="0">
            <a:spAutoFit/>
          </a:bodyPr>
          <a:lstStyle/>
          <a:p>
            <a:r>
              <a:rPr lang="zh-CN" altLang="en-US" b="1" dirty="0">
                <a:solidFill>
                  <a:srgbClr val="FAFAFA"/>
                </a:solidFill>
              </a:rPr>
              <a:t>广告展示平台</a:t>
            </a:r>
          </a:p>
        </p:txBody>
      </p:sp>
    </p:spTree>
    <p:extLst>
      <p:ext uri="{BB962C8B-B14F-4D97-AF65-F5344CB8AC3E}">
        <p14:creationId xmlns:p14="http://schemas.microsoft.com/office/powerpoint/2010/main" val="11353131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2452662" y="785794"/>
            <a:ext cx="7143800" cy="523220"/>
          </a:xfrm>
          <a:prstGeom prst="rect">
            <a:avLst/>
          </a:prstGeom>
          <a:noFill/>
        </p:spPr>
        <p:txBody>
          <a:bodyPr wrap="square" rtlCol="0">
            <a:spAutoFit/>
          </a:bodyPr>
          <a:lstStyle/>
          <a:p>
            <a:r>
              <a:rPr lang="en-US" altLang="zh-CN" sz="2800" b="1" dirty="0">
                <a:solidFill>
                  <a:srgbClr val="7030A0"/>
                </a:solidFill>
                <a:latin typeface="Arial Unicode MS" pitchFamily="34" charset="-122"/>
                <a:ea typeface="Arial Unicode MS" pitchFamily="34" charset="-122"/>
                <a:cs typeface="Arial Unicode MS" pitchFamily="34" charset="-122"/>
              </a:rPr>
              <a:t>SEM</a:t>
            </a:r>
            <a:r>
              <a:rPr lang="zh-CN" altLang="en-US" sz="2800" b="1" dirty="0">
                <a:solidFill>
                  <a:srgbClr val="7030A0"/>
                </a:solidFill>
                <a:latin typeface="Arial Unicode MS" pitchFamily="34" charset="-122"/>
                <a:ea typeface="Arial Unicode MS" pitchFamily="34" charset="-122"/>
                <a:cs typeface="Arial Unicode MS" pitchFamily="34" charset="-122"/>
              </a:rPr>
              <a:t>引流渠道</a:t>
            </a:r>
            <a:r>
              <a:rPr lang="en-US" altLang="zh-CN" sz="2800" b="1" dirty="0">
                <a:solidFill>
                  <a:srgbClr val="7030A0"/>
                </a:solidFill>
                <a:latin typeface="Arial Unicode MS" pitchFamily="34" charset="-122"/>
                <a:ea typeface="Arial Unicode MS" pitchFamily="34" charset="-122"/>
                <a:cs typeface="Arial Unicode MS" pitchFamily="34" charset="-122"/>
              </a:rPr>
              <a:t>——Google Display Network</a:t>
            </a:r>
            <a:endParaRPr lang="zh-CN" altLang="en-US" sz="2800" b="1" dirty="0">
              <a:solidFill>
                <a:srgbClr val="7030A0"/>
              </a:solidFill>
              <a:latin typeface="Arial Unicode MS" pitchFamily="34" charset="-122"/>
              <a:ea typeface="Arial Unicode MS" pitchFamily="34" charset="-122"/>
              <a:cs typeface="Arial Unicode MS" pitchFamily="34" charset="-122"/>
            </a:endParaRPr>
          </a:p>
        </p:txBody>
      </p:sp>
      <p:sp>
        <p:nvSpPr>
          <p:cNvPr id="65538" name="AutoShape 2" descr="Image result for Google Display Network"/>
          <p:cNvSpPr>
            <a:spLocks noChangeAspect="1" noChangeArrowheads="1"/>
          </p:cNvSpPr>
          <p:nvPr/>
        </p:nvSpPr>
        <p:spPr bwMode="auto">
          <a:xfrm>
            <a:off x="156369"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zh-CN" altLang="en-US"/>
          </a:p>
        </p:txBody>
      </p:sp>
      <p:pic>
        <p:nvPicPr>
          <p:cNvPr id="65540" name="Picture 4" descr="Image result for Google Display Network"/>
          <p:cNvPicPr>
            <a:picLocks noChangeAspect="1" noChangeArrowheads="1"/>
          </p:cNvPicPr>
          <p:nvPr/>
        </p:nvPicPr>
        <p:blipFill>
          <a:blip r:embed="rId2"/>
          <a:srcRect/>
          <a:stretch>
            <a:fillRect/>
          </a:stretch>
        </p:blipFill>
        <p:spPr bwMode="auto">
          <a:xfrm>
            <a:off x="238084" y="1500174"/>
            <a:ext cx="8429684" cy="4708582"/>
          </a:xfrm>
          <a:prstGeom prst="rect">
            <a:avLst/>
          </a:prstGeom>
          <a:noFill/>
        </p:spPr>
      </p:pic>
      <p:sp>
        <p:nvSpPr>
          <p:cNvPr id="6" name="燕尾形箭头 5"/>
          <p:cNvSpPr/>
          <p:nvPr/>
        </p:nvSpPr>
        <p:spPr>
          <a:xfrm flipH="1">
            <a:off x="8667768" y="3857628"/>
            <a:ext cx="714380" cy="285752"/>
          </a:xfrm>
          <a:prstGeom prst="notchedRightArrow">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9667900" y="3500438"/>
            <a:ext cx="1569660" cy="923330"/>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pPr algn="ctr"/>
            <a:r>
              <a:rPr lang="zh-CN" altLang="en-US" dirty="0"/>
              <a:t>广告形式</a:t>
            </a:r>
            <a:endParaRPr lang="en-US" altLang="zh-CN" dirty="0"/>
          </a:p>
          <a:p>
            <a:pPr algn="ctr"/>
            <a:r>
              <a:rPr lang="zh-CN" altLang="en-US" dirty="0"/>
              <a:t>图片广告为主</a:t>
            </a:r>
            <a:endParaRPr lang="en-US" altLang="zh-CN" dirty="0"/>
          </a:p>
          <a:p>
            <a:pPr algn="ctr"/>
            <a:r>
              <a:rPr lang="zh-CN" altLang="en-US" dirty="0"/>
              <a:t>兼有文字广告</a:t>
            </a:r>
          </a:p>
        </p:txBody>
      </p:sp>
    </p:spTree>
    <p:extLst>
      <p:ext uri="{BB962C8B-B14F-4D97-AF65-F5344CB8AC3E}">
        <p14:creationId xmlns:p14="http://schemas.microsoft.com/office/powerpoint/2010/main" val="17487880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2452662" y="785794"/>
            <a:ext cx="7143800" cy="523220"/>
          </a:xfrm>
          <a:prstGeom prst="rect">
            <a:avLst/>
          </a:prstGeom>
          <a:noFill/>
        </p:spPr>
        <p:txBody>
          <a:bodyPr wrap="square" rtlCol="0">
            <a:spAutoFit/>
          </a:bodyPr>
          <a:lstStyle/>
          <a:p>
            <a:r>
              <a:rPr lang="en-US" altLang="zh-CN" sz="2800" b="1" dirty="0">
                <a:solidFill>
                  <a:srgbClr val="7030A0"/>
                </a:solidFill>
                <a:latin typeface="Arial Unicode MS" pitchFamily="34" charset="-122"/>
                <a:ea typeface="Arial Unicode MS" pitchFamily="34" charset="-122"/>
                <a:cs typeface="Arial Unicode MS" pitchFamily="34" charset="-122"/>
              </a:rPr>
              <a:t>SEM</a:t>
            </a:r>
            <a:r>
              <a:rPr lang="zh-CN" altLang="en-US" sz="2800" b="1" dirty="0">
                <a:solidFill>
                  <a:srgbClr val="7030A0"/>
                </a:solidFill>
                <a:latin typeface="Arial Unicode MS" pitchFamily="34" charset="-122"/>
                <a:ea typeface="Arial Unicode MS" pitchFamily="34" charset="-122"/>
                <a:cs typeface="Arial Unicode MS" pitchFamily="34" charset="-122"/>
              </a:rPr>
              <a:t>引流渠道</a:t>
            </a:r>
            <a:r>
              <a:rPr lang="en-US" altLang="zh-CN" sz="2800" b="1" dirty="0">
                <a:solidFill>
                  <a:srgbClr val="7030A0"/>
                </a:solidFill>
                <a:latin typeface="Arial Unicode MS" pitchFamily="34" charset="-122"/>
                <a:ea typeface="Arial Unicode MS" pitchFamily="34" charset="-122"/>
                <a:cs typeface="Arial Unicode MS" pitchFamily="34" charset="-122"/>
              </a:rPr>
              <a:t>——Google Display Network</a:t>
            </a:r>
            <a:endParaRPr lang="zh-CN" altLang="en-US" sz="2800" b="1" dirty="0">
              <a:solidFill>
                <a:srgbClr val="7030A0"/>
              </a:solidFill>
              <a:latin typeface="Arial Unicode MS" pitchFamily="34" charset="-122"/>
              <a:ea typeface="Arial Unicode MS" pitchFamily="34" charset="-122"/>
              <a:cs typeface="Arial Unicode MS" pitchFamily="34" charset="-122"/>
            </a:endParaRPr>
          </a:p>
        </p:txBody>
      </p:sp>
      <p:pic>
        <p:nvPicPr>
          <p:cNvPr id="66562" name="Picture 2" descr="Image result for Google Display Network  targeting methods"/>
          <p:cNvPicPr>
            <a:picLocks noChangeAspect="1" noChangeArrowheads="1"/>
          </p:cNvPicPr>
          <p:nvPr/>
        </p:nvPicPr>
        <p:blipFill>
          <a:blip r:embed="rId2"/>
          <a:srcRect/>
          <a:stretch>
            <a:fillRect/>
          </a:stretch>
        </p:blipFill>
        <p:spPr bwMode="auto">
          <a:xfrm>
            <a:off x="2381224" y="2143116"/>
            <a:ext cx="7358114" cy="2459712"/>
          </a:xfrm>
          <a:prstGeom prst="rect">
            <a:avLst/>
          </a:prstGeom>
          <a:noFill/>
        </p:spPr>
      </p:pic>
      <p:cxnSp>
        <p:nvCxnSpPr>
          <p:cNvPr id="6" name="直接连接符 5"/>
          <p:cNvCxnSpPr/>
          <p:nvPr/>
        </p:nvCxnSpPr>
        <p:spPr>
          <a:xfrm>
            <a:off x="952464" y="5786454"/>
            <a:ext cx="10144196" cy="1588"/>
          </a:xfrm>
          <a:prstGeom prst="line">
            <a:avLst/>
          </a:prstGeom>
          <a:ln w="28575"/>
          <a:effectLst>
            <a:reflection blurRad="6350" stA="50000" endA="275" endPos="40000" dist="101600" dir="5400000" sy="-100000" algn="bl" rotWithShape="0"/>
          </a:effectLst>
        </p:spPr>
        <p:style>
          <a:lnRef idx="1">
            <a:schemeClr val="accent4"/>
          </a:lnRef>
          <a:fillRef idx="0">
            <a:schemeClr val="accent4"/>
          </a:fillRef>
          <a:effectRef idx="0">
            <a:schemeClr val="accent4"/>
          </a:effectRef>
          <a:fontRef idx="minor">
            <a:schemeClr val="tx1"/>
          </a:fontRef>
        </p:style>
      </p:cxnSp>
      <p:sp>
        <p:nvSpPr>
          <p:cNvPr id="7" name="TextBox 6"/>
          <p:cNvSpPr txBox="1"/>
          <p:nvPr/>
        </p:nvSpPr>
        <p:spPr>
          <a:xfrm>
            <a:off x="1238216" y="5286388"/>
            <a:ext cx="9561144"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rtlCol="0">
            <a:spAutoFit/>
          </a:bodyPr>
          <a:lstStyle/>
          <a:p>
            <a:r>
              <a:rPr lang="zh-CN" altLang="en-US" dirty="0"/>
              <a:t>通过关键字、展示网站的内容、客户群的兴趣、属性特征来</a:t>
            </a:r>
            <a:r>
              <a:rPr lang="en-US" altLang="zh-CN" dirty="0"/>
              <a:t>target audience,</a:t>
            </a:r>
            <a:r>
              <a:rPr lang="zh-CN" altLang="en-US" dirty="0"/>
              <a:t>进而投放展示广告</a:t>
            </a:r>
          </a:p>
        </p:txBody>
      </p:sp>
    </p:spTree>
    <p:extLst>
      <p:ext uri="{BB962C8B-B14F-4D97-AF65-F5344CB8AC3E}">
        <p14:creationId xmlns:p14="http://schemas.microsoft.com/office/powerpoint/2010/main" val="9078749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2452662" y="785794"/>
            <a:ext cx="7143800" cy="523220"/>
          </a:xfrm>
          <a:prstGeom prst="rect">
            <a:avLst/>
          </a:prstGeom>
          <a:noFill/>
        </p:spPr>
        <p:txBody>
          <a:bodyPr wrap="square" rtlCol="0">
            <a:spAutoFit/>
          </a:bodyPr>
          <a:lstStyle/>
          <a:p>
            <a:r>
              <a:rPr lang="en-US" altLang="zh-CN" sz="2800" b="1" dirty="0">
                <a:solidFill>
                  <a:srgbClr val="7030A0"/>
                </a:solidFill>
                <a:latin typeface="Arial Unicode MS" pitchFamily="34" charset="-122"/>
                <a:ea typeface="Arial Unicode MS" pitchFamily="34" charset="-122"/>
                <a:cs typeface="Arial Unicode MS" pitchFamily="34" charset="-122"/>
              </a:rPr>
              <a:t>SEM</a:t>
            </a:r>
            <a:r>
              <a:rPr lang="zh-CN" altLang="en-US" sz="2800" b="1" dirty="0">
                <a:solidFill>
                  <a:srgbClr val="7030A0"/>
                </a:solidFill>
                <a:latin typeface="Arial Unicode MS" pitchFamily="34" charset="-122"/>
                <a:ea typeface="Arial Unicode MS" pitchFamily="34" charset="-122"/>
                <a:cs typeface="Arial Unicode MS" pitchFamily="34" charset="-122"/>
              </a:rPr>
              <a:t>引流渠道</a:t>
            </a:r>
            <a:r>
              <a:rPr lang="en-US" altLang="zh-CN" sz="2800" b="1" dirty="0">
                <a:solidFill>
                  <a:srgbClr val="7030A0"/>
                </a:solidFill>
                <a:latin typeface="Arial Unicode MS" pitchFamily="34" charset="-122"/>
                <a:ea typeface="Arial Unicode MS" pitchFamily="34" charset="-122"/>
                <a:cs typeface="Arial Unicode MS" pitchFamily="34" charset="-122"/>
              </a:rPr>
              <a:t>——Google Display Network</a:t>
            </a:r>
            <a:endParaRPr lang="zh-CN" altLang="en-US" sz="2800" b="1" dirty="0">
              <a:solidFill>
                <a:srgbClr val="7030A0"/>
              </a:solidFill>
              <a:latin typeface="Arial Unicode MS" pitchFamily="34" charset="-122"/>
              <a:ea typeface="Arial Unicode MS" pitchFamily="34" charset="-122"/>
              <a:cs typeface="Arial Unicode MS" pitchFamily="34" charset="-122"/>
            </a:endParaRPr>
          </a:p>
        </p:txBody>
      </p:sp>
      <p:pic>
        <p:nvPicPr>
          <p:cNvPr id="67586" name="Picture 2" descr="Image result for google display network image sizes"/>
          <p:cNvPicPr>
            <a:picLocks noChangeAspect="1" noChangeArrowheads="1"/>
          </p:cNvPicPr>
          <p:nvPr/>
        </p:nvPicPr>
        <p:blipFill>
          <a:blip r:embed="rId2"/>
          <a:srcRect/>
          <a:stretch>
            <a:fillRect/>
          </a:stretch>
        </p:blipFill>
        <p:spPr bwMode="auto">
          <a:xfrm>
            <a:off x="3524232" y="1714489"/>
            <a:ext cx="7858180" cy="3517797"/>
          </a:xfrm>
          <a:prstGeom prst="rect">
            <a:avLst/>
          </a:prstGeom>
          <a:noFill/>
        </p:spPr>
      </p:pic>
      <p:sp>
        <p:nvSpPr>
          <p:cNvPr id="5" name="TextBox 4"/>
          <p:cNvSpPr txBox="1"/>
          <p:nvPr/>
        </p:nvSpPr>
        <p:spPr>
          <a:xfrm>
            <a:off x="595274" y="2643183"/>
            <a:ext cx="500066" cy="2031325"/>
          </a:xfrm>
          <a:prstGeom prst="rect">
            <a:avLst/>
          </a:prstGeom>
          <a:solidFill>
            <a:srgbClr val="00B050"/>
          </a:solidFill>
          <a:ln>
            <a:solidFill>
              <a:srgbClr val="00B05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zh-CN" altLang="en-US" dirty="0">
                <a:solidFill>
                  <a:srgbClr val="FAFAFA"/>
                </a:solidFill>
              </a:rPr>
              <a:t>广告图尺寸标准</a:t>
            </a:r>
          </a:p>
        </p:txBody>
      </p:sp>
      <p:sp>
        <p:nvSpPr>
          <p:cNvPr id="6" name="虚尾箭头 5"/>
          <p:cNvSpPr/>
          <p:nvPr/>
        </p:nvSpPr>
        <p:spPr>
          <a:xfrm>
            <a:off x="1738282" y="3286124"/>
            <a:ext cx="1357322" cy="428628"/>
          </a:xfrm>
          <a:prstGeom prst="stripedRightArrow">
            <a:avLst/>
          </a:prstGeom>
          <a:solidFill>
            <a:schemeClr val="accent2">
              <a:lumMod val="60000"/>
              <a:lumOff val="4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2238349" y="5643578"/>
            <a:ext cx="8292655" cy="369332"/>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dirty="0"/>
              <a:t>GDN</a:t>
            </a:r>
            <a:r>
              <a:rPr lang="zh-CN" altLang="en-US" dirty="0"/>
              <a:t> 广告形式的特征：定位多样化，引流速度快，定位精准性较低，转化率较低</a:t>
            </a:r>
          </a:p>
        </p:txBody>
      </p:sp>
    </p:spTree>
    <p:extLst>
      <p:ext uri="{BB962C8B-B14F-4D97-AF65-F5344CB8AC3E}">
        <p14:creationId xmlns:p14="http://schemas.microsoft.com/office/powerpoint/2010/main" val="19163942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4024299" y="357167"/>
            <a:ext cx="4296369" cy="584775"/>
          </a:xfrm>
          <a:prstGeom prst="rect">
            <a:avLst/>
          </a:prstGeom>
          <a:noFill/>
        </p:spPr>
        <p:txBody>
          <a:bodyPr wrap="none" rtlCol="0">
            <a:spAutoFit/>
          </a:bodyPr>
          <a:lstStyle/>
          <a:p>
            <a:r>
              <a:rPr lang="en-US" altLang="zh-CN" sz="3200" b="1" dirty="0">
                <a:solidFill>
                  <a:schemeClr val="accent6">
                    <a:lumMod val="75000"/>
                  </a:schemeClr>
                </a:solidFill>
              </a:rPr>
              <a:t>Referral——Deals</a:t>
            </a:r>
            <a:r>
              <a:rPr lang="zh-CN" altLang="en-US" sz="3200" b="1" dirty="0">
                <a:solidFill>
                  <a:schemeClr val="accent6">
                    <a:lumMod val="75000"/>
                  </a:schemeClr>
                </a:solidFill>
              </a:rPr>
              <a:t>红人</a:t>
            </a:r>
          </a:p>
        </p:txBody>
      </p:sp>
      <p:pic>
        <p:nvPicPr>
          <p:cNvPr id="68610" name="Picture 2"/>
          <p:cNvPicPr>
            <a:picLocks noChangeAspect="1" noChangeArrowheads="1"/>
          </p:cNvPicPr>
          <p:nvPr/>
        </p:nvPicPr>
        <p:blipFill>
          <a:blip r:embed="rId2"/>
          <a:srcRect/>
          <a:stretch>
            <a:fillRect/>
          </a:stretch>
        </p:blipFill>
        <p:spPr bwMode="auto">
          <a:xfrm>
            <a:off x="4095737" y="1071547"/>
            <a:ext cx="7238213" cy="5357849"/>
          </a:xfrm>
          <a:prstGeom prst="rect">
            <a:avLst/>
          </a:prstGeom>
          <a:noFill/>
          <a:ln w="9525">
            <a:noFill/>
            <a:miter lim="800000"/>
            <a:headEnd/>
            <a:tailEnd/>
          </a:ln>
          <a:effectLst/>
        </p:spPr>
      </p:pic>
      <p:sp>
        <p:nvSpPr>
          <p:cNvPr id="5" name="TextBox 4"/>
          <p:cNvSpPr txBox="1"/>
          <p:nvPr/>
        </p:nvSpPr>
        <p:spPr>
          <a:xfrm>
            <a:off x="523837" y="2786058"/>
            <a:ext cx="2379177" cy="1477328"/>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en-US" altLang="zh-CN" dirty="0" err="1"/>
              <a:t>Deals+Coupon</a:t>
            </a:r>
            <a:r>
              <a:rPr lang="en-US" altLang="zh-CN" dirty="0"/>
              <a:t> </a:t>
            </a:r>
            <a:r>
              <a:rPr lang="zh-CN" altLang="en-US" dirty="0"/>
              <a:t>网站</a:t>
            </a:r>
            <a:endParaRPr lang="en-US" altLang="zh-CN" dirty="0"/>
          </a:p>
          <a:p>
            <a:endParaRPr lang="en-US" altLang="zh-CN" dirty="0"/>
          </a:p>
          <a:p>
            <a:r>
              <a:rPr lang="en-US" altLang="zh-CN" dirty="0"/>
              <a:t>1</a:t>
            </a:r>
            <a:r>
              <a:rPr lang="zh-CN" altLang="en-US" dirty="0"/>
              <a:t>、流量巨大</a:t>
            </a:r>
            <a:endParaRPr lang="en-US" altLang="zh-CN" dirty="0"/>
          </a:p>
          <a:p>
            <a:r>
              <a:rPr lang="en-US" altLang="zh-CN" dirty="0"/>
              <a:t>2</a:t>
            </a:r>
            <a:r>
              <a:rPr lang="zh-CN" altLang="en-US" dirty="0"/>
              <a:t>、折扣促销信息丰富</a:t>
            </a:r>
            <a:endParaRPr lang="en-US" altLang="zh-CN" dirty="0"/>
          </a:p>
          <a:p>
            <a:r>
              <a:rPr lang="en-US" altLang="zh-CN" dirty="0"/>
              <a:t>3</a:t>
            </a:r>
            <a:r>
              <a:rPr lang="zh-CN" altLang="en-US" dirty="0"/>
              <a:t>、转化率高</a:t>
            </a:r>
          </a:p>
        </p:txBody>
      </p:sp>
    </p:spTree>
    <p:extLst>
      <p:ext uri="{BB962C8B-B14F-4D97-AF65-F5344CB8AC3E}">
        <p14:creationId xmlns:p14="http://schemas.microsoft.com/office/powerpoint/2010/main" val="38835972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4024299" y="357167"/>
            <a:ext cx="4296369" cy="584775"/>
          </a:xfrm>
          <a:prstGeom prst="rect">
            <a:avLst/>
          </a:prstGeom>
          <a:noFill/>
        </p:spPr>
        <p:txBody>
          <a:bodyPr wrap="none" rtlCol="0">
            <a:spAutoFit/>
          </a:bodyPr>
          <a:lstStyle/>
          <a:p>
            <a:r>
              <a:rPr lang="en-US" altLang="zh-CN" sz="3200" b="1" dirty="0">
                <a:solidFill>
                  <a:schemeClr val="accent6">
                    <a:lumMod val="75000"/>
                  </a:schemeClr>
                </a:solidFill>
              </a:rPr>
              <a:t>Referral——Deals</a:t>
            </a:r>
            <a:r>
              <a:rPr lang="zh-CN" altLang="en-US" sz="3200" b="1" dirty="0">
                <a:solidFill>
                  <a:schemeClr val="accent6">
                    <a:lumMod val="75000"/>
                  </a:schemeClr>
                </a:solidFill>
              </a:rPr>
              <a:t>红人</a:t>
            </a:r>
          </a:p>
        </p:txBody>
      </p:sp>
      <p:graphicFrame>
        <p:nvGraphicFramePr>
          <p:cNvPr id="5" name="表格 4"/>
          <p:cNvGraphicFramePr>
            <a:graphicFrameLocks noGrp="1"/>
          </p:cNvGraphicFramePr>
          <p:nvPr/>
        </p:nvGraphicFramePr>
        <p:xfrm>
          <a:off x="1738282" y="1357298"/>
          <a:ext cx="3571900" cy="4786352"/>
        </p:xfrm>
        <a:graphic>
          <a:graphicData uri="http://schemas.openxmlformats.org/drawingml/2006/table">
            <a:tbl>
              <a:tblPr firstRow="1" bandRow="1">
                <a:tableStyleId>{00A15C55-8517-42AA-B614-E9B94910E393}</a:tableStyleId>
              </a:tblPr>
              <a:tblGrid>
                <a:gridCol w="785818">
                  <a:extLst>
                    <a:ext uri="{9D8B030D-6E8A-4147-A177-3AD203B41FA5}">
                      <a16:colId xmlns:a16="http://schemas.microsoft.com/office/drawing/2014/main" val="20000"/>
                    </a:ext>
                  </a:extLst>
                </a:gridCol>
                <a:gridCol w="2786082">
                  <a:extLst>
                    <a:ext uri="{9D8B030D-6E8A-4147-A177-3AD203B41FA5}">
                      <a16:colId xmlns:a16="http://schemas.microsoft.com/office/drawing/2014/main" val="20001"/>
                    </a:ext>
                  </a:extLst>
                </a:gridCol>
              </a:tblGrid>
              <a:tr h="598294">
                <a:tc>
                  <a:txBody>
                    <a:bodyPr/>
                    <a:lstStyle/>
                    <a:p>
                      <a:pPr algn="ctr"/>
                      <a:r>
                        <a:rPr lang="zh-CN" altLang="en-US" dirty="0"/>
                        <a:t>编号</a:t>
                      </a:r>
                    </a:p>
                  </a:txBody>
                  <a:tcPr/>
                </a:tc>
                <a:tc>
                  <a:txBody>
                    <a:bodyPr/>
                    <a:lstStyle/>
                    <a:p>
                      <a:pPr algn="ctr"/>
                      <a:r>
                        <a:rPr lang="en-US" altLang="zh-CN" dirty="0"/>
                        <a:t>Site</a:t>
                      </a:r>
                      <a:endParaRPr lang="zh-CN" altLang="en-US" dirty="0"/>
                    </a:p>
                  </a:txBody>
                  <a:tcPr/>
                </a:tc>
                <a:extLst>
                  <a:ext uri="{0D108BD9-81ED-4DB2-BD59-A6C34878D82A}">
                    <a16:rowId xmlns:a16="http://schemas.microsoft.com/office/drawing/2014/main" val="10000"/>
                  </a:ext>
                </a:extLst>
              </a:tr>
              <a:tr h="598294">
                <a:tc>
                  <a:txBody>
                    <a:bodyPr/>
                    <a:lstStyle/>
                    <a:p>
                      <a:pPr algn="ctr"/>
                      <a:r>
                        <a:rPr lang="en-US" altLang="zh-CN" dirty="0"/>
                        <a:t>1</a:t>
                      </a:r>
                      <a:endParaRPr lang="zh-CN" altLang="en-US" dirty="0"/>
                    </a:p>
                  </a:txBody>
                  <a:tcPr/>
                </a:tc>
                <a:tc>
                  <a:txBody>
                    <a:bodyPr/>
                    <a:lstStyle/>
                    <a:p>
                      <a:pPr algn="ctr"/>
                      <a:r>
                        <a:rPr lang="en-US" altLang="zh-CN" dirty="0"/>
                        <a:t>Slickdeals.net</a:t>
                      </a:r>
                      <a:endParaRPr lang="zh-CN" altLang="en-US" dirty="0"/>
                    </a:p>
                  </a:txBody>
                  <a:tcPr/>
                </a:tc>
                <a:extLst>
                  <a:ext uri="{0D108BD9-81ED-4DB2-BD59-A6C34878D82A}">
                    <a16:rowId xmlns:a16="http://schemas.microsoft.com/office/drawing/2014/main" val="10001"/>
                  </a:ext>
                </a:extLst>
              </a:tr>
              <a:tr h="598294">
                <a:tc>
                  <a:txBody>
                    <a:bodyPr/>
                    <a:lstStyle/>
                    <a:p>
                      <a:pPr algn="ctr"/>
                      <a:r>
                        <a:rPr lang="en-US" altLang="zh-CN" dirty="0"/>
                        <a:t>2</a:t>
                      </a:r>
                      <a:endParaRPr lang="zh-CN" altLang="en-US" dirty="0"/>
                    </a:p>
                  </a:txBody>
                  <a:tcPr/>
                </a:tc>
                <a:tc>
                  <a:txBody>
                    <a:bodyPr/>
                    <a:lstStyle/>
                    <a:p>
                      <a:pPr algn="ctr"/>
                      <a:r>
                        <a:rPr lang="en-US" altLang="zh-CN" dirty="0"/>
                        <a:t>Fatwallet.com</a:t>
                      </a:r>
                      <a:endParaRPr lang="zh-CN" altLang="en-US" dirty="0"/>
                    </a:p>
                  </a:txBody>
                  <a:tcPr/>
                </a:tc>
                <a:extLst>
                  <a:ext uri="{0D108BD9-81ED-4DB2-BD59-A6C34878D82A}">
                    <a16:rowId xmlns:a16="http://schemas.microsoft.com/office/drawing/2014/main" val="10002"/>
                  </a:ext>
                </a:extLst>
              </a:tr>
              <a:tr h="598294">
                <a:tc>
                  <a:txBody>
                    <a:bodyPr/>
                    <a:lstStyle/>
                    <a:p>
                      <a:pPr algn="ctr"/>
                      <a:r>
                        <a:rPr lang="en-US" altLang="zh-CN" dirty="0"/>
                        <a:t>3</a:t>
                      </a:r>
                      <a:endParaRPr lang="zh-CN" altLang="en-US" dirty="0"/>
                    </a:p>
                  </a:txBody>
                  <a:tcPr/>
                </a:tc>
                <a:tc>
                  <a:txBody>
                    <a:bodyPr/>
                    <a:lstStyle/>
                    <a:p>
                      <a:pPr algn="ctr"/>
                      <a:r>
                        <a:rPr lang="en-US" altLang="zh-CN" dirty="0"/>
                        <a:t>Hotukdeal.com</a:t>
                      </a:r>
                      <a:endParaRPr lang="zh-CN" altLang="en-US" dirty="0"/>
                    </a:p>
                  </a:txBody>
                  <a:tcPr/>
                </a:tc>
                <a:extLst>
                  <a:ext uri="{0D108BD9-81ED-4DB2-BD59-A6C34878D82A}">
                    <a16:rowId xmlns:a16="http://schemas.microsoft.com/office/drawing/2014/main" val="10003"/>
                  </a:ext>
                </a:extLst>
              </a:tr>
              <a:tr h="598294">
                <a:tc>
                  <a:txBody>
                    <a:bodyPr/>
                    <a:lstStyle/>
                    <a:p>
                      <a:pPr algn="ctr"/>
                      <a:r>
                        <a:rPr lang="en-US" altLang="zh-CN" dirty="0"/>
                        <a:t>4</a:t>
                      </a:r>
                      <a:endParaRPr lang="zh-CN" altLang="en-US" dirty="0"/>
                    </a:p>
                  </a:txBody>
                  <a:tcPr/>
                </a:tc>
                <a:tc>
                  <a:txBody>
                    <a:bodyPr/>
                    <a:lstStyle/>
                    <a:p>
                      <a:pPr algn="ctr"/>
                      <a:r>
                        <a:rPr lang="en-US" altLang="zh-CN" dirty="0"/>
                        <a:t>Ozbargain.com.au</a:t>
                      </a:r>
                      <a:endParaRPr lang="zh-CN" altLang="en-US" dirty="0"/>
                    </a:p>
                  </a:txBody>
                  <a:tcPr/>
                </a:tc>
                <a:extLst>
                  <a:ext uri="{0D108BD9-81ED-4DB2-BD59-A6C34878D82A}">
                    <a16:rowId xmlns:a16="http://schemas.microsoft.com/office/drawing/2014/main" val="10004"/>
                  </a:ext>
                </a:extLst>
              </a:tr>
              <a:tr h="598294">
                <a:tc>
                  <a:txBody>
                    <a:bodyPr/>
                    <a:lstStyle/>
                    <a:p>
                      <a:pPr algn="ctr"/>
                      <a:r>
                        <a:rPr lang="en-US" altLang="zh-CN" dirty="0"/>
                        <a:t>5</a:t>
                      </a:r>
                      <a:endParaRPr lang="zh-CN" altLang="en-US" dirty="0"/>
                    </a:p>
                  </a:txBody>
                  <a:tcPr/>
                </a:tc>
                <a:tc>
                  <a:txBody>
                    <a:bodyPr/>
                    <a:lstStyle/>
                    <a:p>
                      <a:pPr algn="ctr"/>
                      <a:r>
                        <a:rPr lang="en-US" altLang="zh-CN" dirty="0"/>
                        <a:t>Redflagdeal.com</a:t>
                      </a:r>
                      <a:endParaRPr lang="zh-CN" altLang="en-US" dirty="0"/>
                    </a:p>
                  </a:txBody>
                  <a:tcPr/>
                </a:tc>
                <a:extLst>
                  <a:ext uri="{0D108BD9-81ED-4DB2-BD59-A6C34878D82A}">
                    <a16:rowId xmlns:a16="http://schemas.microsoft.com/office/drawing/2014/main" val="10005"/>
                  </a:ext>
                </a:extLst>
              </a:tr>
              <a:tr h="598294">
                <a:tc>
                  <a:txBody>
                    <a:bodyPr/>
                    <a:lstStyle/>
                    <a:p>
                      <a:pPr algn="ctr"/>
                      <a:r>
                        <a:rPr lang="en-US" altLang="zh-CN" dirty="0"/>
                        <a:t>6</a:t>
                      </a:r>
                      <a:endParaRPr lang="zh-CN" altLang="en-US" dirty="0"/>
                    </a:p>
                  </a:txBody>
                  <a:tcPr/>
                </a:tc>
                <a:tc>
                  <a:txBody>
                    <a:bodyPr/>
                    <a:lstStyle/>
                    <a:p>
                      <a:pPr algn="ctr"/>
                      <a:r>
                        <a:rPr lang="en-US" altLang="zh-CN" dirty="0"/>
                        <a:t>Dealabs.fr</a:t>
                      </a:r>
                      <a:endParaRPr lang="zh-CN" altLang="en-US" dirty="0"/>
                    </a:p>
                  </a:txBody>
                  <a:tcPr/>
                </a:tc>
                <a:extLst>
                  <a:ext uri="{0D108BD9-81ED-4DB2-BD59-A6C34878D82A}">
                    <a16:rowId xmlns:a16="http://schemas.microsoft.com/office/drawing/2014/main" val="10006"/>
                  </a:ext>
                </a:extLst>
              </a:tr>
              <a:tr h="598294">
                <a:tc>
                  <a:txBody>
                    <a:bodyPr/>
                    <a:lstStyle/>
                    <a:p>
                      <a:pPr algn="ctr"/>
                      <a:r>
                        <a:rPr lang="en-US" altLang="zh-CN" dirty="0"/>
                        <a:t>7</a:t>
                      </a:r>
                      <a:endParaRPr lang="zh-CN" altLang="en-US" dirty="0"/>
                    </a:p>
                  </a:txBody>
                  <a:tcPr/>
                </a:tc>
                <a:tc>
                  <a:txBody>
                    <a:bodyPr/>
                    <a:lstStyle/>
                    <a:p>
                      <a:pPr algn="ctr"/>
                      <a:r>
                        <a:rPr lang="en-US" altLang="zh-CN" dirty="0"/>
                        <a:t>Mysku.ru </a:t>
                      </a:r>
                      <a:endParaRPr lang="zh-CN" altLang="en-US" dirty="0"/>
                    </a:p>
                  </a:txBody>
                  <a:tcPr/>
                </a:tc>
                <a:extLst>
                  <a:ext uri="{0D108BD9-81ED-4DB2-BD59-A6C34878D82A}">
                    <a16:rowId xmlns:a16="http://schemas.microsoft.com/office/drawing/2014/main" val="10007"/>
                  </a:ext>
                </a:extLst>
              </a:tr>
            </a:tbl>
          </a:graphicData>
        </a:graphic>
      </p:graphicFrame>
      <p:sp>
        <p:nvSpPr>
          <p:cNvPr id="6" name="矩形 5"/>
          <p:cNvSpPr/>
          <p:nvPr/>
        </p:nvSpPr>
        <p:spPr>
          <a:xfrm>
            <a:off x="523836" y="2285992"/>
            <a:ext cx="285752" cy="2643206"/>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常见折扣网站</a:t>
            </a:r>
          </a:p>
        </p:txBody>
      </p:sp>
      <p:sp>
        <p:nvSpPr>
          <p:cNvPr id="7" name="虚尾箭头 6"/>
          <p:cNvSpPr/>
          <p:nvPr/>
        </p:nvSpPr>
        <p:spPr>
          <a:xfrm>
            <a:off x="881026" y="3357562"/>
            <a:ext cx="785818" cy="214314"/>
          </a:xfrm>
          <a:prstGeom prst="striped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8" name="矩形 7"/>
          <p:cNvSpPr/>
          <p:nvPr/>
        </p:nvSpPr>
        <p:spPr>
          <a:xfrm>
            <a:off x="5595934" y="2000240"/>
            <a:ext cx="6357982" cy="1477328"/>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fontAlgn="base"/>
            <a:r>
              <a:rPr lang="en-US" dirty="0"/>
              <a:t>A</a:t>
            </a:r>
            <a:r>
              <a:rPr lang="en-US" altLang="zh-CN" dirty="0"/>
              <a:t>mazon Listing </a:t>
            </a:r>
            <a:r>
              <a:rPr lang="zh-CN" altLang="en-US" dirty="0"/>
              <a:t>在</a:t>
            </a:r>
            <a:r>
              <a:rPr lang="en-US" altLang="zh-CN" dirty="0"/>
              <a:t>Deals</a:t>
            </a:r>
            <a:r>
              <a:rPr lang="zh-CN" altLang="en-US" dirty="0"/>
              <a:t>站引流各个站要求不一样</a:t>
            </a:r>
            <a:endParaRPr lang="en-US" altLang="zh-CN" dirty="0"/>
          </a:p>
          <a:p>
            <a:pPr fontAlgn="base"/>
            <a:r>
              <a:rPr lang="zh-CN" altLang="en-US" dirty="0"/>
              <a:t>以</a:t>
            </a:r>
            <a:r>
              <a:rPr lang="en-US" altLang="zh-CN" dirty="0" err="1"/>
              <a:t>Slickdeals</a:t>
            </a:r>
            <a:r>
              <a:rPr lang="zh-CN" altLang="en-US" dirty="0"/>
              <a:t>为例：</a:t>
            </a:r>
            <a:endParaRPr lang="en-US" dirty="0"/>
          </a:p>
          <a:p>
            <a:pPr fontAlgn="base"/>
            <a:r>
              <a:rPr lang="en-US" dirty="0"/>
              <a:t>1</a:t>
            </a:r>
            <a:r>
              <a:rPr lang="zh-CN" altLang="en-US" dirty="0"/>
              <a:t>、</a:t>
            </a:r>
            <a:r>
              <a:rPr lang="en-US" dirty="0"/>
              <a:t>1000 + Feedback</a:t>
            </a:r>
          </a:p>
          <a:p>
            <a:pPr fontAlgn="base"/>
            <a:r>
              <a:rPr lang="en-US" altLang="zh-CN" dirty="0"/>
              <a:t>2</a:t>
            </a:r>
            <a:r>
              <a:rPr lang="zh-CN" altLang="en-US" dirty="0"/>
              <a:t>、产品要 </a:t>
            </a:r>
            <a:r>
              <a:rPr lang="en-US" altLang="zh-CN" dirty="0"/>
              <a:t>50+ </a:t>
            </a:r>
            <a:r>
              <a:rPr lang="en-US" dirty="0"/>
              <a:t>reviews</a:t>
            </a:r>
          </a:p>
          <a:p>
            <a:pPr fontAlgn="base"/>
            <a:r>
              <a:rPr lang="en-US" altLang="zh-CN" dirty="0"/>
              <a:t>3</a:t>
            </a:r>
            <a:r>
              <a:rPr lang="zh-CN" altLang="en-US" dirty="0"/>
              <a:t>、至少 </a:t>
            </a:r>
            <a:r>
              <a:rPr lang="en-US" altLang="zh-CN" dirty="0"/>
              <a:t>80% </a:t>
            </a:r>
            <a:r>
              <a:rPr lang="zh-CN" altLang="en-US" dirty="0"/>
              <a:t>要在 </a:t>
            </a:r>
            <a:r>
              <a:rPr lang="en-US" dirty="0"/>
              <a:t>fakespot.com </a:t>
            </a:r>
            <a:r>
              <a:rPr lang="zh-CN" altLang="en-US" dirty="0"/>
              <a:t>是好评（</a:t>
            </a:r>
            <a:r>
              <a:rPr lang="en-US" altLang="zh-CN" dirty="0"/>
              <a:t>20% </a:t>
            </a:r>
            <a:r>
              <a:rPr lang="en-US" dirty="0"/>
              <a:t>low quality）</a:t>
            </a:r>
          </a:p>
        </p:txBody>
      </p:sp>
      <p:sp>
        <p:nvSpPr>
          <p:cNvPr id="10" name="矩形 9"/>
          <p:cNvSpPr/>
          <p:nvPr/>
        </p:nvSpPr>
        <p:spPr>
          <a:xfrm>
            <a:off x="5595934" y="4572009"/>
            <a:ext cx="6357982"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fontAlgn="base"/>
            <a:r>
              <a:rPr lang="zh-CN" altLang="en-US" dirty="0"/>
              <a:t>不管哪个平台，良好的</a:t>
            </a:r>
            <a:r>
              <a:rPr lang="en-US" altLang="zh-CN" dirty="0" err="1"/>
              <a:t>FB&amp;Reviews</a:t>
            </a:r>
            <a:r>
              <a:rPr lang="en-US" altLang="zh-CN" dirty="0"/>
              <a:t>,</a:t>
            </a:r>
            <a:r>
              <a:rPr lang="zh-CN" altLang="en-US" dirty="0"/>
              <a:t>较好的</a:t>
            </a:r>
            <a:r>
              <a:rPr lang="en-US" altLang="zh-CN" dirty="0"/>
              <a:t>Listing</a:t>
            </a:r>
            <a:r>
              <a:rPr lang="zh-CN" altLang="en-US" dirty="0"/>
              <a:t>表现和转化，对于成功合作红人并且发布后的转化有着正影响</a:t>
            </a:r>
            <a:endParaRPr lang="en-US" dirty="0"/>
          </a:p>
        </p:txBody>
      </p:sp>
      <p:sp>
        <p:nvSpPr>
          <p:cNvPr id="11" name="下箭头 10"/>
          <p:cNvSpPr/>
          <p:nvPr/>
        </p:nvSpPr>
        <p:spPr>
          <a:xfrm>
            <a:off x="8524892" y="3571876"/>
            <a:ext cx="214314" cy="857256"/>
          </a:xfrm>
          <a:prstGeom prst="downArrow">
            <a:avLst/>
          </a:prstGeom>
          <a:ln>
            <a:solidFill>
              <a:schemeClr val="accent6">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701841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4024299" y="357167"/>
            <a:ext cx="4296369" cy="584775"/>
          </a:xfrm>
          <a:prstGeom prst="rect">
            <a:avLst/>
          </a:prstGeom>
          <a:noFill/>
        </p:spPr>
        <p:txBody>
          <a:bodyPr wrap="none" rtlCol="0">
            <a:spAutoFit/>
          </a:bodyPr>
          <a:lstStyle/>
          <a:p>
            <a:r>
              <a:rPr lang="en-US" altLang="zh-CN" sz="3200" b="1" dirty="0">
                <a:solidFill>
                  <a:schemeClr val="accent6">
                    <a:lumMod val="75000"/>
                  </a:schemeClr>
                </a:solidFill>
              </a:rPr>
              <a:t>Referral——Deals</a:t>
            </a:r>
            <a:r>
              <a:rPr lang="zh-CN" altLang="en-US" sz="3200" b="1" dirty="0">
                <a:solidFill>
                  <a:schemeClr val="accent6">
                    <a:lumMod val="75000"/>
                  </a:schemeClr>
                </a:solidFill>
              </a:rPr>
              <a:t>红人</a:t>
            </a:r>
          </a:p>
        </p:txBody>
      </p:sp>
      <p:pic>
        <p:nvPicPr>
          <p:cNvPr id="69634" name="Picture 2" descr="Influencer Discovery Tools"/>
          <p:cNvPicPr>
            <a:picLocks noChangeAspect="1" noChangeArrowheads="1"/>
          </p:cNvPicPr>
          <p:nvPr/>
        </p:nvPicPr>
        <p:blipFill>
          <a:blip r:embed="rId2"/>
          <a:srcRect/>
          <a:stretch>
            <a:fillRect/>
          </a:stretch>
        </p:blipFill>
        <p:spPr bwMode="auto">
          <a:xfrm>
            <a:off x="3881422" y="1785926"/>
            <a:ext cx="6177286" cy="3500462"/>
          </a:xfrm>
          <a:prstGeom prst="rect">
            <a:avLst/>
          </a:prstGeom>
          <a:noFill/>
        </p:spPr>
      </p:pic>
      <p:sp>
        <p:nvSpPr>
          <p:cNvPr id="5" name="TextBox 4"/>
          <p:cNvSpPr txBox="1"/>
          <p:nvPr/>
        </p:nvSpPr>
        <p:spPr>
          <a:xfrm>
            <a:off x="1381092" y="2143117"/>
            <a:ext cx="571504" cy="3139321"/>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zh-CN" altLang="en-US" dirty="0"/>
              <a:t>第三方网站开发红人资源</a:t>
            </a:r>
          </a:p>
        </p:txBody>
      </p:sp>
      <p:sp>
        <p:nvSpPr>
          <p:cNvPr id="6" name="TextBox 5"/>
          <p:cNvSpPr txBox="1"/>
          <p:nvPr/>
        </p:nvSpPr>
        <p:spPr>
          <a:xfrm>
            <a:off x="452398" y="1071546"/>
            <a:ext cx="2643206"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zh-CN" altLang="en-US" dirty="0"/>
              <a:t>开发红人资源的方法</a:t>
            </a:r>
          </a:p>
        </p:txBody>
      </p:sp>
      <p:sp>
        <p:nvSpPr>
          <p:cNvPr id="7" name="右箭头 6"/>
          <p:cNvSpPr/>
          <p:nvPr/>
        </p:nvSpPr>
        <p:spPr>
          <a:xfrm>
            <a:off x="2238348" y="3214686"/>
            <a:ext cx="1357322" cy="500066"/>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32468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站外流量来源</a:t>
            </a:r>
          </a:p>
        </p:txBody>
      </p:sp>
      <p:sp>
        <p:nvSpPr>
          <p:cNvPr id="3" name="TextBox 2"/>
          <p:cNvSpPr txBox="1"/>
          <p:nvPr/>
        </p:nvSpPr>
        <p:spPr>
          <a:xfrm>
            <a:off x="4024299" y="357167"/>
            <a:ext cx="4296369" cy="584775"/>
          </a:xfrm>
          <a:prstGeom prst="rect">
            <a:avLst/>
          </a:prstGeom>
          <a:noFill/>
        </p:spPr>
        <p:txBody>
          <a:bodyPr wrap="none" rtlCol="0">
            <a:spAutoFit/>
          </a:bodyPr>
          <a:lstStyle/>
          <a:p>
            <a:r>
              <a:rPr lang="en-US" altLang="zh-CN" sz="3200" b="1" dirty="0">
                <a:solidFill>
                  <a:schemeClr val="accent6">
                    <a:lumMod val="75000"/>
                  </a:schemeClr>
                </a:solidFill>
              </a:rPr>
              <a:t>Referral——Deals</a:t>
            </a:r>
            <a:r>
              <a:rPr lang="zh-CN" altLang="en-US" sz="3200" b="1" dirty="0">
                <a:solidFill>
                  <a:schemeClr val="accent6">
                    <a:lumMod val="75000"/>
                  </a:schemeClr>
                </a:solidFill>
              </a:rPr>
              <a:t>红人</a:t>
            </a:r>
          </a:p>
        </p:txBody>
      </p:sp>
      <p:sp>
        <p:nvSpPr>
          <p:cNvPr id="4" name="TextBox 3"/>
          <p:cNvSpPr txBox="1"/>
          <p:nvPr/>
        </p:nvSpPr>
        <p:spPr>
          <a:xfrm>
            <a:off x="452398" y="1071546"/>
            <a:ext cx="2643206"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zh-CN" altLang="en-US" dirty="0"/>
              <a:t>开发红人资源的方法</a:t>
            </a:r>
          </a:p>
        </p:txBody>
      </p:sp>
      <p:pic>
        <p:nvPicPr>
          <p:cNvPr id="71682" name="Picture 2" descr="Image result for influencer Intermediary"/>
          <p:cNvPicPr>
            <a:picLocks noChangeAspect="1" noChangeArrowheads="1"/>
          </p:cNvPicPr>
          <p:nvPr/>
        </p:nvPicPr>
        <p:blipFill>
          <a:blip r:embed="rId2" cstate="print"/>
          <a:srcRect/>
          <a:stretch>
            <a:fillRect/>
          </a:stretch>
        </p:blipFill>
        <p:spPr bwMode="auto">
          <a:xfrm>
            <a:off x="4810116" y="1357298"/>
            <a:ext cx="6216854" cy="4143342"/>
          </a:xfrm>
          <a:prstGeom prst="rect">
            <a:avLst/>
          </a:prstGeom>
          <a:noFill/>
        </p:spPr>
      </p:pic>
      <p:sp>
        <p:nvSpPr>
          <p:cNvPr id="6" name="TextBox 5"/>
          <p:cNvSpPr txBox="1"/>
          <p:nvPr/>
        </p:nvSpPr>
        <p:spPr>
          <a:xfrm>
            <a:off x="595274" y="3643315"/>
            <a:ext cx="2071702" cy="1200329"/>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400" dirty="0"/>
              <a:t>1</a:t>
            </a:r>
            <a:r>
              <a:rPr lang="zh-CN" altLang="en-US" sz="2400" dirty="0"/>
              <a:t>、红人中介</a:t>
            </a:r>
            <a:endParaRPr lang="en-US" altLang="zh-CN" sz="2400" dirty="0"/>
          </a:p>
          <a:p>
            <a:r>
              <a:rPr lang="en-US" altLang="zh-CN" sz="2400" dirty="0"/>
              <a:t>2</a:t>
            </a:r>
            <a:r>
              <a:rPr lang="zh-CN" altLang="en-US" sz="2400" dirty="0"/>
              <a:t>、发布任务</a:t>
            </a:r>
            <a:endParaRPr lang="en-US" altLang="zh-CN" sz="2400" dirty="0"/>
          </a:p>
          <a:p>
            <a:r>
              <a:rPr lang="en-US" altLang="zh-CN" sz="2400" dirty="0"/>
              <a:t>3</a:t>
            </a:r>
            <a:r>
              <a:rPr lang="zh-CN" altLang="en-US" sz="2400" dirty="0"/>
              <a:t>、主动搜索</a:t>
            </a:r>
          </a:p>
        </p:txBody>
      </p:sp>
    </p:spTree>
    <p:extLst>
      <p:ext uri="{BB962C8B-B14F-4D97-AF65-F5344CB8AC3E}">
        <p14:creationId xmlns:p14="http://schemas.microsoft.com/office/powerpoint/2010/main" val="17469915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9"/>
          <p:cNvSpPr txBox="1"/>
          <p:nvPr/>
        </p:nvSpPr>
        <p:spPr>
          <a:xfrm>
            <a:off x="166646" y="142852"/>
            <a:ext cx="3857652" cy="438582"/>
          </a:xfrm>
          <a:prstGeom prst="rect">
            <a:avLst/>
          </a:prstGeom>
          <a:noFill/>
        </p:spPr>
        <p:txBody>
          <a:bodyPr wrap="square" lIns="68580" tIns="34290" rIns="68580" bIns="34290" rtlCol="0">
            <a:spAutoFit/>
          </a:bodyPr>
          <a:lstStyle/>
          <a:p>
            <a:pPr marL="0" lvl="1"/>
            <a:r>
              <a:rPr lang="en-US" altLang="zh-CN" sz="2400" b="1" dirty="0">
                <a:solidFill>
                  <a:srgbClr val="0070C0"/>
                </a:solidFill>
                <a:latin typeface="微软雅黑" pitchFamily="34" charset="-122"/>
                <a:ea typeface="微软雅黑" pitchFamily="34" charset="-122"/>
              </a:rPr>
              <a:t>Amazon</a:t>
            </a:r>
            <a:r>
              <a:rPr lang="zh-CN" altLang="en-US" sz="2400" b="1" dirty="0">
                <a:solidFill>
                  <a:srgbClr val="0070C0"/>
                </a:solidFill>
                <a:latin typeface="微软雅黑" pitchFamily="34" charset="-122"/>
                <a:ea typeface="微软雅黑" pitchFamily="34" charset="-122"/>
              </a:rPr>
              <a:t>引流推广</a:t>
            </a:r>
          </a:p>
        </p:txBody>
      </p:sp>
      <p:sp>
        <p:nvSpPr>
          <p:cNvPr id="3" name="右箭头 2"/>
          <p:cNvSpPr/>
          <p:nvPr/>
        </p:nvSpPr>
        <p:spPr>
          <a:xfrm>
            <a:off x="2952728" y="2714620"/>
            <a:ext cx="1714512" cy="642942"/>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5" name="左箭头 4"/>
          <p:cNvSpPr/>
          <p:nvPr/>
        </p:nvSpPr>
        <p:spPr>
          <a:xfrm>
            <a:off x="7381884" y="2643182"/>
            <a:ext cx="1571636" cy="785818"/>
          </a:xfrm>
          <a:prstGeom prst="leftArrow">
            <a:avLst>
              <a:gd name="adj1" fmla="val 50000"/>
              <a:gd name="adj2" fmla="val 50000"/>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7" name="等腰三角形 6"/>
          <p:cNvSpPr/>
          <p:nvPr/>
        </p:nvSpPr>
        <p:spPr>
          <a:xfrm>
            <a:off x="5738810" y="3214686"/>
            <a:ext cx="642942" cy="1071570"/>
          </a:xfrm>
          <a:prstGeom prst="triangl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8" name="TextBox 7"/>
          <p:cNvSpPr txBox="1"/>
          <p:nvPr/>
        </p:nvSpPr>
        <p:spPr>
          <a:xfrm>
            <a:off x="5167306" y="2285992"/>
            <a:ext cx="1571636"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zh-CN" altLang="en-US" dirty="0"/>
              <a:t>较高的转化</a:t>
            </a:r>
          </a:p>
        </p:txBody>
      </p:sp>
      <p:sp>
        <p:nvSpPr>
          <p:cNvPr id="9" name="TextBox 8"/>
          <p:cNvSpPr txBox="1"/>
          <p:nvPr/>
        </p:nvSpPr>
        <p:spPr>
          <a:xfrm>
            <a:off x="881026" y="2786058"/>
            <a:ext cx="1785950"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zh-CN" altLang="en-US" dirty="0"/>
              <a:t>先做好站内</a:t>
            </a:r>
          </a:p>
        </p:txBody>
      </p:sp>
      <p:sp>
        <p:nvSpPr>
          <p:cNvPr id="10" name="TextBox 9"/>
          <p:cNvSpPr txBox="1"/>
          <p:nvPr/>
        </p:nvSpPr>
        <p:spPr>
          <a:xfrm>
            <a:off x="9525024" y="2786058"/>
            <a:ext cx="1785950"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zh-CN" altLang="en-US" dirty="0"/>
              <a:t>再做好站外</a:t>
            </a:r>
          </a:p>
        </p:txBody>
      </p:sp>
      <p:sp>
        <p:nvSpPr>
          <p:cNvPr id="11" name="TextBox 10"/>
          <p:cNvSpPr txBox="1"/>
          <p:nvPr/>
        </p:nvSpPr>
        <p:spPr>
          <a:xfrm>
            <a:off x="2738414" y="4643446"/>
            <a:ext cx="6715172" cy="369332"/>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US" altLang="zh-CN" dirty="0"/>
              <a:t>Amazon</a:t>
            </a:r>
            <a:r>
              <a:rPr lang="zh-CN" altLang="en-US" dirty="0"/>
              <a:t>引流推广的原则</a:t>
            </a:r>
          </a:p>
        </p:txBody>
      </p:sp>
    </p:spTree>
    <p:extLst>
      <p:ext uri="{BB962C8B-B14F-4D97-AF65-F5344CB8AC3E}">
        <p14:creationId xmlns:p14="http://schemas.microsoft.com/office/powerpoint/2010/main" val="40284819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24298" y="2214555"/>
            <a:ext cx="3892412" cy="1015663"/>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r>
              <a:rPr lang="zh-CN" altLang="en-US" sz="6000" dirty="0"/>
              <a:t>谢 谢 大 家</a:t>
            </a:r>
          </a:p>
        </p:txBody>
      </p:sp>
    </p:spTree>
    <p:extLst>
      <p:ext uri="{BB962C8B-B14F-4D97-AF65-F5344CB8AC3E}">
        <p14:creationId xmlns:p14="http://schemas.microsoft.com/office/powerpoint/2010/main" val="351588686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2342</Words>
  <Application>Microsoft Office PowerPoint</Application>
  <PresentationFormat>宽屏</PresentationFormat>
  <Paragraphs>368</Paragraphs>
  <Slides>57</Slides>
  <Notes>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57</vt:i4>
      </vt:variant>
    </vt:vector>
  </HeadingPairs>
  <TitlesOfParts>
    <vt:vector size="63" baseType="lpstr">
      <vt:lpstr>Arial Unicode MS</vt:lpstr>
      <vt:lpstr>等线</vt:lpstr>
      <vt:lpstr>等线 Light</vt:lpstr>
      <vt:lpstr>微软雅黑</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Cs</dc:creator>
  <cp:lastModifiedBy>Cs</cp:lastModifiedBy>
  <cp:revision>1</cp:revision>
  <dcterms:created xsi:type="dcterms:W3CDTF">2017-04-25T06:58:27Z</dcterms:created>
  <dcterms:modified xsi:type="dcterms:W3CDTF">2017-04-25T06:58:45Z</dcterms:modified>
</cp:coreProperties>
</file>