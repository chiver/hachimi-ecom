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7" r:id="rId4"/>
    <p:sldId id="270" r:id="rId6"/>
    <p:sldId id="271" r:id="rId7"/>
    <p:sldId id="273" r:id="rId8"/>
    <p:sldId id="287" r:id="rId9"/>
    <p:sldId id="285" r:id="rId10"/>
    <p:sldId id="276" r:id="rId11"/>
    <p:sldId id="280" r:id="rId12"/>
    <p:sldId id="278" r:id="rId13"/>
    <p:sldId id="279" r:id="rId14"/>
    <p:sldId id="282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5" r:id="rId25"/>
    <p:sldId id="306" r:id="rId26"/>
    <p:sldId id="308" r:id="rId27"/>
    <p:sldId id="307" r:id="rId28"/>
    <p:sldId id="310" r:id="rId29"/>
    <p:sldId id="311" r:id="rId30"/>
    <p:sldId id="313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-291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5" Type="http://schemas.openxmlformats.org/officeDocument/2006/relationships/tags" Target="tags/tag143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535F5C-9E76-47D9-A386-ECF287DF34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030A2CD-FD71-4B21-81ED-9148DF074020}" type="slidenum">
              <a:rPr lang="zh-CN" altLang="en-US" smtClean="0">
                <a:latin typeface="Calibri" panose="020F0502020204030204" charset="0"/>
                <a:ea typeface="宋体" panose="02010600030101010101" pitchFamily="2" charset="-122"/>
              </a:rPr>
            </a:fld>
            <a:endParaRPr lang="en-US" altLang="zh-CN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1786A-220A-4EA0-9CB1-9BDF1243D4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EBF9F5-BACD-48B4-844B-C945560F38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9321B-72B8-48D6-97A4-CD269802F63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1BABB2-13EF-41F9-9DE8-3A95FCCAA48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9922" y="2012700"/>
            <a:ext cx="6722899" cy="1893792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19922" y="4096590"/>
            <a:ext cx="6722899" cy="60147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0064-1D3A-4468-A1B1-52CF93AA3D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9EE8-1FE3-4EDB-A8CA-BA68A812CE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0064-1D3A-4468-A1B1-52CF93AA3D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9EE8-1FE3-4EDB-A8CA-BA68A812CE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6896" y="1709738"/>
            <a:ext cx="5556503" cy="1524781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651" y="3634120"/>
            <a:ext cx="3814318" cy="6512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0064-1D3A-4468-A1B1-52CF93AA3D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9EE8-1FE3-4EDB-A8CA-BA68A812CEF7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3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>
            <a:off x="0" y="3330563"/>
            <a:ext cx="8153399" cy="0"/>
          </a:xfrm>
          <a:prstGeom prst="line">
            <a:avLst/>
          </a:prstGeom>
          <a:noFill/>
          <a:ln w="19050" algn="ctr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直接连接符 4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5073651" y="3368062"/>
            <a:ext cx="7118348" cy="0"/>
          </a:xfrm>
          <a:prstGeom prst="line">
            <a:avLst/>
          </a:prstGeom>
          <a:noFill/>
          <a:ln w="19050" algn="ctr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0064-1D3A-4468-A1B1-52CF93AA3D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9EE8-1FE3-4EDB-A8CA-BA68A812CE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177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0064-1D3A-4468-A1B1-52CF93AA3D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9EE8-1FE3-4EDB-A8CA-BA68A812CE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927" y="2548766"/>
            <a:ext cx="5890146" cy="9177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0064-1D3A-4468-A1B1-52CF93AA3D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9EE8-1FE3-4EDB-A8CA-BA68A812CE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0064-1D3A-4468-A1B1-52CF93AA3D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9EE8-1FE3-4EDB-A8CA-BA68A812CE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457199"/>
            <a:ext cx="6172200" cy="54036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0064-1D3A-4468-A1B1-52CF93AA3D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9EE8-1FE3-4EDB-A8CA-BA68A812CE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0064-1D3A-4468-A1B1-52CF93AA3D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9EE8-1FE3-4EDB-A8CA-BA68A812CE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1D3F-34E9-4F9D-84A2-72367D9F9A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4DC01-BD11-43BE-8FE9-19C0CFD26E47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839559" y="255122"/>
            <a:ext cx="10512884" cy="581770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393700" indent="0">
              <a:buFontTx/>
              <a:buNone/>
              <a:defRPr sz="2000">
                <a:solidFill>
                  <a:schemeClr val="accent1"/>
                </a:solidFill>
              </a:defRPr>
            </a:lvl2pPr>
            <a:lvl3pPr marL="661035" indent="0">
              <a:buFontTx/>
              <a:buNone/>
              <a:defRPr sz="1800">
                <a:solidFill>
                  <a:schemeClr val="accent1"/>
                </a:solidFill>
              </a:defRPr>
            </a:lvl3pPr>
            <a:lvl4pPr marL="851535" indent="0">
              <a:buFontTx/>
              <a:buNone/>
              <a:defRPr sz="1800">
                <a:solidFill>
                  <a:schemeClr val="accent1"/>
                </a:solidFill>
              </a:defRPr>
            </a:lvl4pPr>
            <a:lvl5pPr marL="1054735" indent="0">
              <a:buFontTx/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085261"/>
            <a:ext cx="9144000" cy="848179"/>
          </a:xfrm>
        </p:spPr>
        <p:txBody>
          <a:bodyPr anchor="ctr" anchorCtr="0">
            <a:normAutofit/>
          </a:bodyPr>
          <a:lstStyle>
            <a:lvl1pPr algn="ctr">
              <a:defRPr sz="48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933440"/>
            <a:ext cx="9144000" cy="508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22720"/>
            <a:ext cx="2743200" cy="294640"/>
          </a:xfrm>
        </p:spPr>
        <p:txBody>
          <a:bodyPr>
            <a:normAutofit/>
          </a:bodyPr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22720"/>
            <a:ext cx="4114800" cy="29464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522720"/>
            <a:ext cx="2743200" cy="294640"/>
          </a:xfrm>
        </p:spPr>
        <p:txBody>
          <a:bodyPr>
            <a:normAutofit/>
          </a:bodyPr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1025"/>
            <a:ext cx="10515600" cy="431641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609850"/>
            <a:ext cx="10515600" cy="1152525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789363"/>
            <a:ext cx="10515600" cy="59213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609963" y="3640596"/>
            <a:ext cx="8972074" cy="676800"/>
          </a:xfrm>
          <a:prstGeom prst="rect">
            <a:avLst/>
          </a:prstGeom>
          <a:blipFill dpi="0" rotWithShape="1">
            <a:blip r:embed="rId2"/>
            <a:srcRect/>
            <a:stretch>
              <a:fillRect t="-2000"/>
            </a:stretch>
          </a:blipFill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marL="0" indent="0" algn="ctr" defTabSz="91440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Font typeface="Wingdings" panose="05000000000000000000" pitchFamily="2" charset="2"/>
              <a:buNone/>
              <a:defRPr sz="1800">
                <a:latin typeface="+mn-lt"/>
                <a:ea typeface="+mn-ea"/>
              </a:defRPr>
            </a:lvl1pPr>
            <a:lvl2pPr indent="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2pPr>
            <a:lvl3pPr indent="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3pPr>
            <a:lvl4pPr indent="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4pPr>
            <a:lvl5pPr indent="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27542"/>
            <a:ext cx="5181600" cy="4290378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27542"/>
            <a:ext cx="5181600" cy="4290378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96415"/>
            <a:ext cx="5157787" cy="647700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96415"/>
            <a:ext cx="5183188" cy="647700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边形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51113" y="2183131"/>
            <a:ext cx="7089775" cy="1517650"/>
          </a:xfrm>
          <a:prstGeom prst="parallelogram">
            <a:avLst>
              <a:gd name="adj" fmla="val 30552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"/>
              <a:defRPr>
                <a:solidFill>
                  <a:srgbClr val="4061AA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lr>
                <a:srgbClr val="A9B9DF"/>
              </a:buClr>
              <a:buFont typeface="幼圆" panose="02010509060101010101" pitchFamily="49" charset="-122"/>
              <a:buChar char=" "/>
              <a:defRPr sz="1400">
                <a:solidFill>
                  <a:srgbClr val="7D7D7D"/>
                </a:solidFill>
                <a:latin typeface="幼圆" panose="02010509060101010101" pitchFamily="49" charset="-122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zh-CN" altLang="en-US" sz="4800" b="1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51113" y="2183130"/>
            <a:ext cx="7089775" cy="1517650"/>
          </a:xfrm>
          <a:noFill/>
        </p:spPr>
        <p:txBody>
          <a:bodyPr>
            <a:normAutofit/>
          </a:bodyPr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sp>
        <p:nvSpPr>
          <p:cNvPr id="6" name="平行四边形 3"/>
          <p:cNvSpPr>
            <a:spLocks noChangeArrowheads="1"/>
          </p:cNvSpPr>
          <p:nvPr/>
        </p:nvSpPr>
        <p:spPr bwMode="auto">
          <a:xfrm>
            <a:off x="3655485" y="3822700"/>
            <a:ext cx="8536516" cy="425450"/>
          </a:xfrm>
          <a:prstGeom prst="parallelogram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txBody>
          <a:bodyPr anchor="ctr">
            <a:normAutofit/>
          </a:bodyPr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"/>
              <a:defRPr sz="2400">
                <a:solidFill>
                  <a:schemeClr val="accent1"/>
                </a:solidFill>
                <a:latin typeface="幼圆" panose="02010509060101010101" pitchFamily="49" charset="-122"/>
                <a:ea typeface="黑体" panose="02010609060101010101" pitchFamily="49" charset="-122"/>
              </a:defRPr>
            </a:lvl1pPr>
            <a:lvl2pPr marL="742950" indent="-285750" algn="just">
              <a:lnSpc>
                <a:spcPct val="120000"/>
              </a:lnSpc>
              <a:spcAft>
                <a:spcPts val="600"/>
              </a:spcAft>
              <a:buClr>
                <a:srgbClr val="83BBDD"/>
              </a:buClr>
              <a:buFont typeface="幼圆" panose="02010509060101010101" pitchFamily="49" charset="-122"/>
              <a:buChar char=" "/>
              <a:defRPr sz="1600">
                <a:solidFill>
                  <a:schemeClr val="tx1"/>
                </a:solidFill>
                <a:latin typeface="幼圆" panose="02010509060101010101" pitchFamily="49" charset="-122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zh-CN" sz="1600">
              <a:solidFill>
                <a:srgbClr val="ACD1E8"/>
              </a:solidFill>
              <a:ea typeface="幼圆" panose="020105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10180320" y="1036319"/>
            <a:ext cx="1173480" cy="5140643"/>
          </a:xfrm>
        </p:spPr>
        <p:txBody>
          <a:bodyPr vert="eaVert">
            <a:normAutofit/>
          </a:bodyPr>
          <a:lstStyle/>
          <a:p>
            <a:r>
              <a:rPr lang="zh-CN" altLang="en-US" dirty="0"/>
              <a:t>编辑标题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36319"/>
            <a:ext cx="9235440" cy="5140643"/>
          </a:xfrm>
        </p:spPr>
        <p:txBody>
          <a:bodyPr vert="eaVer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>
            <a:normAutofit/>
          </a:bodyPr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>
            <a:normAutofit/>
          </a:bodyPr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7"/>
          <p:cNvSpPr>
            <a:spLocks noGrp="1"/>
          </p:cNvSpPr>
          <p:nvPr>
            <p:ph sz="quarter" idx="13"/>
          </p:nvPr>
        </p:nvSpPr>
        <p:spPr>
          <a:xfrm>
            <a:off x="838201" y="571503"/>
            <a:ext cx="10515601" cy="56499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4" Type="http://schemas.openxmlformats.org/officeDocument/2006/relationships/theme" Target="../theme/theme2.xml"/><Relationship Id="rId13" Type="http://schemas.openxmlformats.org/officeDocument/2006/relationships/tags" Target="../tags/tag7.xml"/><Relationship Id="rId12" Type="http://schemas.openxmlformats.org/officeDocument/2006/relationships/tags" Target="../tags/tag6.xml"/><Relationship Id="rId11" Type="http://schemas.openxmlformats.org/officeDocument/2006/relationships/image" Target="../media/image5.jpeg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9177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678675"/>
            <a:ext cx="10515600" cy="4498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F0064-1D3A-4468-A1B1-52CF93AA3D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29EE8-1FE3-4EDB-A8CA-BA68A812CEF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6" y="0"/>
            <a:ext cx="12195175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568960"/>
            <a:ext cx="10515600" cy="1121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E62FA2D-8AD8-4839-8284-DBE6C369225F}" type="datetimeFigureOut">
              <a:rPr lang="zh-CN" alt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19A5171-AC11-41CE-8B52-CDB574A4F0EB}" type="slidenum">
              <a:rPr lang="zh-CN" alt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50000"/>
            </a:schemeClr>
          </a:solidFill>
          <a:effectLst>
            <a:glow rad="139700">
              <a:srgbClr val="60A8FF">
                <a:alpha val="14902"/>
              </a:srgbClr>
            </a:glo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Font typeface="Wingdings" panose="05000000000000000000" pitchFamily="2" charset="2"/>
        <a:buChar char="m"/>
        <a:defRPr sz="2400" kern="1200">
          <a:solidFill>
            <a:schemeClr val="accent2">
              <a:lumMod val="75000"/>
            </a:schemeClr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9.xml"/><Relationship Id="rId2" Type="http://schemas.openxmlformats.org/officeDocument/2006/relationships/hyperlink" Target="http://shop554257226.taobao.com/index.htm" TargetMode="Externa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4" Type="http://schemas.openxmlformats.org/officeDocument/2006/relationships/notesSlide" Target="../notesSlides/notesSlide3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52.xml"/><Relationship Id="rId31" Type="http://schemas.openxmlformats.org/officeDocument/2006/relationships/tags" Target="../tags/tag51.xml"/><Relationship Id="rId30" Type="http://schemas.openxmlformats.org/officeDocument/2006/relationships/tags" Target="../tags/tag50.xml"/><Relationship Id="rId3" Type="http://schemas.openxmlformats.org/officeDocument/2006/relationships/tags" Target="../tags/tag23.xml"/><Relationship Id="rId29" Type="http://schemas.openxmlformats.org/officeDocument/2006/relationships/tags" Target="../tags/tag49.xml"/><Relationship Id="rId28" Type="http://schemas.openxmlformats.org/officeDocument/2006/relationships/tags" Target="../tags/tag48.xml"/><Relationship Id="rId27" Type="http://schemas.openxmlformats.org/officeDocument/2006/relationships/tags" Target="../tags/tag47.xml"/><Relationship Id="rId26" Type="http://schemas.openxmlformats.org/officeDocument/2006/relationships/tags" Target="../tags/tag46.xml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56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9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123.xml"/><Relationship Id="rId3" Type="http://schemas.openxmlformats.org/officeDocument/2006/relationships/tags" Target="../tags/tag96.xml"/><Relationship Id="rId29" Type="http://schemas.openxmlformats.org/officeDocument/2006/relationships/tags" Target="../tags/tag122.xml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tags" Target="../tags/tag115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5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tags" Target="../tags/tag125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718175" y="1194435"/>
            <a:ext cx="5015230" cy="1276985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sz="66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亚马逊选品</a:t>
            </a:r>
            <a:br>
              <a:rPr lang="zh-CN" altLang="en-US" sz="6600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</a:br>
            <a:endParaRPr lang="zh-CN" altLang="en-US" sz="6600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Rectangle 3">
            <a:hlinkClick r:id="rId2"/>
          </p:cNvPr>
          <p:cNvSpPr>
            <a:spLocks noChangeArrowheads="1"/>
          </p:cNvSpPr>
          <p:nvPr/>
        </p:nvSpPr>
        <p:spPr bwMode="auto">
          <a:xfrm>
            <a:off x="5718175" y="56635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18740" y="3078480"/>
            <a:ext cx="728472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/>
              <a:t>什么是亚马逊精品模式？</a:t>
            </a:r>
            <a:endParaRPr lang="zh-CN" altLang="en-US" sz="4800" b="1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18740" y="3078480"/>
            <a:ext cx="728472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/>
              <a:t>为什么要走精品模式？</a:t>
            </a:r>
            <a:endParaRPr lang="zh-CN" altLang="en-US" sz="4800" b="1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9" name="Straight Connector 32"/>
          <p:cNvCxnSpPr>
            <a:cxnSpLocks noChangeShapeType="1"/>
          </p:cNvCxnSpPr>
          <p:nvPr>
            <p:custDataLst>
              <p:tags r:id="rId1"/>
            </p:custDataLst>
          </p:nvPr>
        </p:nvCxnSpPr>
        <p:spPr bwMode="auto">
          <a:xfrm rot="10800000" flipH="1" flipV="1">
            <a:off x="3731260" y="3453130"/>
            <a:ext cx="532765" cy="3810"/>
          </a:xfrm>
          <a:prstGeom prst="line">
            <a:avLst/>
          </a:prstGeom>
          <a:solidFill>
            <a:srgbClr val="59A5C7"/>
          </a:solidFill>
          <a:ln w="25400">
            <a:solidFill>
              <a:schemeClr val="accent5"/>
            </a:solidFill>
            <a:round/>
          </a:ln>
        </p:spPr>
      </p:cxnSp>
      <p:sp>
        <p:nvSpPr>
          <p:cNvPr id="18" name="Oval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31615" y="2617470"/>
            <a:ext cx="1677035" cy="167894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800" dirty="0">
                <a:solidFill>
                  <a:schemeClr val="bg1"/>
                </a:solidFill>
                <a:latin typeface="+mn-lt"/>
                <a:ea typeface="+mn-ea"/>
              </a:rPr>
              <a:t>1</a:t>
            </a:r>
            <a:endParaRPr lang="zh-CN" altLang="zh-CN" sz="48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cxnSp>
        <p:nvCxnSpPr>
          <p:cNvPr id="53" name="Straight Connector 32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 rot="10800000" flipH="1" flipV="1">
            <a:off x="7004685" y="3453130"/>
            <a:ext cx="532765" cy="3810"/>
          </a:xfrm>
          <a:prstGeom prst="line">
            <a:avLst/>
          </a:prstGeom>
          <a:solidFill>
            <a:srgbClr val="D4E7F0"/>
          </a:solidFill>
          <a:ln w="25400">
            <a:solidFill>
              <a:schemeClr val="accent5"/>
            </a:solidFill>
            <a:round/>
          </a:ln>
        </p:spPr>
      </p:cxnSp>
      <p:sp>
        <p:nvSpPr>
          <p:cNvPr id="51" name="任意多边形 5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784850" y="2617470"/>
            <a:ext cx="1411605" cy="1678940"/>
          </a:xfrm>
          <a:custGeom>
            <a:avLst/>
            <a:gdLst>
              <a:gd name="connsiteX0" fmla="*/ 441458 w 1089158"/>
              <a:gd name="connsiteY0" fmla="*/ 0 h 1295400"/>
              <a:gd name="connsiteX1" fmla="*/ 1089158 w 1089158"/>
              <a:gd name="connsiteY1" fmla="*/ 647700 h 1295400"/>
              <a:gd name="connsiteX2" fmla="*/ 441458 w 1089158"/>
              <a:gd name="connsiteY2" fmla="*/ 1295400 h 1295400"/>
              <a:gd name="connsiteX3" fmla="*/ 79323 w 1089158"/>
              <a:gd name="connsiteY3" fmla="*/ 1184783 h 1295400"/>
              <a:gd name="connsiteX4" fmla="*/ 0 w 1089158"/>
              <a:gd name="connsiteY4" fmla="*/ 1119336 h 1295400"/>
              <a:gd name="connsiteX5" fmla="*/ 53741 w 1089158"/>
              <a:gd name="connsiteY5" fmla="*/ 1054202 h 1295400"/>
              <a:gd name="connsiteX6" fmla="*/ 177910 w 1089158"/>
              <a:gd name="connsiteY6" fmla="*/ 647700 h 1295400"/>
              <a:gd name="connsiteX7" fmla="*/ 53741 w 1089158"/>
              <a:gd name="connsiteY7" fmla="*/ 241198 h 1295400"/>
              <a:gd name="connsiteX8" fmla="*/ 0 w 1089158"/>
              <a:gd name="connsiteY8" fmla="*/ 176064 h 1295400"/>
              <a:gd name="connsiteX9" fmla="*/ 79323 w 1089158"/>
              <a:gd name="connsiteY9" fmla="*/ 110617 h 1295400"/>
              <a:gd name="connsiteX10" fmla="*/ 441458 w 1089158"/>
              <a:gd name="connsiteY10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9158" h="1295400">
                <a:moveTo>
                  <a:pt x="441458" y="0"/>
                </a:moveTo>
                <a:cubicBezTo>
                  <a:pt x="799173" y="0"/>
                  <a:pt x="1089158" y="289985"/>
                  <a:pt x="1089158" y="647700"/>
                </a:cubicBezTo>
                <a:cubicBezTo>
                  <a:pt x="1089158" y="1005415"/>
                  <a:pt x="799173" y="1295400"/>
                  <a:pt x="441458" y="1295400"/>
                </a:cubicBezTo>
                <a:cubicBezTo>
                  <a:pt x="307315" y="1295400"/>
                  <a:pt x="182696" y="1254621"/>
                  <a:pt x="79323" y="1184783"/>
                </a:cubicBezTo>
                <a:lnTo>
                  <a:pt x="0" y="1119336"/>
                </a:lnTo>
                <a:lnTo>
                  <a:pt x="53741" y="1054202"/>
                </a:lnTo>
                <a:cubicBezTo>
                  <a:pt x="132135" y="938164"/>
                  <a:pt x="177910" y="798278"/>
                  <a:pt x="177910" y="647700"/>
                </a:cubicBezTo>
                <a:cubicBezTo>
                  <a:pt x="177910" y="497123"/>
                  <a:pt x="132135" y="357237"/>
                  <a:pt x="53741" y="241198"/>
                </a:cubicBezTo>
                <a:lnTo>
                  <a:pt x="0" y="176064"/>
                </a:lnTo>
                <a:lnTo>
                  <a:pt x="79323" y="110617"/>
                </a:lnTo>
                <a:cubicBezTo>
                  <a:pt x="182696" y="40779"/>
                  <a:pt x="307315" y="0"/>
                  <a:pt x="441458" y="0"/>
                </a:cubicBezTo>
                <a:close/>
              </a:path>
            </a:pathLst>
          </a:custGeom>
          <a:solidFill>
            <a:schemeClr val="bg2"/>
          </a:solidFill>
          <a:ln w="9525">
            <a:noFill/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800" dirty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</a:rPr>
              <a:t>2</a:t>
            </a:r>
            <a:endParaRPr lang="zh-CN" altLang="zh-CN" sz="4800" dirty="0">
              <a:solidFill>
                <a:schemeClr val="accent5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292" name="TextBox 2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71550" y="1726565"/>
            <a:ext cx="2767330" cy="3456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72000" rIns="108000" bIns="72000" anchor="ctr">
            <a:normAutofit/>
          </a:bodyPr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"/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37931725" indent="-37474525" algn="just">
              <a:lnSpc>
                <a:spcPct val="120000"/>
              </a:lnSpc>
              <a:spcAft>
                <a:spcPts val="600"/>
              </a:spcAft>
              <a:buClr>
                <a:srgbClr val="D5BDAF"/>
              </a:buClr>
              <a:buFont typeface="幼圆" panose="02010509060101010101" pitchFamily="49" charset="-122"/>
              <a:buChar char=" 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algn="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2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chemeClr val="tx1"/>
                </a:solidFill>
                <a:latin typeface="+mn-lt"/>
                <a:ea typeface="+mn-ea"/>
              </a:rPr>
              <a:t>便于深度全方面地了解产品</a:t>
            </a:r>
            <a:endParaRPr lang="zh-CN" altLang="en-US" sz="1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chemeClr val="tx1"/>
                </a:solidFill>
                <a:latin typeface="+mn-lt"/>
                <a:ea typeface="+mn-ea"/>
              </a:rPr>
              <a:t>便于利用有限的时间，更专注</a:t>
            </a:r>
            <a:endParaRPr lang="zh-CN" altLang="en-US" sz="1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2293" name="TextBox 2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61910" y="1837690"/>
            <a:ext cx="2767330" cy="3234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72000" rIns="108000" bIns="72000" anchor="ctr">
            <a:normAutofit/>
          </a:bodyPr>
          <a:lstStyle>
            <a:lvl1pPr algn="just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"/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37931725" indent="-37474525" algn="just">
              <a:lnSpc>
                <a:spcPct val="120000"/>
              </a:lnSpc>
              <a:spcAft>
                <a:spcPts val="600"/>
              </a:spcAft>
              <a:buClr>
                <a:srgbClr val="D5BDAF"/>
              </a:buClr>
              <a:buFont typeface="幼圆" panose="02010509060101010101" pitchFamily="49" charset="-122"/>
              <a:buChar char=" 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chemeClr val="tx1"/>
                </a:solidFill>
                <a:latin typeface="+mn-lt"/>
                <a:ea typeface="+mn-ea"/>
              </a:rPr>
              <a:t>便于有效控制供应链</a:t>
            </a:r>
            <a:endParaRPr lang="zh-CN" altLang="en-US" sz="1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chemeClr val="tx1"/>
                </a:solidFill>
                <a:latin typeface="+mn-lt"/>
                <a:ea typeface="+mn-ea"/>
              </a:rPr>
              <a:t>便于利用有效的资金，做更有价值的备货</a:t>
            </a:r>
            <a:endParaRPr lang="zh-CN" altLang="en-US" sz="140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>
            <p:custDataLst>
              <p:tags r:id="rId1"/>
            </p:custDataLst>
          </p:nvPr>
        </p:nvSpPr>
        <p:spPr>
          <a:xfrm>
            <a:off x="2602865" y="758825"/>
            <a:ext cx="6061710" cy="14376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sym typeface="Arial" panose="020B0604020202020204" pitchFamily="34" charset="0"/>
              </a:rPr>
              <a:t>品牌定位</a:t>
            </a:r>
            <a:endParaRPr lang="zh-CN" altLang="en-US" sz="4800" b="1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0470" y="2625090"/>
            <a:ext cx="8368030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6"/>
                </a:solidFill>
                <a:latin typeface="楷体" panose="02010609060101010101" charset="-122"/>
                <a:ea typeface="楷体" panose="02010609060101010101" charset="-122"/>
              </a:rPr>
              <a:t>确定各个品牌的类别</a:t>
            </a:r>
            <a:endParaRPr lang="zh-CN" altLang="en-US" sz="2800" b="1">
              <a:solidFill>
                <a:schemeClr val="accent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20470" y="3828415"/>
            <a:ext cx="8557895" cy="57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accent6"/>
                </a:solidFill>
                <a:latin typeface="楷体" panose="02010609060101010101" charset="-122"/>
                <a:ea typeface="楷体" panose="02010609060101010101" charset="-122"/>
              </a:rPr>
              <a:t>定好位 不做杂货店 营造品牌感</a:t>
            </a:r>
            <a:endParaRPr lang="zh-CN" altLang="en-US" sz="3200" b="1">
              <a:solidFill>
                <a:schemeClr val="accent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03319" y="472887"/>
            <a:ext cx="8185362" cy="5791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da-DK" sz="3200" kern="0">
                <a:latin typeface="+mj-lt"/>
                <a:ea typeface="+mj-ea"/>
                <a:cs typeface="+mj-cs"/>
              </a:rPr>
              <a:t>我们需要什么样的产品？</a:t>
            </a:r>
            <a:endParaRPr lang="zh-CN" altLang="da-DK" sz="3200" kern="0">
              <a:latin typeface="+mj-lt"/>
              <a:ea typeface="+mj-ea"/>
              <a:cs typeface="+mj-cs"/>
            </a:endParaRPr>
          </a:p>
        </p:txBody>
      </p:sp>
      <p:grpSp>
        <p:nvGrpSpPr>
          <p:cNvPr id="23" name="组合 22"/>
          <p:cNvGrpSpPr/>
          <p:nvPr>
            <p:custDataLst>
              <p:tags r:id="rId2"/>
            </p:custDataLst>
          </p:nvPr>
        </p:nvGrpSpPr>
        <p:grpSpPr>
          <a:xfrm>
            <a:off x="2355360" y="1334311"/>
            <a:ext cx="5234331" cy="723634"/>
            <a:chOff x="2355360" y="1334311"/>
            <a:chExt cx="5234331" cy="723634"/>
          </a:xfrm>
        </p:grpSpPr>
        <p:sp>
          <p:nvSpPr>
            <p:cNvPr id="12" name="矩形 11"/>
            <p:cNvSpPr/>
            <p:nvPr>
              <p:custDataLst>
                <p:tags r:id="rId3"/>
              </p:custDataLst>
            </p:nvPr>
          </p:nvSpPr>
          <p:spPr>
            <a:xfrm>
              <a:off x="2672815" y="1334311"/>
              <a:ext cx="4916876" cy="39306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市场容量大 需求大 生活所需</a:t>
              </a:r>
              <a:endParaRPr lang="zh-CN" altLang="en-US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菱形 12"/>
            <p:cNvSpPr/>
            <p:nvPr>
              <p:custDataLst>
                <p:tags r:id="rId4"/>
              </p:custDataLst>
            </p:nvPr>
          </p:nvSpPr>
          <p:spPr>
            <a:xfrm>
              <a:off x="2355360" y="1386453"/>
              <a:ext cx="317455" cy="292702"/>
            </a:xfrm>
            <a:prstGeom prst="diamond">
              <a:avLst/>
            </a:prstGeom>
            <a:solidFill>
              <a:schemeClr val="accent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A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5"/>
              </p:custDataLst>
            </p:nvPr>
          </p:nvSpPr>
          <p:spPr>
            <a:xfrm>
              <a:off x="2672815" y="1664880"/>
              <a:ext cx="4916876" cy="39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tx1"/>
                  </a:solidFill>
                </a:rPr>
                <a:t>保证销量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6"/>
            </p:custDataLst>
          </p:nvPr>
        </p:nvGrpSpPr>
        <p:grpSpPr>
          <a:xfrm>
            <a:off x="2355360" y="2194692"/>
            <a:ext cx="5613400" cy="723634"/>
            <a:chOff x="2355360" y="2194692"/>
            <a:chExt cx="5613400" cy="723634"/>
          </a:xfrm>
        </p:grpSpPr>
        <p:sp>
          <p:nvSpPr>
            <p:cNvPr id="45" name="矩形 44"/>
            <p:cNvSpPr/>
            <p:nvPr>
              <p:custDataLst>
                <p:tags r:id="rId7"/>
              </p:custDataLst>
            </p:nvPr>
          </p:nvSpPr>
          <p:spPr>
            <a:xfrm>
              <a:off x="2672860" y="2194692"/>
              <a:ext cx="5295900" cy="39306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竞争小 可进入市场性高 </a:t>
              </a:r>
              <a:r>
                <a:rPr lang="en-US" altLang="zh-CN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Bestseller</a:t>
              </a: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非亚马逊自营</a:t>
              </a:r>
              <a:endParaRPr lang="zh-CN" altLang="en-US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6" name="菱形 45"/>
            <p:cNvSpPr/>
            <p:nvPr>
              <p:custDataLst>
                <p:tags r:id="rId8"/>
              </p:custDataLst>
            </p:nvPr>
          </p:nvSpPr>
          <p:spPr>
            <a:xfrm>
              <a:off x="2355360" y="2246834"/>
              <a:ext cx="317455" cy="292702"/>
            </a:xfrm>
            <a:prstGeom prst="diamond">
              <a:avLst/>
            </a:prstGeom>
            <a:solidFill>
              <a:schemeClr val="accent2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B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9"/>
              </p:custDataLst>
            </p:nvPr>
          </p:nvSpPr>
          <p:spPr>
            <a:xfrm>
              <a:off x="2672815" y="2525261"/>
              <a:ext cx="4916876" cy="39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获得市场份额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0"/>
            </p:custDataLst>
          </p:nvPr>
        </p:nvGrpSpPr>
        <p:grpSpPr>
          <a:xfrm>
            <a:off x="2355360" y="3055072"/>
            <a:ext cx="5234331" cy="723634"/>
            <a:chOff x="2355360" y="3055072"/>
            <a:chExt cx="5234331" cy="723634"/>
          </a:xfrm>
        </p:grpSpPr>
        <p:sp>
          <p:nvSpPr>
            <p:cNvPr id="49" name="矩形 48"/>
            <p:cNvSpPr/>
            <p:nvPr>
              <p:custDataLst>
                <p:tags r:id="rId11"/>
              </p:custDataLst>
            </p:nvPr>
          </p:nvSpPr>
          <p:spPr>
            <a:xfrm>
              <a:off x="2672815" y="3055072"/>
              <a:ext cx="4916876" cy="39306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产品无季节性 技术把控少 </a:t>
              </a:r>
              <a:endParaRPr lang="zh-CN" altLang="en-US" dirty="0">
                <a:solidFill>
                  <a:schemeClr val="accent3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0" name="菱形 49"/>
            <p:cNvSpPr/>
            <p:nvPr>
              <p:custDataLst>
                <p:tags r:id="rId12"/>
              </p:custDataLst>
            </p:nvPr>
          </p:nvSpPr>
          <p:spPr>
            <a:xfrm>
              <a:off x="2355360" y="3107214"/>
              <a:ext cx="317455" cy="292702"/>
            </a:xfrm>
            <a:prstGeom prst="diamond">
              <a:avLst/>
            </a:prstGeom>
            <a:solidFill>
              <a:schemeClr val="accent3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C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51" name="矩形 50"/>
            <p:cNvSpPr/>
            <p:nvPr>
              <p:custDataLst>
                <p:tags r:id="rId13"/>
              </p:custDataLst>
            </p:nvPr>
          </p:nvSpPr>
          <p:spPr>
            <a:xfrm>
              <a:off x="2672815" y="3385641"/>
              <a:ext cx="4916876" cy="39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销量稳定 售后低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>
            <a:off x="2355360" y="3915450"/>
            <a:ext cx="5234331" cy="723634"/>
            <a:chOff x="2355360" y="3915450"/>
            <a:chExt cx="5234331" cy="723634"/>
          </a:xfrm>
        </p:grpSpPr>
        <p:sp>
          <p:nvSpPr>
            <p:cNvPr id="53" name="矩形 52"/>
            <p:cNvSpPr/>
            <p:nvPr>
              <p:custDataLst>
                <p:tags r:id="rId15"/>
              </p:custDataLst>
            </p:nvPr>
          </p:nvSpPr>
          <p:spPr>
            <a:xfrm>
              <a:off x="2672815" y="3915450"/>
              <a:ext cx="4916876" cy="39306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体积重量小 非易碎品</a:t>
              </a:r>
              <a:endParaRPr lang="zh-CN" altLang="en-US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4" name="菱形 53"/>
            <p:cNvSpPr/>
            <p:nvPr>
              <p:custDataLst>
                <p:tags r:id="rId16"/>
              </p:custDataLst>
            </p:nvPr>
          </p:nvSpPr>
          <p:spPr>
            <a:xfrm>
              <a:off x="2355360" y="3967592"/>
              <a:ext cx="317455" cy="292702"/>
            </a:xfrm>
            <a:prstGeom prst="diamond">
              <a:avLst/>
            </a:prstGeom>
            <a:solidFill>
              <a:schemeClr val="accent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D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17"/>
              </p:custDataLst>
            </p:nvPr>
          </p:nvSpPr>
          <p:spPr>
            <a:xfrm>
              <a:off x="2672815" y="4246019"/>
              <a:ext cx="4916876" cy="39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便于运输 可做海运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8"/>
            </p:custDataLst>
          </p:nvPr>
        </p:nvGrpSpPr>
        <p:grpSpPr>
          <a:xfrm>
            <a:off x="2355215" y="4758055"/>
            <a:ext cx="5048885" cy="1004687"/>
            <a:chOff x="2355360" y="4437111"/>
            <a:chExt cx="5246869" cy="1393002"/>
          </a:xfrm>
        </p:grpSpPr>
        <p:sp>
          <p:nvSpPr>
            <p:cNvPr id="57" name="矩形 56"/>
            <p:cNvSpPr/>
            <p:nvPr>
              <p:custDataLst>
                <p:tags r:id="rId19"/>
              </p:custDataLst>
            </p:nvPr>
          </p:nvSpPr>
          <p:spPr>
            <a:xfrm>
              <a:off x="2685353" y="4437111"/>
              <a:ext cx="4916876" cy="1392839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非熟手建议售价在</a:t>
              </a:r>
              <a:r>
                <a:rPr lang="en-US" altLang="zh-CN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15-20</a:t>
              </a: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美金左右</a:t>
              </a:r>
              <a:r>
                <a:rPr lang="en-US" altLang="zh-CN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,</a:t>
              </a: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  <a:sym typeface="+mn-ea"/>
                </a:rPr>
                <a:t>产品成本</a:t>
              </a:r>
              <a:r>
                <a:rPr lang="en-US" altLang="zh-CN" dirty="0">
                  <a:solidFill>
                    <a:schemeClr val="accent2"/>
                  </a:solidFill>
                  <a:latin typeface="+mj-lt"/>
                  <a:ea typeface="+mj-ea"/>
                  <a:cs typeface="+mj-cs"/>
                  <a:sym typeface="+mn-ea"/>
                </a:rPr>
                <a:t>20</a:t>
              </a: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  <a:sym typeface="+mn-ea"/>
                </a:rPr>
                <a:t>人民币以内 </a:t>
              </a:r>
              <a:endParaRPr lang="zh-CN" altLang="en-US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 </a:t>
              </a:r>
              <a:endParaRPr lang="zh-CN" altLang="en-US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8" name="菱形 57"/>
            <p:cNvSpPr/>
            <p:nvPr>
              <p:custDataLst>
                <p:tags r:id="rId20"/>
              </p:custDataLst>
            </p:nvPr>
          </p:nvSpPr>
          <p:spPr>
            <a:xfrm>
              <a:off x="2355360" y="4827973"/>
              <a:ext cx="317455" cy="292702"/>
            </a:xfrm>
            <a:prstGeom prst="diamond">
              <a:avLst/>
            </a:prstGeom>
            <a:solidFill>
              <a:schemeClr val="accent2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E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59" name="矩形 58"/>
            <p:cNvSpPr/>
            <p:nvPr>
              <p:custDataLst>
                <p:tags r:id="rId21"/>
              </p:custDataLst>
            </p:nvPr>
          </p:nvSpPr>
          <p:spPr>
            <a:xfrm>
              <a:off x="2685353" y="5281605"/>
              <a:ext cx="4916876" cy="5485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有一定利润空间 非价格战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22"/>
            </p:custDataLst>
          </p:nvPr>
        </p:nvGrpSpPr>
        <p:grpSpPr>
          <a:xfrm>
            <a:off x="2355360" y="5636212"/>
            <a:ext cx="5234331" cy="723634"/>
            <a:chOff x="2355360" y="5636212"/>
            <a:chExt cx="5234331" cy="723634"/>
          </a:xfrm>
        </p:grpSpPr>
        <p:sp>
          <p:nvSpPr>
            <p:cNvPr id="61" name="矩形 60"/>
            <p:cNvSpPr/>
            <p:nvPr>
              <p:custDataLst>
                <p:tags r:id="rId23"/>
              </p:custDataLst>
            </p:nvPr>
          </p:nvSpPr>
          <p:spPr>
            <a:xfrm>
              <a:off x="2672815" y="5636212"/>
              <a:ext cx="4916876" cy="39306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无侵权 非专利</a:t>
              </a:r>
              <a:endParaRPr lang="zh-CN" altLang="en-US" dirty="0">
                <a:solidFill>
                  <a:schemeClr val="accent3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2" name="菱形 61"/>
            <p:cNvSpPr/>
            <p:nvPr>
              <p:custDataLst>
                <p:tags r:id="rId24"/>
              </p:custDataLst>
            </p:nvPr>
          </p:nvSpPr>
          <p:spPr>
            <a:xfrm>
              <a:off x="2355360" y="5688354"/>
              <a:ext cx="317455" cy="292702"/>
            </a:xfrm>
            <a:prstGeom prst="diamond">
              <a:avLst/>
            </a:prstGeom>
            <a:solidFill>
              <a:schemeClr val="accent3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F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63" name="矩形 62"/>
            <p:cNvSpPr/>
            <p:nvPr>
              <p:custDataLst>
                <p:tags r:id="rId25"/>
              </p:custDataLst>
            </p:nvPr>
          </p:nvSpPr>
          <p:spPr>
            <a:xfrm>
              <a:off x="2672815" y="5966781"/>
              <a:ext cx="4916876" cy="39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避免账号风险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>
            <p:custDataLst>
              <p:tags r:id="rId26"/>
            </p:custDataLst>
          </p:nvPr>
        </p:nvSpPr>
        <p:spPr>
          <a:xfrm>
            <a:off x="2003319" y="464632"/>
            <a:ext cx="8185362" cy="5791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da-DK" sz="3200" kern="0">
                <a:latin typeface="+mj-lt"/>
                <a:ea typeface="+mj-ea"/>
                <a:cs typeface="+mj-cs"/>
              </a:rPr>
              <a:t>我们需要什么样的产品？</a:t>
            </a:r>
            <a:endParaRPr lang="zh-CN" altLang="da-DK" sz="3200" kern="0">
              <a:latin typeface="+mj-lt"/>
              <a:ea typeface="+mj-ea"/>
              <a:cs typeface="+mj-cs"/>
            </a:endParaRPr>
          </a:p>
        </p:txBody>
      </p:sp>
      <p:grpSp>
        <p:nvGrpSpPr>
          <p:cNvPr id="3" name="组合 2"/>
          <p:cNvGrpSpPr/>
          <p:nvPr>
            <p:custDataLst>
              <p:tags r:id="rId27"/>
            </p:custDataLst>
          </p:nvPr>
        </p:nvGrpSpPr>
        <p:grpSpPr>
          <a:xfrm>
            <a:off x="2355360" y="1342566"/>
            <a:ext cx="5234331" cy="723634"/>
            <a:chOff x="2355360" y="1334311"/>
            <a:chExt cx="5234331" cy="723634"/>
          </a:xfrm>
        </p:grpSpPr>
        <p:sp>
          <p:nvSpPr>
            <p:cNvPr id="4" name="矩形 3"/>
            <p:cNvSpPr/>
            <p:nvPr>
              <p:custDataLst>
                <p:tags r:id="rId28"/>
              </p:custDataLst>
            </p:nvPr>
          </p:nvSpPr>
          <p:spPr>
            <a:xfrm>
              <a:off x="2672815" y="1334311"/>
              <a:ext cx="4916876" cy="39306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市场容量大 需求大 生活所需</a:t>
              </a:r>
              <a:endParaRPr lang="zh-CN" altLang="en-US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菱形 5"/>
            <p:cNvSpPr/>
            <p:nvPr>
              <p:custDataLst>
                <p:tags r:id="rId29"/>
              </p:custDataLst>
            </p:nvPr>
          </p:nvSpPr>
          <p:spPr>
            <a:xfrm>
              <a:off x="2355360" y="1386453"/>
              <a:ext cx="317455" cy="292702"/>
            </a:xfrm>
            <a:prstGeom prst="diamond">
              <a:avLst/>
            </a:prstGeom>
            <a:solidFill>
              <a:schemeClr val="accent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A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30"/>
              </p:custDataLst>
            </p:nvPr>
          </p:nvSpPr>
          <p:spPr>
            <a:xfrm>
              <a:off x="2672815" y="1664880"/>
              <a:ext cx="4916876" cy="3930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tx1"/>
                  </a:solidFill>
                </a:rPr>
                <a:t>保证销量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矩形 7"/>
          <p:cNvSpPr/>
          <p:nvPr>
            <p:custDataLst>
              <p:tags r:id="rId31"/>
            </p:custDataLst>
          </p:nvPr>
        </p:nvSpPr>
        <p:spPr>
          <a:xfrm>
            <a:off x="2003319" y="472887"/>
            <a:ext cx="8185362" cy="5791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da-DK" sz="3200" kern="0">
                <a:latin typeface="+mj-lt"/>
                <a:ea typeface="+mj-ea"/>
                <a:cs typeface="+mj-cs"/>
              </a:rPr>
              <a:t>我们需要什么样的产品？</a:t>
            </a:r>
            <a:endParaRPr lang="zh-CN" altLang="da-DK" sz="3200" kern="0">
              <a:latin typeface="+mj-lt"/>
              <a:ea typeface="+mj-ea"/>
              <a:cs typeface="+mj-cs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918845" y="2916555"/>
            <a:ext cx="402336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FF0000"/>
                </a:solidFill>
                <a:latin typeface="张海山锐谐体2.0-授权联系：Samtype@QQ.com" panose="02000000000000000000" pitchFamily="2" charset="-122"/>
                <a:ea typeface="张海山锐谐体2.0-授权联系：Samtype@QQ.com" panose="02000000000000000000" pitchFamily="2" charset="-122"/>
              </a:rPr>
              <a:t>选品方向</a:t>
            </a:r>
            <a:endParaRPr lang="en-US" altLang="zh-CN" sz="5400" b="1" dirty="0">
              <a:solidFill>
                <a:srgbClr val="FF0000"/>
              </a:solidFill>
              <a:latin typeface="张海山锐谐体2.0-授权联系：Samtype@QQ.com" panose="02000000000000000000" pitchFamily="2" charset="-122"/>
              <a:ea typeface="张海山锐谐体2.0-授权联系：Samtype@QQ.com" panose="02000000000000000000" pitchFamily="2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534025" y="1289685"/>
            <a:ext cx="2143760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分析销售</a:t>
            </a: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Rank</a:t>
            </a:r>
            <a:endParaRPr lang="en-US" altLang="zh-CN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534025" y="2481580"/>
            <a:ext cx="2399665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大卖店铺新品</a:t>
            </a:r>
            <a:endParaRPr lang="zh-CN" altLang="en-US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534025" y="3740785"/>
            <a:ext cx="3394710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秒杀页面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534025" y="5207000"/>
            <a:ext cx="5181600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Deal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网站高热度产品</a:t>
            </a:r>
            <a:endParaRPr lang="zh-CN" altLang="en-US" sz="24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85645" y="2560320"/>
            <a:ext cx="8507730" cy="57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</a:rPr>
              <a:t>销售</a:t>
            </a:r>
            <a:r>
              <a:rPr lang="en-US" altLang="zh-CN" sz="3200" b="1">
                <a:solidFill>
                  <a:srgbClr val="FF0000"/>
                </a:solidFill>
              </a:rPr>
              <a:t>Rank</a:t>
            </a:r>
            <a:r>
              <a:rPr lang="zh-CN" altLang="en-US" sz="3200" b="1">
                <a:solidFill>
                  <a:srgbClr val="FF0000"/>
                </a:solidFill>
              </a:rPr>
              <a:t>选品 → 用销售数据做选品支撑 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85620" y="1827530"/>
            <a:ext cx="6783705" cy="57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/>
              <a:t>什么是销售</a:t>
            </a:r>
            <a:r>
              <a:rPr lang="en-US" altLang="zh-CN" sz="3200" b="1"/>
              <a:t>Rank?</a:t>
            </a:r>
            <a:endParaRPr lang="en-US" altLang="zh-CN" sz="3200" b="1"/>
          </a:p>
        </p:txBody>
      </p:sp>
      <p:sp>
        <p:nvSpPr>
          <p:cNvPr id="4" name="文本框 3"/>
          <p:cNvSpPr txBox="1"/>
          <p:nvPr/>
        </p:nvSpPr>
        <p:spPr>
          <a:xfrm>
            <a:off x="1846580" y="3354070"/>
            <a:ext cx="6783705" cy="57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3200" b="1"/>
              <a:t>如何操作？</a:t>
            </a:r>
            <a:endParaRPr lang="zh-CN" sz="3200" b="1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26185" y="1210310"/>
            <a:ext cx="8562975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销售</a:t>
            </a:r>
            <a:r>
              <a:rPr lang="en-US" altLang="zh-CN" sz="2800"/>
              <a:t>Rank</a:t>
            </a:r>
            <a:r>
              <a:rPr lang="zh-CN" altLang="en-US" sz="2800"/>
              <a:t>：</a:t>
            </a:r>
            <a:endParaRPr lang="zh-CN" altLang="en-US" sz="2800"/>
          </a:p>
          <a:p>
            <a:endParaRPr lang="zh-CN" altLang="en-US" sz="2000"/>
          </a:p>
          <a:p>
            <a:r>
              <a:rPr lang="zh-CN" altLang="en-US" sz="2000"/>
              <a:t>             </a:t>
            </a:r>
            <a:r>
              <a:rPr lang="zh-CN" altLang="en-US" sz="2400">
                <a:solidFill>
                  <a:srgbClr val="FF0000"/>
                </a:solidFill>
              </a:rPr>
              <a:t>亚马逊根据产品销量 展示在大类目和细分类目的排名</a:t>
            </a:r>
            <a:endParaRPr lang="zh-CN" altLang="en-US" sz="24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910" y="3007995"/>
            <a:ext cx="8649970" cy="7372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4094480"/>
            <a:ext cx="8587105" cy="8394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275" y="5560695"/>
            <a:ext cx="8649970" cy="6089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1391404" y="650939"/>
            <a:ext cx="3173298" cy="538173"/>
            <a:chOff x="1758461" y="4281854"/>
            <a:chExt cx="2971800" cy="504000"/>
          </a:xfrm>
        </p:grpSpPr>
        <p:sp>
          <p:nvSpPr>
            <p:cNvPr id="8" name="任意多边形 7"/>
            <p:cNvSpPr/>
            <p:nvPr>
              <p:custDataLst>
                <p:tags r:id="rId2"/>
              </p:custDataLst>
            </p:nvPr>
          </p:nvSpPr>
          <p:spPr>
            <a:xfrm>
              <a:off x="1758461" y="4281854"/>
              <a:ext cx="624254" cy="504000"/>
            </a:xfrm>
            <a:custGeom>
              <a:avLst/>
              <a:gdLst>
                <a:gd name="connsiteX0" fmla="*/ 0 w 624254"/>
                <a:gd name="connsiteY0" fmla="*/ 0 h 504000"/>
                <a:gd name="connsiteX1" fmla="*/ 96717 w 624254"/>
                <a:gd name="connsiteY1" fmla="*/ 0 h 504000"/>
                <a:gd name="connsiteX2" fmla="*/ 96717 w 624254"/>
                <a:gd name="connsiteY2" fmla="*/ 202222 h 504000"/>
                <a:gd name="connsiteX3" fmla="*/ 316524 w 624254"/>
                <a:gd name="connsiteY3" fmla="*/ 422029 h 504000"/>
                <a:gd name="connsiteX4" fmla="*/ 536331 w 624254"/>
                <a:gd name="connsiteY4" fmla="*/ 202222 h 504000"/>
                <a:gd name="connsiteX5" fmla="*/ 536331 w 624254"/>
                <a:gd name="connsiteY5" fmla="*/ 0 h 504000"/>
                <a:gd name="connsiteX6" fmla="*/ 624254 w 624254"/>
                <a:gd name="connsiteY6" fmla="*/ 0 h 504000"/>
                <a:gd name="connsiteX7" fmla="*/ 624254 w 624254"/>
                <a:gd name="connsiteY7" fmla="*/ 504000 h 504000"/>
                <a:gd name="connsiteX8" fmla="*/ 0 w 624254"/>
                <a:gd name="connsiteY8" fmla="*/ 504000 h 5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4254" h="504000">
                  <a:moveTo>
                    <a:pt x="0" y="0"/>
                  </a:moveTo>
                  <a:lnTo>
                    <a:pt x="96717" y="0"/>
                  </a:lnTo>
                  <a:lnTo>
                    <a:pt x="96717" y="202222"/>
                  </a:lnTo>
                  <a:cubicBezTo>
                    <a:pt x="96717" y="323618"/>
                    <a:pt x="195128" y="422029"/>
                    <a:pt x="316524" y="422029"/>
                  </a:cubicBezTo>
                  <a:cubicBezTo>
                    <a:pt x="437920" y="422029"/>
                    <a:pt x="536331" y="323618"/>
                    <a:pt x="536331" y="202222"/>
                  </a:cubicBezTo>
                  <a:lnTo>
                    <a:pt x="536331" y="0"/>
                  </a:lnTo>
                  <a:lnTo>
                    <a:pt x="624254" y="0"/>
                  </a:lnTo>
                  <a:lnTo>
                    <a:pt x="624254" y="504000"/>
                  </a:lnTo>
                  <a:lnTo>
                    <a:pt x="0" y="504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A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3"/>
              </p:custDataLst>
            </p:nvPr>
          </p:nvSpPr>
          <p:spPr>
            <a:xfrm>
              <a:off x="2382714" y="4281854"/>
              <a:ext cx="2347547" cy="50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r>
                <a:rPr lang="zh-CN" altLang="en-US">
                  <a:solidFill>
                    <a:schemeClr val="bg1"/>
                  </a:solidFill>
                </a:rPr>
                <a:t>大类目 细分类目剖析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91404" y="1889663"/>
            <a:ext cx="3173298" cy="538173"/>
            <a:chOff x="1758461" y="4281854"/>
            <a:chExt cx="2971800" cy="504000"/>
          </a:xfrm>
        </p:grpSpPr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>
              <a:off x="1758461" y="4281854"/>
              <a:ext cx="624254" cy="504000"/>
            </a:xfrm>
            <a:custGeom>
              <a:avLst/>
              <a:gdLst>
                <a:gd name="connsiteX0" fmla="*/ 0 w 624254"/>
                <a:gd name="connsiteY0" fmla="*/ 0 h 504000"/>
                <a:gd name="connsiteX1" fmla="*/ 96717 w 624254"/>
                <a:gd name="connsiteY1" fmla="*/ 0 h 504000"/>
                <a:gd name="connsiteX2" fmla="*/ 96717 w 624254"/>
                <a:gd name="connsiteY2" fmla="*/ 202222 h 504000"/>
                <a:gd name="connsiteX3" fmla="*/ 316524 w 624254"/>
                <a:gd name="connsiteY3" fmla="*/ 422029 h 504000"/>
                <a:gd name="connsiteX4" fmla="*/ 536331 w 624254"/>
                <a:gd name="connsiteY4" fmla="*/ 202222 h 504000"/>
                <a:gd name="connsiteX5" fmla="*/ 536331 w 624254"/>
                <a:gd name="connsiteY5" fmla="*/ 0 h 504000"/>
                <a:gd name="connsiteX6" fmla="*/ 624254 w 624254"/>
                <a:gd name="connsiteY6" fmla="*/ 0 h 504000"/>
                <a:gd name="connsiteX7" fmla="*/ 624254 w 624254"/>
                <a:gd name="connsiteY7" fmla="*/ 504000 h 504000"/>
                <a:gd name="connsiteX8" fmla="*/ 0 w 624254"/>
                <a:gd name="connsiteY8" fmla="*/ 504000 h 5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4254" h="504000">
                  <a:moveTo>
                    <a:pt x="0" y="0"/>
                  </a:moveTo>
                  <a:lnTo>
                    <a:pt x="96717" y="0"/>
                  </a:lnTo>
                  <a:lnTo>
                    <a:pt x="96717" y="202222"/>
                  </a:lnTo>
                  <a:cubicBezTo>
                    <a:pt x="96717" y="323618"/>
                    <a:pt x="195128" y="422029"/>
                    <a:pt x="316524" y="422029"/>
                  </a:cubicBezTo>
                  <a:cubicBezTo>
                    <a:pt x="437920" y="422029"/>
                    <a:pt x="536331" y="323618"/>
                    <a:pt x="536331" y="202222"/>
                  </a:cubicBezTo>
                  <a:lnTo>
                    <a:pt x="536331" y="0"/>
                  </a:lnTo>
                  <a:lnTo>
                    <a:pt x="624254" y="0"/>
                  </a:lnTo>
                  <a:lnTo>
                    <a:pt x="624254" y="504000"/>
                  </a:lnTo>
                  <a:lnTo>
                    <a:pt x="0" y="504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B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6"/>
              </p:custDataLst>
            </p:nvPr>
          </p:nvSpPr>
          <p:spPr>
            <a:xfrm>
              <a:off x="2382714" y="4281854"/>
              <a:ext cx="2347547" cy="50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r>
                <a:rPr lang="zh-CN" altLang="en-US">
                  <a:solidFill>
                    <a:schemeClr val="bg1"/>
                  </a:solidFill>
                </a:rPr>
                <a:t>分析市场容量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7"/>
            </p:custDataLst>
          </p:nvPr>
        </p:nvGrpSpPr>
        <p:grpSpPr>
          <a:xfrm>
            <a:off x="1391404" y="5605835"/>
            <a:ext cx="3173298" cy="538173"/>
            <a:chOff x="1758461" y="4281854"/>
            <a:chExt cx="2971800" cy="504000"/>
          </a:xfrm>
        </p:grpSpPr>
        <p:sp>
          <p:nvSpPr>
            <p:cNvPr id="16" name="任意多边形 15"/>
            <p:cNvSpPr/>
            <p:nvPr>
              <p:custDataLst>
                <p:tags r:id="rId8"/>
              </p:custDataLst>
            </p:nvPr>
          </p:nvSpPr>
          <p:spPr>
            <a:xfrm>
              <a:off x="1758461" y="4281854"/>
              <a:ext cx="624254" cy="504000"/>
            </a:xfrm>
            <a:custGeom>
              <a:avLst/>
              <a:gdLst>
                <a:gd name="connsiteX0" fmla="*/ 0 w 624254"/>
                <a:gd name="connsiteY0" fmla="*/ 0 h 504000"/>
                <a:gd name="connsiteX1" fmla="*/ 96717 w 624254"/>
                <a:gd name="connsiteY1" fmla="*/ 0 h 504000"/>
                <a:gd name="connsiteX2" fmla="*/ 96717 w 624254"/>
                <a:gd name="connsiteY2" fmla="*/ 202222 h 504000"/>
                <a:gd name="connsiteX3" fmla="*/ 316524 w 624254"/>
                <a:gd name="connsiteY3" fmla="*/ 422029 h 504000"/>
                <a:gd name="connsiteX4" fmla="*/ 536331 w 624254"/>
                <a:gd name="connsiteY4" fmla="*/ 202222 h 504000"/>
                <a:gd name="connsiteX5" fmla="*/ 536331 w 624254"/>
                <a:gd name="connsiteY5" fmla="*/ 0 h 504000"/>
                <a:gd name="connsiteX6" fmla="*/ 624254 w 624254"/>
                <a:gd name="connsiteY6" fmla="*/ 0 h 504000"/>
                <a:gd name="connsiteX7" fmla="*/ 624254 w 624254"/>
                <a:gd name="connsiteY7" fmla="*/ 504000 h 504000"/>
                <a:gd name="connsiteX8" fmla="*/ 0 w 624254"/>
                <a:gd name="connsiteY8" fmla="*/ 504000 h 5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4254" h="504000">
                  <a:moveTo>
                    <a:pt x="0" y="0"/>
                  </a:moveTo>
                  <a:lnTo>
                    <a:pt x="96717" y="0"/>
                  </a:lnTo>
                  <a:lnTo>
                    <a:pt x="96717" y="202222"/>
                  </a:lnTo>
                  <a:cubicBezTo>
                    <a:pt x="96717" y="323618"/>
                    <a:pt x="195128" y="422029"/>
                    <a:pt x="316524" y="422029"/>
                  </a:cubicBezTo>
                  <a:cubicBezTo>
                    <a:pt x="437920" y="422029"/>
                    <a:pt x="536331" y="323618"/>
                    <a:pt x="536331" y="202222"/>
                  </a:cubicBezTo>
                  <a:lnTo>
                    <a:pt x="536331" y="0"/>
                  </a:lnTo>
                  <a:lnTo>
                    <a:pt x="624254" y="0"/>
                  </a:lnTo>
                  <a:lnTo>
                    <a:pt x="624254" y="504000"/>
                  </a:lnTo>
                  <a:lnTo>
                    <a:pt x="0" y="504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F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9"/>
              </p:custDataLst>
            </p:nvPr>
          </p:nvSpPr>
          <p:spPr>
            <a:xfrm>
              <a:off x="2382714" y="4281854"/>
              <a:ext cx="2347547" cy="50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r>
                <a:rPr lang="zh-CN" altLang="en-US">
                  <a:solidFill>
                    <a:schemeClr val="bg1"/>
                  </a:solidFill>
                </a:rPr>
                <a:t>工具分析产品热度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0"/>
            </p:custDataLst>
          </p:nvPr>
        </p:nvGrpSpPr>
        <p:grpSpPr>
          <a:xfrm>
            <a:off x="1391404" y="3128387"/>
            <a:ext cx="3173298" cy="538173"/>
            <a:chOff x="1758461" y="4281854"/>
            <a:chExt cx="2971800" cy="504000"/>
          </a:xfrm>
        </p:grpSpPr>
        <p:sp>
          <p:nvSpPr>
            <p:cNvPr id="19" name="任意多边形 18"/>
            <p:cNvSpPr/>
            <p:nvPr>
              <p:custDataLst>
                <p:tags r:id="rId11"/>
              </p:custDataLst>
            </p:nvPr>
          </p:nvSpPr>
          <p:spPr>
            <a:xfrm>
              <a:off x="1758461" y="4281854"/>
              <a:ext cx="624254" cy="504000"/>
            </a:xfrm>
            <a:custGeom>
              <a:avLst/>
              <a:gdLst>
                <a:gd name="connsiteX0" fmla="*/ 0 w 624254"/>
                <a:gd name="connsiteY0" fmla="*/ 0 h 504000"/>
                <a:gd name="connsiteX1" fmla="*/ 96717 w 624254"/>
                <a:gd name="connsiteY1" fmla="*/ 0 h 504000"/>
                <a:gd name="connsiteX2" fmla="*/ 96717 w 624254"/>
                <a:gd name="connsiteY2" fmla="*/ 202222 h 504000"/>
                <a:gd name="connsiteX3" fmla="*/ 316524 w 624254"/>
                <a:gd name="connsiteY3" fmla="*/ 422029 h 504000"/>
                <a:gd name="connsiteX4" fmla="*/ 536331 w 624254"/>
                <a:gd name="connsiteY4" fmla="*/ 202222 h 504000"/>
                <a:gd name="connsiteX5" fmla="*/ 536331 w 624254"/>
                <a:gd name="connsiteY5" fmla="*/ 0 h 504000"/>
                <a:gd name="connsiteX6" fmla="*/ 624254 w 624254"/>
                <a:gd name="connsiteY6" fmla="*/ 0 h 504000"/>
                <a:gd name="connsiteX7" fmla="*/ 624254 w 624254"/>
                <a:gd name="connsiteY7" fmla="*/ 504000 h 504000"/>
                <a:gd name="connsiteX8" fmla="*/ 0 w 624254"/>
                <a:gd name="connsiteY8" fmla="*/ 504000 h 5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4254" h="504000">
                  <a:moveTo>
                    <a:pt x="0" y="0"/>
                  </a:moveTo>
                  <a:lnTo>
                    <a:pt x="96717" y="0"/>
                  </a:lnTo>
                  <a:lnTo>
                    <a:pt x="96717" y="202222"/>
                  </a:lnTo>
                  <a:cubicBezTo>
                    <a:pt x="96717" y="323618"/>
                    <a:pt x="195128" y="422029"/>
                    <a:pt x="316524" y="422029"/>
                  </a:cubicBezTo>
                  <a:cubicBezTo>
                    <a:pt x="437920" y="422029"/>
                    <a:pt x="536331" y="323618"/>
                    <a:pt x="536331" y="202222"/>
                  </a:cubicBezTo>
                  <a:lnTo>
                    <a:pt x="536331" y="0"/>
                  </a:lnTo>
                  <a:lnTo>
                    <a:pt x="624254" y="0"/>
                  </a:lnTo>
                  <a:lnTo>
                    <a:pt x="624254" y="504000"/>
                  </a:lnTo>
                  <a:lnTo>
                    <a:pt x="0" y="504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C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2"/>
              </p:custDataLst>
            </p:nvPr>
          </p:nvSpPr>
          <p:spPr>
            <a:xfrm>
              <a:off x="2382714" y="4281854"/>
              <a:ext cx="2347547" cy="50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r>
                <a:rPr lang="zh-CN" altLang="en-US">
                  <a:solidFill>
                    <a:schemeClr val="bg1"/>
                  </a:solidFill>
                </a:rPr>
                <a:t>分析竞争情况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13"/>
            </p:custDataLst>
          </p:nvPr>
        </p:nvGrpSpPr>
        <p:grpSpPr>
          <a:xfrm>
            <a:off x="1391404" y="4367111"/>
            <a:ext cx="3173298" cy="538173"/>
            <a:chOff x="1758461" y="4281854"/>
            <a:chExt cx="2971800" cy="504000"/>
          </a:xfrm>
        </p:grpSpPr>
        <p:sp>
          <p:nvSpPr>
            <p:cNvPr id="24" name="任意多边形 23"/>
            <p:cNvSpPr/>
            <p:nvPr>
              <p:custDataLst>
                <p:tags r:id="rId14"/>
              </p:custDataLst>
            </p:nvPr>
          </p:nvSpPr>
          <p:spPr>
            <a:xfrm>
              <a:off x="1758461" y="4281854"/>
              <a:ext cx="624254" cy="504000"/>
            </a:xfrm>
            <a:custGeom>
              <a:avLst/>
              <a:gdLst>
                <a:gd name="connsiteX0" fmla="*/ 0 w 624254"/>
                <a:gd name="connsiteY0" fmla="*/ 0 h 504000"/>
                <a:gd name="connsiteX1" fmla="*/ 96717 w 624254"/>
                <a:gd name="connsiteY1" fmla="*/ 0 h 504000"/>
                <a:gd name="connsiteX2" fmla="*/ 96717 w 624254"/>
                <a:gd name="connsiteY2" fmla="*/ 202222 h 504000"/>
                <a:gd name="connsiteX3" fmla="*/ 316524 w 624254"/>
                <a:gd name="connsiteY3" fmla="*/ 422029 h 504000"/>
                <a:gd name="connsiteX4" fmla="*/ 536331 w 624254"/>
                <a:gd name="connsiteY4" fmla="*/ 202222 h 504000"/>
                <a:gd name="connsiteX5" fmla="*/ 536331 w 624254"/>
                <a:gd name="connsiteY5" fmla="*/ 0 h 504000"/>
                <a:gd name="connsiteX6" fmla="*/ 624254 w 624254"/>
                <a:gd name="connsiteY6" fmla="*/ 0 h 504000"/>
                <a:gd name="connsiteX7" fmla="*/ 624254 w 624254"/>
                <a:gd name="connsiteY7" fmla="*/ 504000 h 504000"/>
                <a:gd name="connsiteX8" fmla="*/ 0 w 624254"/>
                <a:gd name="connsiteY8" fmla="*/ 504000 h 50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4254" h="504000">
                  <a:moveTo>
                    <a:pt x="0" y="0"/>
                  </a:moveTo>
                  <a:lnTo>
                    <a:pt x="96717" y="0"/>
                  </a:lnTo>
                  <a:lnTo>
                    <a:pt x="96717" y="202222"/>
                  </a:lnTo>
                  <a:cubicBezTo>
                    <a:pt x="96717" y="323618"/>
                    <a:pt x="195128" y="422029"/>
                    <a:pt x="316524" y="422029"/>
                  </a:cubicBezTo>
                  <a:cubicBezTo>
                    <a:pt x="437920" y="422029"/>
                    <a:pt x="536331" y="323618"/>
                    <a:pt x="536331" y="202222"/>
                  </a:cubicBezTo>
                  <a:lnTo>
                    <a:pt x="536331" y="0"/>
                  </a:lnTo>
                  <a:lnTo>
                    <a:pt x="624254" y="0"/>
                  </a:lnTo>
                  <a:lnTo>
                    <a:pt x="624254" y="504000"/>
                  </a:lnTo>
                  <a:lnTo>
                    <a:pt x="0" y="504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norm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</a:rPr>
                <a:t>D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2382714" y="4281854"/>
              <a:ext cx="2347547" cy="50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r>
                <a:rPr lang="zh-CN" altLang="en-US">
                  <a:solidFill>
                    <a:schemeClr val="bg1"/>
                  </a:solidFill>
                </a:rPr>
                <a:t>分析进入市场可能性</a:t>
              </a:r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301105" y="2667000"/>
            <a:ext cx="3633470" cy="1097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深度分析</a:t>
            </a:r>
            <a:endParaRPr lang="zh-CN" altLang="en-US" sz="66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" y="1564005"/>
            <a:ext cx="3291205" cy="2819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685" y="1564640"/>
            <a:ext cx="3916680" cy="28187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330" y="1564005"/>
            <a:ext cx="3892550" cy="28181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05125" y="781685"/>
            <a:ext cx="57302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/>
              <a:t>进入市场可能性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1835150" y="1859915"/>
            <a:ext cx="328549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Review</a:t>
            </a:r>
            <a:r>
              <a:rPr lang="zh-CN" altLang="en-US" sz="2000">
                <a:solidFill>
                  <a:srgbClr val="FF0000"/>
                </a:solidFill>
              </a:rPr>
              <a:t>情况</a:t>
            </a:r>
            <a:endParaRPr lang="zh-CN" altLang="en-US" sz="2000">
              <a:solidFill>
                <a:srgbClr val="FF0000"/>
              </a:solidFill>
            </a:endParaRPr>
          </a:p>
          <a:p>
            <a:endParaRPr lang="zh-CN" altLang="en-US" sz="2000">
              <a:solidFill>
                <a:srgbClr val="FF0000"/>
              </a:solidFill>
            </a:endParaRPr>
          </a:p>
          <a:p>
            <a:endParaRPr lang="zh-CN" altLang="en-US" sz="2000">
              <a:solidFill>
                <a:srgbClr val="FF0000"/>
              </a:solidFill>
            </a:endParaRPr>
          </a:p>
          <a:p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排位靠前是否亚马逊自营</a:t>
            </a:r>
            <a:endParaRPr lang="zh-CN" altLang="en-US" sz="2000">
              <a:solidFill>
                <a:srgbClr val="FF0000"/>
              </a:solidFill>
            </a:endParaRPr>
          </a:p>
          <a:p>
            <a:endParaRPr lang="zh-CN" altLang="en-US" sz="2000">
              <a:solidFill>
                <a:srgbClr val="FF0000"/>
              </a:solidFill>
            </a:endParaRPr>
          </a:p>
          <a:p>
            <a:endParaRPr lang="zh-CN" altLang="en-US" sz="2000">
              <a:solidFill>
                <a:srgbClr val="FF0000"/>
              </a:solidFill>
            </a:endParaRPr>
          </a:p>
          <a:p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是否已经进入价格战</a:t>
            </a:r>
            <a:endParaRPr lang="zh-CN" altLang="en-US" sz="2000">
              <a:solidFill>
                <a:srgbClr val="FF0000"/>
              </a:solidFill>
            </a:endParaRPr>
          </a:p>
          <a:p>
            <a:endParaRPr lang="zh-CN" altLang="en-US" sz="2000">
              <a:solidFill>
                <a:srgbClr val="FF0000"/>
              </a:solidFill>
            </a:endParaRPr>
          </a:p>
          <a:p>
            <a:endParaRPr lang="zh-CN" altLang="en-US" sz="2000">
              <a:solidFill>
                <a:srgbClr val="FF0000"/>
              </a:solidFill>
            </a:endParaRPr>
          </a:p>
          <a:p>
            <a:endParaRPr lang="zh-CN" altLang="en-US" sz="2000">
              <a:solidFill>
                <a:srgbClr val="FF0000"/>
              </a:solidFill>
            </a:endParaRPr>
          </a:p>
          <a:p>
            <a:r>
              <a:rPr lang="zh-CN" altLang="en-US" sz="2000">
                <a:solidFill>
                  <a:srgbClr val="FF0000"/>
                </a:solidFill>
              </a:rPr>
              <a:t>排位靠前</a:t>
            </a:r>
            <a:r>
              <a:rPr lang="en-US" altLang="zh-CN" sz="2000">
                <a:solidFill>
                  <a:srgbClr val="FF0000"/>
                </a:solidFill>
              </a:rPr>
              <a:t>10</a:t>
            </a:r>
            <a:r>
              <a:rPr lang="zh-CN" altLang="en-US" sz="2000">
                <a:solidFill>
                  <a:srgbClr val="FF0000"/>
                </a:solidFill>
              </a:rPr>
              <a:t>是否无新品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41090" y="747395"/>
            <a:ext cx="6169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亚马逊选品数据推荐工具</a:t>
            </a:r>
            <a:endParaRPr lang="zh-CN" altLang="en-US" sz="3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29410" y="1958340"/>
            <a:ext cx="585851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err="1"/>
              <a:t>www.junglescourt.com</a:t>
            </a:r>
            <a:endParaRPr lang="en-US" altLang="zh-CN" sz="2400" b="1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r>
              <a:rPr lang="en-US" altLang="zh-CN" sz="2400" b="1" dirty="0" err="1"/>
              <a:t>www.asinspector.com</a:t>
            </a:r>
            <a:endParaRPr lang="en-US" altLang="zh-CN" sz="2400" b="1" dirty="0"/>
          </a:p>
          <a:p>
            <a:endParaRPr lang="en-US" altLang="zh-CN" sz="2400" b="1" dirty="0"/>
          </a:p>
          <a:p>
            <a:endParaRPr lang="zh-CN" altLang="en-US" sz="2400" b="1" dirty="0"/>
          </a:p>
          <a:p>
            <a:r>
              <a:rPr lang="zh-CN" altLang="en-US" sz="2400" b="1" dirty="0"/>
              <a:t>数据捕手</a:t>
            </a:r>
            <a:endParaRPr lang="zh-CN" altLang="en-US" sz="2400" b="1" dirty="0"/>
          </a:p>
          <a:p>
            <a:endParaRPr lang="zh-CN" altLang="en-US" sz="2400" b="1" dirty="0"/>
          </a:p>
          <a:p>
            <a:r>
              <a:rPr lang="en-US" altLang="zh-CN" sz="2400" b="1" dirty="0" err="1"/>
              <a:t>sellermotor</a:t>
            </a:r>
            <a:endParaRPr lang="zh-CN" altLang="en-US" sz="2400" b="1" dirty="0"/>
          </a:p>
          <a:p>
            <a:endParaRPr lang="zh-CN" altLang="en-US" sz="2400" b="1" dirty="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81300" y="2406015"/>
            <a:ext cx="7419340" cy="6457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大卖店铺新品 → 紧跟大卖家的开发路线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93035" y="1290955"/>
            <a:ext cx="5354955" cy="39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整理同类目的大卖家 关注他们的新品</a:t>
            </a:r>
            <a:endParaRPr lang="zh-CN" altLang="en-US" sz="2000" b="1"/>
          </a:p>
        </p:txBody>
      </p:sp>
      <p:sp>
        <p:nvSpPr>
          <p:cNvPr id="3" name="文本框 2"/>
          <p:cNvSpPr txBox="1"/>
          <p:nvPr/>
        </p:nvSpPr>
        <p:spPr>
          <a:xfrm>
            <a:off x="2693035" y="2510155"/>
            <a:ext cx="4885055" cy="39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借力选品 大卖家通常都有专业的开发团队</a:t>
            </a:r>
            <a:endParaRPr lang="zh-CN" altLang="en-US" sz="2000" b="1"/>
          </a:p>
        </p:txBody>
      </p:sp>
      <p:sp>
        <p:nvSpPr>
          <p:cNvPr id="4" name="文本框 3"/>
          <p:cNvSpPr txBox="1"/>
          <p:nvPr/>
        </p:nvSpPr>
        <p:spPr>
          <a:xfrm>
            <a:off x="2693035" y="3827145"/>
            <a:ext cx="7882890" cy="39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分析新品的 市场容量 竞争情况 可进入市场可能性</a:t>
            </a:r>
            <a:endParaRPr lang="zh-CN" altLang="en-US" sz="2000" b="1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69920" y="2387600"/>
            <a:ext cx="7348220" cy="57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</a:rPr>
              <a:t>秒杀产品 → 最具爆款潜力的产品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730" y="229870"/>
            <a:ext cx="5600700" cy="26238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" y="3239135"/>
            <a:ext cx="5614670" cy="34537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63690" y="1257935"/>
            <a:ext cx="4258945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/>
              <a:t>在秒杀页面寻找产品 做分析</a:t>
            </a:r>
            <a:endParaRPr lang="zh-CN" altLang="en-US" sz="2400" b="1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36060" y="2837180"/>
            <a:ext cx="4332605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Deal</a:t>
            </a:r>
            <a:r>
              <a:rPr lang="zh-CN" altLang="en-US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网站高热度产品</a:t>
            </a:r>
            <a:endParaRPr lang="zh-CN" altLang="en-US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endParaRPr lang="zh-CN" altLang="en-US" sz="3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918970" y="1768475"/>
            <a:ext cx="6252845" cy="1615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/>
              <a:t>http://slickdeals.net</a:t>
            </a:r>
            <a:endParaRPr lang="zh-CN" altLang="en-US" sz="2000" b="1"/>
          </a:p>
          <a:p>
            <a:r>
              <a:rPr lang="zh-CN" altLang="en-US" sz="2000" b="1"/>
              <a:t>http://www.fatwallet.com</a:t>
            </a:r>
            <a:endParaRPr lang="zh-CN" altLang="en-US" sz="2000" b="1"/>
          </a:p>
          <a:p>
            <a:r>
              <a:rPr lang="zh-CN" altLang="en-US" sz="2000" b="1"/>
              <a:t>http://dealnews.com</a:t>
            </a:r>
            <a:endParaRPr lang="zh-CN" altLang="en-US" sz="2000" b="1"/>
          </a:p>
          <a:p>
            <a:r>
              <a:rPr lang="zh-CN" altLang="en-US" sz="2000" b="1"/>
              <a:t>http://deals.woot.com</a:t>
            </a:r>
            <a:endParaRPr lang="zh-CN" altLang="en-US" sz="2000" b="1"/>
          </a:p>
          <a:p>
            <a:r>
              <a:rPr lang="zh-CN" altLang="en-US" sz="2000" b="1"/>
              <a:t>http://www.reddit.com</a:t>
            </a:r>
            <a:endParaRPr lang="zh-CN" altLang="en-US" sz="2000" b="1"/>
          </a:p>
        </p:txBody>
      </p:sp>
      <p:sp>
        <p:nvSpPr>
          <p:cNvPr id="4" name="文本框 3"/>
          <p:cNvSpPr txBox="1"/>
          <p:nvPr/>
        </p:nvSpPr>
        <p:spPr>
          <a:xfrm>
            <a:off x="1293495" y="4528820"/>
            <a:ext cx="856615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分析高热度产品 在亚马逊的市场情况 竞争 进入市场的可能性</a:t>
            </a:r>
            <a:r>
              <a:rPr lang="en-US" altLang="zh-CN" sz="2400"/>
              <a:t>...</a:t>
            </a:r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43"/>
          <p:cNvSpPr txBox="1"/>
          <p:nvPr/>
        </p:nvSpPr>
        <p:spPr>
          <a:xfrm>
            <a:off x="1292225" y="1496695"/>
            <a:ext cx="5445760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产品名称中英文 多种说法都写出来</a:t>
            </a:r>
            <a:endParaRPr lang="zh-CN" altLang="en-US" sz="2400"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358265" y="2281555"/>
            <a:ext cx="5875655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listing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数量 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= 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竞争情况</a:t>
            </a:r>
            <a:endParaRPr lang="zh-CN" altLang="en-US" sz="2400"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292225" y="3066415"/>
            <a:ext cx="8139430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首页产品的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review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个数区间 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= 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进入市场的可能性</a:t>
            </a:r>
            <a:endParaRPr lang="zh-CN" altLang="en-US" sz="2400"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92225" y="3954780"/>
            <a:ext cx="7438390" cy="56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欲售价 低于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bestseller 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做销量前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10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名的中高价</a:t>
            </a:r>
            <a:endParaRPr lang="zh-CN" altLang="en-US" sz="2400"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92225" y="4913630"/>
            <a:ext cx="7660640" cy="1041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销量前三名的 大概日均销量 售价 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review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数量 星级 </a:t>
            </a:r>
            <a:r>
              <a:rPr 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上架时间 主要差评好评 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Q&amp;A</a:t>
            </a:r>
            <a:r>
              <a:rPr lang="zh-CN" sz="2400" b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</a:rPr>
              <a:t>常见问题</a:t>
            </a:r>
            <a:endParaRPr lang="zh-CN" sz="2400"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58265" y="682625"/>
            <a:ext cx="4073525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选品表格</a:t>
            </a:r>
            <a:endParaRPr lang="zh-CN" altLang="en-US" sz="40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25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129030" y="1339215"/>
            <a:ext cx="9916160" cy="3897630"/>
            <a:chOff x="1791" y="2913"/>
            <a:chExt cx="15617" cy="6138"/>
          </a:xfrm>
        </p:grpSpPr>
        <p:sp>
          <p:nvSpPr>
            <p:cNvPr id="3" name="右箭头 2"/>
            <p:cNvSpPr/>
            <p:nvPr>
              <p:custDataLst>
                <p:tags r:id="rId1"/>
              </p:custDataLst>
            </p:nvPr>
          </p:nvSpPr>
          <p:spPr>
            <a:xfrm>
              <a:off x="1791" y="4906"/>
              <a:ext cx="15617" cy="2034"/>
            </a:xfrm>
            <a:prstGeom prst="rightArrow">
              <a:avLst/>
            </a:prstGeom>
            <a:solidFill>
              <a:srgbClr val="D9D9D9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kern="0" dirty="0">
                <a:solidFill>
                  <a:schemeClr val="bg1"/>
                </a:solidFill>
              </a:endParaRPr>
            </a:p>
          </p:txBody>
        </p:sp>
        <p:sp>
          <p:nvSpPr>
            <p:cNvPr id="4" name="平行四边形 3"/>
            <p:cNvSpPr/>
            <p:nvPr>
              <p:custDataLst>
                <p:tags r:id="rId2"/>
              </p:custDataLst>
            </p:nvPr>
          </p:nvSpPr>
          <p:spPr>
            <a:xfrm flipH="1">
              <a:off x="2734" y="4760"/>
              <a:ext cx="3463" cy="1774"/>
            </a:xfrm>
            <a:prstGeom prst="parallelogram">
              <a:avLst/>
            </a:prstGeom>
            <a:solidFill>
              <a:schemeClr val="accent1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kern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产品开发</a:t>
              </a:r>
              <a:endParaRPr lang="zh-CN" altLang="en-US" kern="0">
                <a:solidFill>
                  <a:schemeClr val="bg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平行四边形 5"/>
            <p:cNvSpPr/>
            <p:nvPr>
              <p:custDataLst>
                <p:tags r:id="rId3"/>
              </p:custDataLst>
            </p:nvPr>
          </p:nvSpPr>
          <p:spPr>
            <a:xfrm flipH="1">
              <a:off x="8980" y="4760"/>
              <a:ext cx="3463" cy="1774"/>
            </a:xfrm>
            <a:prstGeom prst="parallelogram">
              <a:avLst/>
            </a:prstGeom>
            <a:solidFill>
              <a:schemeClr val="accent3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kern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产品开发</a:t>
              </a:r>
              <a:endParaRPr lang="zh-CN" altLang="en-US" kern="0">
                <a:solidFill>
                  <a:schemeClr val="bg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平行四边形 7"/>
            <p:cNvSpPr/>
            <p:nvPr>
              <p:custDataLst>
                <p:tags r:id="rId4"/>
              </p:custDataLst>
            </p:nvPr>
          </p:nvSpPr>
          <p:spPr>
            <a:xfrm flipH="1">
              <a:off x="6005" y="5313"/>
              <a:ext cx="3463" cy="1774"/>
            </a:xfrm>
            <a:prstGeom prst="parallelogram">
              <a:avLst/>
            </a:prstGeom>
            <a:solidFill>
              <a:schemeClr val="accent2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kern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店铺业务员</a:t>
              </a:r>
              <a:endParaRPr lang="zh-CN" altLang="en-US" kern="0">
                <a:solidFill>
                  <a:schemeClr val="bg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5"/>
              </p:custDataLst>
            </p:nvPr>
          </p:nvSpPr>
          <p:spPr>
            <a:xfrm flipH="1">
              <a:off x="12250" y="5313"/>
              <a:ext cx="3463" cy="1774"/>
            </a:xfrm>
            <a:prstGeom prst="parallelogram">
              <a:avLst/>
            </a:prstGeom>
            <a:solidFill>
              <a:schemeClr val="accent4"/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kern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供应商</a:t>
              </a:r>
              <a:endParaRPr lang="zh-CN" altLang="en-US" kern="0">
                <a:solidFill>
                  <a:schemeClr val="bg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6"/>
              </p:custDataLst>
            </p:nvPr>
          </p:nvSpPr>
          <p:spPr>
            <a:xfrm>
              <a:off x="2734" y="2913"/>
              <a:ext cx="3463" cy="1847"/>
            </a:xfrm>
            <a:prstGeom prst="rect">
              <a:avLst/>
            </a:prstGeom>
          </p:spPr>
          <p:txBody>
            <a:bodyPr wrap="square" anchor="b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2400" b="1" dirty="0">
                  <a:latin typeface="楷体" panose="02010609060101010101" charset="-122"/>
                  <a:ea typeface="楷体" panose="02010609060101010101" charset="-122"/>
                </a:rPr>
                <a:t>初选产品</a:t>
              </a:r>
              <a:endParaRPr lang="zh-CN" altLang="en-US" sz="2400" b="1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7"/>
              </p:custDataLst>
            </p:nvPr>
          </p:nvSpPr>
          <p:spPr>
            <a:xfrm>
              <a:off x="8890" y="2913"/>
              <a:ext cx="3463" cy="1847"/>
            </a:xfrm>
            <a:prstGeom prst="rect">
              <a:avLst/>
            </a:prstGeom>
          </p:spPr>
          <p:txBody>
            <a:bodyPr wrap="square" anchor="b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2400" b="1" dirty="0">
                  <a:latin typeface="楷体" panose="02010609060101010101" charset="-122"/>
                  <a:ea typeface="楷体" panose="02010609060101010101" charset="-122"/>
                </a:rPr>
                <a:t>复选产品</a:t>
              </a:r>
              <a:r>
                <a:rPr lang="zh-CN" altLang="en-US" sz="2000" dirty="0"/>
                <a:t> </a:t>
              </a:r>
              <a:endParaRPr lang="zh-CN" altLang="en-US" sz="2000" dirty="0"/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5264" y="7204"/>
              <a:ext cx="5174" cy="1847"/>
            </a:xfrm>
            <a:prstGeom prst="rect">
              <a:avLst/>
            </a:prstGeom>
          </p:spPr>
          <p:txBody>
            <a:bodyPr wrap="square" anchor="t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2000" b="1" dirty="0">
                  <a:latin typeface="楷体" panose="02010609060101010101" charset="-122"/>
                  <a:ea typeface="楷体" panose="02010609060101010101" charset="-122"/>
                </a:rPr>
                <a:t>整理产品详情到选品表格</a:t>
              </a:r>
              <a:endParaRPr lang="zh-CN" altLang="en-US" sz="2000" b="1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9"/>
              </p:custDataLst>
            </p:nvPr>
          </p:nvSpPr>
          <p:spPr>
            <a:xfrm>
              <a:off x="12612" y="7087"/>
              <a:ext cx="3463" cy="1847"/>
            </a:xfrm>
            <a:prstGeom prst="rect">
              <a:avLst/>
            </a:prstGeom>
          </p:spPr>
          <p:txBody>
            <a:bodyPr wrap="square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2000" b="1" dirty="0">
                  <a:latin typeface="楷体" panose="02010609060101010101" charset="-122"/>
                  <a:ea typeface="楷体" panose="02010609060101010101" charset="-122"/>
                </a:rPr>
                <a:t>对接供应商 </a:t>
              </a:r>
              <a:endParaRPr lang="zh-CN" altLang="en-US" sz="2000" b="1" dirty="0">
                <a:latin typeface="楷体" panose="02010609060101010101" charset="-122"/>
                <a:ea typeface="楷体" panose="02010609060101010101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2000" b="1" dirty="0">
                  <a:latin typeface="楷体" panose="02010609060101010101" charset="-122"/>
                  <a:ea typeface="楷体" panose="02010609060101010101" charset="-122"/>
                </a:rPr>
                <a:t>核算利润 </a:t>
              </a:r>
              <a:endParaRPr lang="zh-CN" altLang="en-US" sz="2000" b="1" dirty="0">
                <a:latin typeface="楷体" panose="02010609060101010101" charset="-122"/>
                <a:ea typeface="楷体" panose="02010609060101010101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2000" b="1" dirty="0">
                  <a:latin typeface="楷体" panose="02010609060101010101" charset="-122"/>
                  <a:ea typeface="楷体" panose="02010609060101010101" charset="-122"/>
                </a:rPr>
                <a:t>进行采购 试销</a:t>
              </a:r>
              <a:endParaRPr lang="zh-CN" altLang="en-US" sz="2000" b="1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</p:spTree>
    <p:custDataLst>
      <p:tags r:id="rId10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64510" y="2535555"/>
            <a:ext cx="606298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>
                <a:solidFill>
                  <a:srgbClr val="FF0000"/>
                </a:solidFill>
              </a:rPr>
              <a:t>懂得否定 淘汰！</a:t>
            </a:r>
            <a:endParaRPr lang="zh-CN" altLang="en-US" sz="4800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500909" y="829122"/>
            <a:ext cx="8185362" cy="5791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da-DK" sz="3200" kern="0">
                <a:latin typeface="+mj-lt"/>
                <a:ea typeface="+mj-ea"/>
                <a:cs typeface="+mj-cs"/>
              </a:rPr>
              <a:t>我们需要什么样的产品？</a:t>
            </a:r>
            <a:endParaRPr lang="zh-CN" altLang="da-DK" sz="3200" kern="0">
              <a:latin typeface="+mj-lt"/>
              <a:ea typeface="+mj-ea"/>
              <a:cs typeface="+mj-cs"/>
            </a:endParaRPr>
          </a:p>
        </p:txBody>
      </p:sp>
      <p:grpSp>
        <p:nvGrpSpPr>
          <p:cNvPr id="23" name="组合 22"/>
          <p:cNvGrpSpPr/>
          <p:nvPr>
            <p:custDataLst>
              <p:tags r:id="rId2"/>
            </p:custDataLst>
          </p:nvPr>
        </p:nvGrpSpPr>
        <p:grpSpPr>
          <a:xfrm>
            <a:off x="823595" y="1539875"/>
            <a:ext cx="5234305" cy="723900"/>
            <a:chOff x="2355360" y="1334455"/>
            <a:chExt cx="5234331" cy="723346"/>
          </a:xfrm>
        </p:grpSpPr>
        <p:sp>
          <p:nvSpPr>
            <p:cNvPr id="12" name="矩形 11"/>
            <p:cNvSpPr/>
            <p:nvPr>
              <p:custDataLst>
                <p:tags r:id="rId3"/>
              </p:custDataLst>
            </p:nvPr>
          </p:nvSpPr>
          <p:spPr>
            <a:xfrm>
              <a:off x="2672815" y="1334455"/>
              <a:ext cx="4916876" cy="39292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市场容量大 需求大 生活所需</a:t>
              </a:r>
              <a:endParaRPr lang="zh-CN" altLang="en-US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菱形 12"/>
            <p:cNvSpPr/>
            <p:nvPr>
              <p:custDataLst>
                <p:tags r:id="rId4"/>
              </p:custDataLst>
            </p:nvPr>
          </p:nvSpPr>
          <p:spPr>
            <a:xfrm>
              <a:off x="2355360" y="1386453"/>
              <a:ext cx="317455" cy="292702"/>
            </a:xfrm>
            <a:prstGeom prst="diamond">
              <a:avLst/>
            </a:prstGeom>
            <a:solidFill>
              <a:schemeClr val="accent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A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5"/>
              </p:custDataLst>
            </p:nvPr>
          </p:nvSpPr>
          <p:spPr>
            <a:xfrm>
              <a:off x="2672815" y="1664880"/>
              <a:ext cx="4916876" cy="3929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tx1"/>
                  </a:solidFill>
                </a:rPr>
                <a:t>保证销量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6"/>
            </p:custDataLst>
          </p:nvPr>
        </p:nvGrpSpPr>
        <p:grpSpPr>
          <a:xfrm>
            <a:off x="823595" y="2400300"/>
            <a:ext cx="5613400" cy="723900"/>
            <a:chOff x="2355360" y="2194836"/>
            <a:chExt cx="5613400" cy="723345"/>
          </a:xfrm>
        </p:grpSpPr>
        <p:sp>
          <p:nvSpPr>
            <p:cNvPr id="45" name="矩形 44"/>
            <p:cNvSpPr/>
            <p:nvPr>
              <p:custDataLst>
                <p:tags r:id="rId7"/>
              </p:custDataLst>
            </p:nvPr>
          </p:nvSpPr>
          <p:spPr>
            <a:xfrm>
              <a:off x="2672860" y="2194836"/>
              <a:ext cx="5295900" cy="39292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竞争小 可进入市场性高 </a:t>
              </a:r>
              <a:r>
                <a:rPr lang="en-US" altLang="zh-CN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Bestseller</a:t>
              </a: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非亚马逊自营</a:t>
              </a:r>
              <a:endParaRPr lang="zh-CN" altLang="en-US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6" name="菱形 45"/>
            <p:cNvSpPr/>
            <p:nvPr>
              <p:custDataLst>
                <p:tags r:id="rId8"/>
              </p:custDataLst>
            </p:nvPr>
          </p:nvSpPr>
          <p:spPr>
            <a:xfrm>
              <a:off x="2355360" y="2246834"/>
              <a:ext cx="317455" cy="292702"/>
            </a:xfrm>
            <a:prstGeom prst="diamond">
              <a:avLst/>
            </a:prstGeom>
            <a:solidFill>
              <a:schemeClr val="accent2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B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9"/>
              </p:custDataLst>
            </p:nvPr>
          </p:nvSpPr>
          <p:spPr>
            <a:xfrm>
              <a:off x="2672815" y="2525339"/>
              <a:ext cx="4916876" cy="392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tx1"/>
                  </a:solidFill>
                </a:rPr>
                <a:t>获得市场份额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0"/>
            </p:custDataLst>
          </p:nvPr>
        </p:nvGrpSpPr>
        <p:grpSpPr>
          <a:xfrm>
            <a:off x="823595" y="3260725"/>
            <a:ext cx="5234305" cy="723900"/>
            <a:chOff x="2355360" y="3055216"/>
            <a:chExt cx="5234331" cy="723345"/>
          </a:xfrm>
        </p:grpSpPr>
        <p:sp>
          <p:nvSpPr>
            <p:cNvPr id="49" name="矩形 48"/>
            <p:cNvSpPr/>
            <p:nvPr>
              <p:custDataLst>
                <p:tags r:id="rId11"/>
              </p:custDataLst>
            </p:nvPr>
          </p:nvSpPr>
          <p:spPr>
            <a:xfrm>
              <a:off x="2672815" y="3055216"/>
              <a:ext cx="4916876" cy="39292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产品无季节性 技术把控少 </a:t>
              </a:r>
              <a:endParaRPr lang="zh-CN" altLang="en-US" dirty="0">
                <a:solidFill>
                  <a:schemeClr val="accent3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0" name="菱形 49"/>
            <p:cNvSpPr/>
            <p:nvPr>
              <p:custDataLst>
                <p:tags r:id="rId12"/>
              </p:custDataLst>
            </p:nvPr>
          </p:nvSpPr>
          <p:spPr>
            <a:xfrm>
              <a:off x="2355360" y="3107214"/>
              <a:ext cx="317455" cy="292702"/>
            </a:xfrm>
            <a:prstGeom prst="diamond">
              <a:avLst/>
            </a:prstGeom>
            <a:solidFill>
              <a:schemeClr val="accent3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C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51" name="矩形 50"/>
            <p:cNvSpPr/>
            <p:nvPr>
              <p:custDataLst>
                <p:tags r:id="rId13"/>
              </p:custDataLst>
            </p:nvPr>
          </p:nvSpPr>
          <p:spPr>
            <a:xfrm>
              <a:off x="2672815" y="3385719"/>
              <a:ext cx="4916876" cy="392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tx1"/>
                  </a:solidFill>
                </a:rPr>
                <a:t>销量稳定 售后低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>
            <a:off x="823595" y="4121150"/>
            <a:ext cx="5234305" cy="723900"/>
            <a:chOff x="2355360" y="3915594"/>
            <a:chExt cx="5234331" cy="723345"/>
          </a:xfrm>
        </p:grpSpPr>
        <p:sp>
          <p:nvSpPr>
            <p:cNvPr id="53" name="矩形 52"/>
            <p:cNvSpPr/>
            <p:nvPr>
              <p:custDataLst>
                <p:tags r:id="rId15"/>
              </p:custDataLst>
            </p:nvPr>
          </p:nvSpPr>
          <p:spPr>
            <a:xfrm>
              <a:off x="2672815" y="3915594"/>
              <a:ext cx="4916876" cy="39292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体积重量小 非易碎品</a:t>
              </a:r>
              <a:endParaRPr lang="zh-CN" altLang="en-US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4" name="菱形 53"/>
            <p:cNvSpPr/>
            <p:nvPr>
              <p:custDataLst>
                <p:tags r:id="rId16"/>
              </p:custDataLst>
            </p:nvPr>
          </p:nvSpPr>
          <p:spPr>
            <a:xfrm>
              <a:off x="2355360" y="3967592"/>
              <a:ext cx="317455" cy="292702"/>
            </a:xfrm>
            <a:prstGeom prst="diamond">
              <a:avLst/>
            </a:prstGeom>
            <a:solidFill>
              <a:schemeClr val="accent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D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17"/>
              </p:custDataLst>
            </p:nvPr>
          </p:nvSpPr>
          <p:spPr>
            <a:xfrm>
              <a:off x="2672815" y="4246097"/>
              <a:ext cx="4916876" cy="392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tx1"/>
                  </a:solidFill>
                </a:rPr>
                <a:t>便于运输 可做海运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18"/>
            </p:custDataLst>
          </p:nvPr>
        </p:nvGrpSpPr>
        <p:grpSpPr>
          <a:xfrm>
            <a:off x="823595" y="4674392"/>
            <a:ext cx="5234305" cy="1031083"/>
            <a:chOff x="2355360" y="4469028"/>
            <a:chExt cx="5234331" cy="1030292"/>
          </a:xfrm>
        </p:grpSpPr>
        <p:sp>
          <p:nvSpPr>
            <p:cNvPr id="57" name="矩形 56"/>
            <p:cNvSpPr/>
            <p:nvPr>
              <p:custDataLst>
                <p:tags r:id="rId19"/>
              </p:custDataLst>
            </p:nvPr>
          </p:nvSpPr>
          <p:spPr>
            <a:xfrm>
              <a:off x="2672815" y="4469028"/>
              <a:ext cx="4916876" cy="699868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  <a:sym typeface="+mn-ea"/>
                </a:rPr>
                <a:t>非熟手建议</a:t>
              </a: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售价在</a:t>
              </a:r>
              <a:r>
                <a:rPr lang="en-US" altLang="zh-CN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15-20</a:t>
              </a: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美金左右，产品成本</a:t>
              </a:r>
              <a:r>
                <a:rPr lang="en-US" altLang="zh-CN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20</a:t>
              </a:r>
              <a:r>
                <a:rPr lang="zh-CN" altLang="en-US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人民币以内 </a:t>
              </a:r>
              <a:endParaRPr lang="zh-CN" altLang="en-US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8" name="菱形 57"/>
            <p:cNvSpPr/>
            <p:nvPr>
              <p:custDataLst>
                <p:tags r:id="rId20"/>
              </p:custDataLst>
            </p:nvPr>
          </p:nvSpPr>
          <p:spPr>
            <a:xfrm>
              <a:off x="2355360" y="4827973"/>
              <a:ext cx="317455" cy="292702"/>
            </a:xfrm>
            <a:prstGeom prst="diamond">
              <a:avLst/>
            </a:prstGeom>
            <a:solidFill>
              <a:schemeClr val="accent2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E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59" name="矩形 58"/>
            <p:cNvSpPr/>
            <p:nvPr>
              <p:custDataLst>
                <p:tags r:id="rId21"/>
              </p:custDataLst>
            </p:nvPr>
          </p:nvSpPr>
          <p:spPr>
            <a:xfrm>
              <a:off x="2672815" y="5106478"/>
              <a:ext cx="4916876" cy="392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tx1"/>
                  </a:solidFill>
                </a:rPr>
                <a:t>有一定利润空间 非价格战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22"/>
            </p:custDataLst>
          </p:nvPr>
        </p:nvGrpSpPr>
        <p:grpSpPr>
          <a:xfrm>
            <a:off x="823595" y="5842000"/>
            <a:ext cx="5234305" cy="723900"/>
            <a:chOff x="2355360" y="5636356"/>
            <a:chExt cx="5234331" cy="723345"/>
          </a:xfrm>
        </p:grpSpPr>
        <p:sp>
          <p:nvSpPr>
            <p:cNvPr id="61" name="矩形 60"/>
            <p:cNvSpPr/>
            <p:nvPr>
              <p:custDataLst>
                <p:tags r:id="rId23"/>
              </p:custDataLst>
            </p:nvPr>
          </p:nvSpPr>
          <p:spPr>
            <a:xfrm>
              <a:off x="2672815" y="5636356"/>
              <a:ext cx="4916876" cy="39292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无侵权 非专利</a:t>
              </a:r>
              <a:endParaRPr lang="zh-CN" altLang="en-US" dirty="0">
                <a:solidFill>
                  <a:schemeClr val="accent3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2" name="菱形 61"/>
            <p:cNvSpPr/>
            <p:nvPr>
              <p:custDataLst>
                <p:tags r:id="rId24"/>
              </p:custDataLst>
            </p:nvPr>
          </p:nvSpPr>
          <p:spPr>
            <a:xfrm>
              <a:off x="2355360" y="5688354"/>
              <a:ext cx="317455" cy="292702"/>
            </a:xfrm>
            <a:prstGeom prst="diamond">
              <a:avLst/>
            </a:prstGeom>
            <a:solidFill>
              <a:schemeClr val="accent3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F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63" name="矩形 62"/>
            <p:cNvSpPr/>
            <p:nvPr>
              <p:custDataLst>
                <p:tags r:id="rId25"/>
              </p:custDataLst>
            </p:nvPr>
          </p:nvSpPr>
          <p:spPr>
            <a:xfrm>
              <a:off x="2672815" y="5966859"/>
              <a:ext cx="4916876" cy="392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tx1"/>
                  </a:solidFill>
                </a:rPr>
                <a:t>避免账号风险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26"/>
            </p:custDataLst>
          </p:nvPr>
        </p:nvGrpSpPr>
        <p:grpSpPr>
          <a:xfrm>
            <a:off x="823595" y="1548130"/>
            <a:ext cx="5234305" cy="723900"/>
            <a:chOff x="2355360" y="1334455"/>
            <a:chExt cx="5234331" cy="723345"/>
          </a:xfrm>
        </p:grpSpPr>
        <p:sp>
          <p:nvSpPr>
            <p:cNvPr id="6" name="矩形 5"/>
            <p:cNvSpPr/>
            <p:nvPr>
              <p:custDataLst>
                <p:tags r:id="rId27"/>
              </p:custDataLst>
            </p:nvPr>
          </p:nvSpPr>
          <p:spPr>
            <a:xfrm>
              <a:off x="2672815" y="1334455"/>
              <a:ext cx="4916876" cy="392921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市场容量大 需求大 生活所需</a:t>
              </a:r>
              <a:endParaRPr lang="zh-CN" altLang="en-US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菱形 6"/>
            <p:cNvSpPr/>
            <p:nvPr>
              <p:custDataLst>
                <p:tags r:id="rId28"/>
              </p:custDataLst>
            </p:nvPr>
          </p:nvSpPr>
          <p:spPr>
            <a:xfrm>
              <a:off x="2355360" y="1386453"/>
              <a:ext cx="317455" cy="292702"/>
            </a:xfrm>
            <a:prstGeom prst="diamond">
              <a:avLst/>
            </a:prstGeom>
            <a:solidFill>
              <a:schemeClr val="accent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A</a:t>
              </a:r>
              <a:endParaRPr lang="zh-CN" altLang="en-US" sz="1200" dirty="0" err="1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29"/>
              </p:custDataLst>
            </p:nvPr>
          </p:nvSpPr>
          <p:spPr>
            <a:xfrm>
              <a:off x="2672815" y="1664958"/>
              <a:ext cx="4916876" cy="3928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zh-CN" altLang="en-US" dirty="0">
                  <a:solidFill>
                    <a:schemeClr val="tx1"/>
                  </a:solidFill>
                </a:rPr>
                <a:t>保证销量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  <p:custDataLst>
      <p:tags r:id="rId30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18740" y="3078480"/>
            <a:ext cx="728472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/>
              <a:t>什么是亚马逊精品模式？</a:t>
            </a:r>
            <a:endParaRPr lang="zh-CN" altLang="en-US" sz="4800" b="1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824480" y="1092200"/>
            <a:ext cx="1049655" cy="1507490"/>
            <a:chOff x="1531623" y="1701800"/>
            <a:chExt cx="1049867" cy="1507449"/>
          </a:xfrm>
        </p:grpSpPr>
        <p:sp>
          <p:nvSpPr>
            <p:cNvPr id="4" name="椭圆 3"/>
            <p:cNvSpPr/>
            <p:nvPr>
              <p:custDataLst>
                <p:tags r:id="rId2"/>
              </p:custDataLst>
            </p:nvPr>
          </p:nvSpPr>
          <p:spPr>
            <a:xfrm>
              <a:off x="1531623" y="1701800"/>
              <a:ext cx="1049867" cy="1049867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67000">
                  <a:schemeClr val="accent1">
                    <a:lumMod val="40000"/>
                    <a:lumOff val="6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just">
                <a:lnSpc>
                  <a:spcPct val="130000"/>
                </a:lnSpc>
              </a:pPr>
              <a:endParaRPr lang="zh-CN" altLang="en-US" dirty="0" err="1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3"/>
              </p:custDataLst>
            </p:nvPr>
          </p:nvSpPr>
          <p:spPr>
            <a:xfrm>
              <a:off x="1588556" y="1758733"/>
              <a:ext cx="936000" cy="936000"/>
            </a:xfrm>
            <a:prstGeom prst="ellipse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+mj-lt"/>
                  <a:ea typeface="+mj-ea"/>
                  <a:cs typeface="+mj-cs"/>
                  <a:sym typeface="Arial" panose="020B0604020202020204" pitchFamily="34" charset="0"/>
                </a:rPr>
                <a:t>店铺</a:t>
              </a:r>
              <a:endParaRPr lang="zh-CN" altLang="en-US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endParaRPr>
            </a:p>
          </p:txBody>
        </p:sp>
        <p:pic>
          <p:nvPicPr>
            <p:cNvPr id="3" name="图片 2"/>
            <p:cNvPicPr/>
            <p:nvPr>
              <p:custDataLst>
                <p:tags r:id="rId4"/>
              </p:custDataLst>
            </p:nvPr>
          </p:nvPicPr>
          <p:blipFill rotWithShape="1">
            <a:blip/>
            <a:srcRect t="50886"/>
            <a:stretch>
              <a:fillRect/>
            </a:stretch>
          </p:blipFill>
          <p:spPr>
            <a:xfrm rot="3433688" flipH="1" flipV="1">
              <a:off x="928773" y="2449292"/>
              <a:ext cx="1440000" cy="7991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3962400" y="1271905"/>
            <a:ext cx="6474460" cy="81026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整个店铺控制在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10 SKU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内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,2-4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个主要出单款 爆款，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3-5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个高利润款 维持基础销量 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10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单左右</a:t>
            </a:r>
            <a:endParaRPr lang="zh-CN" altLang="en-US" b="1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>
            <p:custDataLst>
              <p:tags r:id="rId6"/>
            </p:custDataLst>
          </p:nvPr>
        </p:nvGrpSpPr>
        <p:grpSpPr>
          <a:xfrm>
            <a:off x="2842260" y="2573020"/>
            <a:ext cx="1049655" cy="1507490"/>
            <a:chOff x="2360298" y="3159125"/>
            <a:chExt cx="1049867" cy="1507449"/>
          </a:xfrm>
        </p:grpSpPr>
        <p:sp>
          <p:nvSpPr>
            <p:cNvPr id="12" name="椭圆 11"/>
            <p:cNvSpPr/>
            <p:nvPr>
              <p:custDataLst>
                <p:tags r:id="rId7"/>
              </p:custDataLst>
            </p:nvPr>
          </p:nvSpPr>
          <p:spPr>
            <a:xfrm>
              <a:off x="2360298" y="3159125"/>
              <a:ext cx="1049867" cy="1049867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67000">
                  <a:schemeClr val="accent2">
                    <a:lumMod val="40000"/>
                    <a:lumOff val="60000"/>
                  </a:schemeClr>
                </a:gs>
                <a:gs pos="100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just">
                <a:lnSpc>
                  <a:spcPct val="130000"/>
                </a:lnSpc>
              </a:pPr>
              <a:endParaRPr lang="zh-CN" altLang="en-US" dirty="0" err="1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3" name="椭圆 12"/>
            <p:cNvSpPr/>
            <p:nvPr>
              <p:custDataLst>
                <p:tags r:id="rId8"/>
              </p:custDataLst>
            </p:nvPr>
          </p:nvSpPr>
          <p:spPr>
            <a:xfrm>
              <a:off x="2417231" y="3216058"/>
              <a:ext cx="936000" cy="936000"/>
            </a:xfrm>
            <a:prstGeom prst="ellipse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rmAutofit lnSpcReduction="10000"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accent2">
                      <a:lumMod val="75000"/>
                    </a:schemeClr>
                  </a:solidFill>
                  <a:latin typeface="+mj-lt"/>
                  <a:ea typeface="+mj-ea"/>
                  <a:cs typeface="+mj-cs"/>
                  <a:sym typeface="Arial" panose="020B0604020202020204" pitchFamily="34" charset="0"/>
                </a:rPr>
                <a:t>试销模式</a:t>
              </a:r>
              <a:endParaRPr lang="zh-CN" altLang="en-US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endParaRPr>
            </a:p>
          </p:txBody>
        </p:sp>
        <p:pic>
          <p:nvPicPr>
            <p:cNvPr id="14" name="图片 13"/>
            <p:cNvPicPr/>
            <p:nvPr>
              <p:custDataLst>
                <p:tags r:id="rId9"/>
              </p:custDataLst>
            </p:nvPr>
          </p:nvPicPr>
          <p:blipFill rotWithShape="1">
            <a:blip/>
            <a:srcRect t="50886"/>
            <a:stretch>
              <a:fillRect/>
            </a:stretch>
          </p:blipFill>
          <p:spPr>
            <a:xfrm rot="3433688" flipH="1" flipV="1">
              <a:off x="1757448" y="3906617"/>
              <a:ext cx="1440000" cy="79914"/>
            </a:xfrm>
            <a:prstGeom prst="rect">
              <a:avLst/>
            </a:prstGeom>
          </p:spPr>
        </p:pic>
      </p:grpSp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3962400" y="2447290"/>
            <a:ext cx="6169660" cy="1170305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最终确定的产品首次建议发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50-100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个产品到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FBA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，根据情况少量多次补货，并根据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1-2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个月推广销售情况进行淘汰 或 确认</a:t>
            </a:r>
            <a:endParaRPr lang="zh-CN" altLang="en-US" b="1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2824480" y="4023360"/>
            <a:ext cx="1049655" cy="1507490"/>
            <a:chOff x="3293748" y="4616450"/>
            <a:chExt cx="1049867" cy="1507449"/>
          </a:xfrm>
        </p:grpSpPr>
        <p:sp>
          <p:nvSpPr>
            <p:cNvPr id="17" name="椭圆 16"/>
            <p:cNvSpPr/>
            <p:nvPr>
              <p:custDataLst>
                <p:tags r:id="rId12"/>
              </p:custDataLst>
            </p:nvPr>
          </p:nvSpPr>
          <p:spPr>
            <a:xfrm>
              <a:off x="3293748" y="4616450"/>
              <a:ext cx="1049867" cy="1049867"/>
            </a:xfrm>
            <a:prstGeom prst="ellipse">
              <a:avLst/>
            </a:prstGeom>
            <a:gradFill flip="none" rotWithShape="1">
              <a:gsLst>
                <a:gs pos="0">
                  <a:srgbClr val="FFFFFF"/>
                </a:gs>
                <a:gs pos="67000">
                  <a:schemeClr val="accent3">
                    <a:lumMod val="40000"/>
                    <a:lumOff val="60000"/>
                  </a:schemeClr>
                </a:gs>
                <a:gs pos="100000">
                  <a:schemeClr val="accent3"/>
                </a:gs>
              </a:gsLst>
              <a:path path="circle">
                <a:fillToRect l="50000" t="50000" r="50000" b="50000"/>
              </a:path>
              <a:tileRect/>
            </a:gra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just">
                <a:lnSpc>
                  <a:spcPct val="130000"/>
                </a:lnSpc>
              </a:pPr>
              <a:endParaRPr lang="zh-CN" altLang="en-US" dirty="0" err="1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13"/>
              </p:custDataLst>
            </p:nvPr>
          </p:nvSpPr>
          <p:spPr>
            <a:xfrm>
              <a:off x="3350681" y="4673383"/>
              <a:ext cx="936000" cy="936000"/>
            </a:xfrm>
            <a:prstGeom prst="ellipse">
              <a:avLst/>
            </a:prstGeom>
            <a:solidFill>
              <a:schemeClr val="bg1"/>
            </a:solidFill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accent3">
                      <a:lumMod val="75000"/>
                    </a:schemeClr>
                  </a:solidFill>
                  <a:latin typeface="+mj-lt"/>
                  <a:ea typeface="+mj-ea"/>
                  <a:cs typeface="+mj-cs"/>
                  <a:sym typeface="Arial" panose="020B0604020202020204" pitchFamily="34" charset="0"/>
                </a:rPr>
                <a:t>深度</a:t>
              </a:r>
              <a:endParaRPr lang="zh-CN" altLang="en-US" dirty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+mj-cs"/>
                <a:sym typeface="Arial" panose="020B0604020202020204" pitchFamily="34" charset="0"/>
              </a:endParaRPr>
            </a:p>
          </p:txBody>
        </p:sp>
        <p:pic>
          <p:nvPicPr>
            <p:cNvPr id="19" name="图片 18"/>
            <p:cNvPicPr/>
            <p:nvPr>
              <p:custDataLst>
                <p:tags r:id="rId14"/>
              </p:custDataLst>
            </p:nvPr>
          </p:nvPicPr>
          <p:blipFill rotWithShape="1">
            <a:blip/>
            <a:srcRect t="50886"/>
            <a:stretch>
              <a:fillRect/>
            </a:stretch>
          </p:blipFill>
          <p:spPr>
            <a:xfrm rot="3433688" flipH="1" flipV="1">
              <a:off x="2690898" y="5363942"/>
              <a:ext cx="1440000" cy="79914"/>
            </a:xfrm>
            <a:prstGeom prst="rect">
              <a:avLst/>
            </a:prstGeom>
          </p:spPr>
        </p:pic>
      </p:grpSp>
      <p:sp>
        <p:nvSpPr>
          <p:cNvPr id="20" name="矩形 19"/>
          <p:cNvSpPr/>
          <p:nvPr>
            <p:custDataLst>
              <p:tags r:id="rId15"/>
            </p:custDataLst>
          </p:nvPr>
        </p:nvSpPr>
        <p:spPr>
          <a:xfrm>
            <a:off x="3961765" y="4146550"/>
            <a:ext cx="6170295" cy="8039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有爆款潜质的产品 完善说明书包装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Logo </a:t>
            </a:r>
            <a:endParaRPr lang="en-US" altLang="zh-CN" b="1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主力推广 备足货 做活动</a:t>
            </a:r>
            <a:endParaRPr lang="zh-CN" altLang="en-US" b="1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sz="7200">
                <a:effectLst/>
              </a:rPr>
              <a:t>THANKYOU</a:t>
            </a:r>
            <a:endParaRPr lang="en-US" altLang="zh-CN" sz="7200">
              <a:effectLst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MH" val="20150921105644"/>
  <p:tag name="MH_LIBRARY" val="GRAPHIC"/>
  <p:tag name="MH_ORDER" val="直接连接符 3"/>
</p:tagLst>
</file>

<file path=ppt/tags/tag2.xml><?xml version="1.0" encoding="utf-8"?>
<p:tagLst xmlns:p="http://schemas.openxmlformats.org/presentationml/2006/main">
  <p:tag name="MH" val="20150921105644"/>
  <p:tag name="MH_LIBRARY" val="GRAPHIC"/>
  <p:tag name="MH_ORDER" val="直接连接符 4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160539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160539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4"/>
  <p:tag name="KSO_WM_UNIT_TYPE" val="a"/>
  <p:tag name="KSO_WM_UNIT_INDEX" val="1"/>
  <p:tag name="KSO_WM_UNIT_ID" val="custom164_31*a*1"/>
  <p:tag name="KSO_WM_UNIT_CLEAR" val="1"/>
  <p:tag name="KSO_WM_UNIT_LAYERLEVEL" val="1"/>
  <p:tag name="KSO_WM_UNIT_VALUE" val="10"/>
  <p:tag name="KSO_WM_UNIT_ISCONTENTSTITLE" val="0"/>
  <p:tag name="KSO_WM_UNIT_HIGHLIGHT" val="0"/>
  <p:tag name="KSO_WM_UNIT_COMPATIBLE" val="0"/>
  <p:tag name="KSO_WM_UNIT_PRESET_TEXT" val="THANKYOU"/>
</p:tagLst>
</file>

<file path=ppt/tags/tag6.xml><?xml version="1.0" encoding="utf-8"?>
<p:tagLst xmlns:p="http://schemas.openxmlformats.org/presentationml/2006/main">
  <p:tag name="KSO_WM_TAG_VERSION" val="1.0"/>
  <p:tag name="KSO_WM_TEMPLATE_CATEGORY" val="custom"/>
  <p:tag name="KSO_WM_TEMPLATE_INDEX" val="160447"/>
</p:tagLst>
</file>

<file path=ppt/tags/tag7.xml><?xml version="1.0" encoding="utf-8"?>
<p:tagLst xmlns:p="http://schemas.openxmlformats.org/presentationml/2006/main">
  <p:tag name="KSO_WM_TAG_VERSION" val="1.0"/>
  <p:tag name="KSO_WM_TEMPLATE_CATEGORY" val="custom"/>
  <p:tag name="KSO_WM_TEMPLATE_INDEX" val="160447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9"/>
  <p:tag name="KSO_WM_UNIT_TYPE" val="a"/>
  <p:tag name="KSO_WM_UNIT_INDEX" val="1"/>
  <p:tag name="KSO_WM_UNIT_ID" val="custom160429_1*a*1"/>
  <p:tag name="KSO_WM_UNIT_CLEAR" val="1"/>
  <p:tag name="KSO_WM_UNIT_LAYERLEVEL" val="1"/>
  <p:tag name="KSO_WM_UNIT_VALUE" val="6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9.xml><?xml version="1.0" encoding="utf-8"?>
<p:tagLst xmlns:p="http://schemas.openxmlformats.org/presentationml/2006/main">
  <p:tag name="KSO_WM_TEMPLATE_CATEGORY" val="custom"/>
  <p:tag name="KSO_WM_TEMPLATE_INDEX" val="160539"/>
  <p:tag name="KSO_WM_TAG_VERSION" val="1.0"/>
  <p:tag name="KSO_WM_SLIDE_ID" val="custom160429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TEMPLATE_THUMBS_INDEX" val="1、9、12、16、21、23、27、28"/>
  <p:tag name="KSO_WM_SPECIAL_SOURCE" val="bdnull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9"/>
  <p:tag name="KSO_WM_UNIT_TYPE" val="m_i"/>
  <p:tag name="KSO_WM_UNIT_INDEX" val="1_1"/>
  <p:tag name="KSO_WM_UNIT_ID" val="custom160429_14*m_i*1_1"/>
  <p:tag name="KSO_WM_UNIT_CLEAR" val="1"/>
  <p:tag name="KSO_WM_UNIT_LAYERLEVEL" val="1_1"/>
  <p:tag name="KSO_WM_DIAGRAM_GROUP_CODE" val="m1-1"/>
  <p:tag name="KSO_WM_UNIT_LINE_FORE_SCHEMECOLOR_INDEX" val="9"/>
  <p:tag name="KSO_WM_UNIT_LINE_FILL_TYPE" val="2"/>
  <p:tag name="KSO_WM_UNIT_USESOURCEFORMAT_APPLY" val="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9"/>
  <p:tag name="KSO_WM_UNIT_TYPE" val="m_i"/>
  <p:tag name="KSO_WM_UNIT_INDEX" val="1_2"/>
  <p:tag name="KSO_WM_UNIT_ID" val="custom160429_14*m_i*1_2"/>
  <p:tag name="KSO_WM_UNIT_CLEAR" val="1"/>
  <p:tag name="KSO_WM_UNIT_LAYERLEVEL" val="1_1"/>
  <p:tag name="KSO_WM_DIAGRAM_GROUP_CODE" val="m1-1"/>
  <p:tag name="KSO_WM_UNIT_FILL_FORE_SCHEMECOLOR_INDEX" val="9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9"/>
  <p:tag name="KSO_WM_UNIT_TYPE" val="m_i"/>
  <p:tag name="KSO_WM_UNIT_INDEX" val="1_3"/>
  <p:tag name="KSO_WM_UNIT_ID" val="custom160429_14*m_i*1_3"/>
  <p:tag name="KSO_WM_UNIT_CLEAR" val="1"/>
  <p:tag name="KSO_WM_UNIT_LAYERLEVEL" val="1_1"/>
  <p:tag name="KSO_WM_DIAGRAM_GROUP_CODE" val="m1-1"/>
  <p:tag name="KSO_WM_UNIT_LINE_FORE_SCHEMECOLOR_INDEX" val="9"/>
  <p:tag name="KSO_WM_UNIT_LINE_FILL_TYPE" val="2"/>
  <p:tag name="KSO_WM_UNIT_USESOURCEFORMAT_APPLY" val="1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9"/>
  <p:tag name="KSO_WM_UNIT_TYPE" val="m_i"/>
  <p:tag name="KSO_WM_UNIT_INDEX" val="1_4"/>
  <p:tag name="KSO_WM_UNIT_ID" val="custom160429_14*m_i*1_4"/>
  <p:tag name="KSO_WM_UNIT_CLEAR" val="1"/>
  <p:tag name="KSO_WM_UNIT_LAYERLEVEL" val="1_1"/>
  <p:tag name="KSO_WM_DIAGRAM_GROUP_CODE" val="m1-1"/>
  <p:tag name="KSO_WM_UNIT_FILL_FORE_SCHEMECOLOR_INDEX" val="16"/>
  <p:tag name="KSO_WM_UNIT_FILL_TYPE" val="1"/>
  <p:tag name="KSO_WM_UNIT_TEXT_FILL_FORE_SCHEMECOLOR_INDEX" val="9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9"/>
  <p:tag name="KSO_WM_UNIT_TYPE" val="m_h_f"/>
  <p:tag name="KSO_WM_UNIT_INDEX" val="1_1_1"/>
  <p:tag name="KSO_WM_UNIT_ID" val="custom160429_14*m_h_f*1_1_1"/>
  <p:tag name="KSO_WM_UNIT_CLEAR" val="1"/>
  <p:tag name="KSO_WM_UNIT_LAYERLEVEL" val="1_1_1"/>
  <p:tag name="KSO_WM_UNIT_VALUE" val="56"/>
  <p:tag name="KSO_WM_UNIT_HIGHLIGHT" val="0"/>
  <p:tag name="KSO_WM_UNIT_COMPATIBLE" val="0"/>
  <p:tag name="KSO_WM_UNIT_PRESET_TEXT_INDEX" val="4"/>
  <p:tag name="KSO_WM_UNIT_PRESET_TEXT_LEN" val="57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9"/>
  <p:tag name="KSO_WM_UNIT_TYPE" val="m_h_f"/>
  <p:tag name="KSO_WM_UNIT_INDEX" val="1_2_1"/>
  <p:tag name="KSO_WM_UNIT_ID" val="custom160429_14*m_h_f*1_2_1"/>
  <p:tag name="KSO_WM_UNIT_CLEAR" val="1"/>
  <p:tag name="KSO_WM_UNIT_LAYERLEVEL" val="1_1_1"/>
  <p:tag name="KSO_WM_UNIT_VALUE" val="48"/>
  <p:tag name="KSO_WM_UNIT_HIGHLIGHT" val="0"/>
  <p:tag name="KSO_WM_UNIT_COMPATIBLE" val="0"/>
  <p:tag name="KSO_WM_UNIT_PRESET_TEXT_INDEX" val="4"/>
  <p:tag name="KSO_WM_UNIT_PRESET_TEXT_LEN" val="57"/>
  <p:tag name="KSO_WM_DIAGRAM_GROUP_CODE" val="m1-1"/>
  <p:tag name="KSO_WM_UNIT_TEXT_FILL_FORE_SCHEMECOLOR_INDEX" val="13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TEMPLATE_CATEGORY" val="custom"/>
  <p:tag name="KSO_WM_TEMPLATE_INDEX" val="160539"/>
  <p:tag name="KSO_WM_TAG_VERSION" val="1.0"/>
  <p:tag name="KSO_WM_SLIDE_ID" val="custom160429_14"/>
  <p:tag name="KSO_WM_SLIDE_INDEX" val="14"/>
  <p:tag name="KSO_WM_SLIDE_ITEM_CNT" val="2"/>
  <p:tag name="KSO_WM_SLIDE_LAYOUT" val="a_m"/>
  <p:tag name="KSO_WM_SLIDE_LAYOUT_CNT" val="1_1"/>
  <p:tag name="KSO_WM_SLIDE_TYPE" val="text"/>
  <p:tag name="KSO_WM_BEAUTIFY_FLAG" val="#wm#"/>
  <p:tag name="KSO_WM_SLIDE_POSITION" val="199*201"/>
  <p:tag name="KSO_WM_SLIDE_SIZE" val="571*210"/>
  <p:tag name="KSO_WM_DIAGRAM_GROUP_CODE" val="m1-1"/>
  <p:tag name="KSO_WM_SPECIAL_SOURCE" val="bdnull"/>
</p:tagLst>
</file>

<file path=ppt/tags/tag19.xml><?xml version="1.0" encoding="utf-8"?>
<p:tagLst xmlns:p="http://schemas.openxmlformats.org/presentationml/2006/main">
  <p:tag name="KSO_WM_TAG_VERSION" val="1.0"/>
  <p:tag name="KSO_WM_TEMPLATE_CATEGORY" val="diagram"/>
  <p:tag name="KSO_WM_TEMPLATE_INDEX" val="160179"/>
  <p:tag name="KSO_WM_UNIT_TYPE" val="g"/>
  <p:tag name="KSO_WM_UNIT_INDEX" val="1"/>
  <p:tag name="KSO_WM_UNIT_ID" val="261*g*1"/>
  <p:tag name="KSO_WM_UNIT_CLEAR" val="1"/>
  <p:tag name="KSO_WM_UNIT_LAYERLEVEL" val="1"/>
  <p:tag name="KSO_WM_UNIT_VALUE" val="20"/>
  <p:tag name="KSO_WM_UNIT_HIGHLIGHT" val="0"/>
  <p:tag name="KSO_WM_UNIT_COMPATIBLE" val="1"/>
  <p:tag name="KSO_WM_UNIT_RELATE_UNITID" val="diagram160179_6*l*1"/>
  <p:tag name="KSO_WM_UNIT_PRESET_TEXT_INDEX" val="3"/>
  <p:tag name="KSO_WM_UNIT_PRESET_TEXT_LEN" val="17"/>
  <p:tag name="KSO_WM_BEAUTIFY_FLAG" val="#wm#"/>
</p:tagLst>
</file>

<file path=ppt/tags/tag20.xml><?xml version="1.0" encoding="utf-8"?>
<p:tagLst xmlns:p="http://schemas.openxmlformats.org/presentationml/2006/main">
  <p:tag name="KSO_WM_SLIDE_ID" val="diagram160179_6"/>
  <p:tag name="KSO_WM_SLIDE_INDEX" val="6"/>
  <p:tag name="KSO_WM_SLIDE_ITEM_CNT" val="1"/>
  <p:tag name="KSO_WM_SLIDE_LAYOUT" val="g_l"/>
  <p:tag name="KSO_WM_SLIDE_LAYOUT_CNT" val="1_1"/>
  <p:tag name="KSO_WM_SLIDE_TYPE" val="text"/>
  <p:tag name="KSO_WM_BEAUTIFY_FLAG" val="#wm#"/>
  <p:tag name="KSO_WM_SLIDE_POSITION" val="265*116"/>
  <p:tag name="KSO_WM_SLIDE_SIZE" val="431*315"/>
  <p:tag name="KSO_WM_TEMPLATE_CATEGORY" val="custom"/>
  <p:tag name="KSO_WM_TEMPLATE_INDEX" val="160539"/>
  <p:tag name="KSO_WM_DIAGRAM_GROUP_CODE" val="l1-1"/>
  <p:tag name="KSO_WM_TAG_VERSION" val="1.0"/>
  <p:tag name="KSO_WM_SPECIAL_SOURCE" val="bdnull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a"/>
  <p:tag name="KSO_WM_UNIT_INDEX" val="1"/>
  <p:tag name="KSO_WM_UNIT_ID" val="diagram160616_1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" val="LOREM IPSUM DOLOR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7"/>
  <p:tag name="KSO_WM_TEMPLATE_CATEGORY" val="diagram"/>
  <p:tag name="KSO_WM_TEMPLATE_INDEX" val="160616"/>
  <p:tag name="KSO_WM_UNIT_INDEX" val="7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1_1_1"/>
  <p:tag name="KSO_WM_UNIT_ID" val="diagram160616_1*m_h_h_a*1_1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5"/>
  <p:tag name="KSO_WM_UNIT_TEXT_FILL_TYPE" val="1"/>
  <p:tag name="KSO_WM_UNIT_USESOURCEFORMAT_APPLY" val="0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1"/>
  <p:tag name="KSO_WM_UNIT_ID" val="diagram160616_1*m_i*1_1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1_1_1"/>
  <p:tag name="KSO_WM_UNIT_ID" val="diagram160616_1*m_h_h_f*1_1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14"/>
  <p:tag name="KSO_WM_TEMPLATE_CATEGORY" val="diagram"/>
  <p:tag name="KSO_WM_TEMPLATE_INDEX" val="160616"/>
  <p:tag name="KSO_WM_UNIT_INDEX" val="14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2_1_1"/>
  <p:tag name="KSO_WM_UNIT_ID" val="diagram160616_1*m_h_h_a*1_2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6"/>
  <p:tag name="KSO_WM_UNIT_TEXT_FILL_TYPE" val="1"/>
  <p:tag name="KSO_WM_UNIT_USESOURCEFORMAT_APPLY" val="0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2"/>
  <p:tag name="KSO_WM_UNIT_ID" val="diagram160616_1*m_i*1_2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2_1_1"/>
  <p:tag name="KSO_WM_UNIT_ID" val="diagram160616_1*m_h_h_f*1_2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21"/>
  <p:tag name="KSO_WM_TEMPLATE_CATEGORY" val="diagram"/>
  <p:tag name="KSO_WM_TEMPLATE_INDEX" val="160616"/>
  <p:tag name="KSO_WM_UNIT_INDEX" val="21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3_1_1"/>
  <p:tag name="KSO_WM_UNIT_ID" val="diagram160616_1*m_h_h_a*1_3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7"/>
  <p:tag name="KSO_WM_UNIT_TEXT_FILL_TYPE" val="1"/>
  <p:tag name="KSO_WM_UNIT_USESOURCEFORMAT_APPLY" val="0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3"/>
  <p:tag name="KSO_WM_UNIT_ID" val="diagram160616_1*m_i*1_3"/>
  <p:tag name="KSO_WM_UNIT_CLEAR" val="1"/>
  <p:tag name="KSO_WM_UNIT_LAYERLEVEL" val="1_1"/>
  <p:tag name="KSO_WM_DIAGRAM_GROUP_CODE" val="m1-1"/>
  <p:tag name="KSO_WM_UNIT_FILL_FORE_SCHEMECOLOR_INDEX" val="7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3_1_1"/>
  <p:tag name="KSO_WM_UNIT_ID" val="diagram160616_1*m_h_h_f*1_3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28"/>
  <p:tag name="KSO_WM_TEMPLATE_CATEGORY" val="diagram"/>
  <p:tag name="KSO_WM_TEMPLATE_INDEX" val="160616"/>
  <p:tag name="KSO_WM_UNIT_INDEX" val="28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4_1_1"/>
  <p:tag name="KSO_WM_UNIT_ID" val="diagram160616_1*m_h_h_a*1_4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5"/>
  <p:tag name="KSO_WM_UNIT_TEXT_FILL_TYPE" val="1"/>
  <p:tag name="KSO_WM_UNIT_USESOURCEFORMAT_APPLY" val="0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4"/>
  <p:tag name="KSO_WM_UNIT_ID" val="diagram160616_1*m_i*1_4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4_1_1"/>
  <p:tag name="KSO_WM_UNIT_ID" val="diagram160616_1*m_h_h_f*1_4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35"/>
  <p:tag name="KSO_WM_TEMPLATE_CATEGORY" val="diagram"/>
  <p:tag name="KSO_WM_TEMPLATE_INDEX" val="160616"/>
  <p:tag name="KSO_WM_UNIT_INDEX" val="35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5_1_1"/>
  <p:tag name="KSO_WM_UNIT_ID" val="diagram160616_1*m_h_h_a*1_5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6"/>
  <p:tag name="KSO_WM_UNIT_TEXT_FILL_TYPE" val="1"/>
  <p:tag name="KSO_WM_UNIT_USESOURCEFORMAT_APPLY" val="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5"/>
  <p:tag name="KSO_WM_UNIT_ID" val="diagram160616_1*m_i*1_5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5_1_1"/>
  <p:tag name="KSO_WM_UNIT_ID" val="diagram160616_1*m_h_h_f*1_5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4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42"/>
  <p:tag name="KSO_WM_TEMPLATE_CATEGORY" val="diagram"/>
  <p:tag name="KSO_WM_TEMPLATE_INDEX" val="160616"/>
  <p:tag name="KSO_WM_UNIT_INDEX" val="42"/>
</p:tagLst>
</file>

<file path=ppt/tags/tag4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6_1_1"/>
  <p:tag name="KSO_WM_UNIT_ID" val="diagram160616_1*m_h_h_a*1_6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7"/>
  <p:tag name="KSO_WM_UNIT_TEXT_FILL_TYPE" val="1"/>
  <p:tag name="KSO_WM_UNIT_USESOURCEFORMAT_APPLY" val="0"/>
</p:tagLst>
</file>

<file path=ppt/tags/tag4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6"/>
  <p:tag name="KSO_WM_UNIT_ID" val="diagram160616_1*m_i*1_6"/>
  <p:tag name="KSO_WM_UNIT_CLEAR" val="1"/>
  <p:tag name="KSO_WM_UNIT_LAYERLEVEL" val="1_1"/>
  <p:tag name="KSO_WM_DIAGRAM_GROUP_CODE" val="m1-1"/>
  <p:tag name="KSO_WM_UNIT_FILL_FORE_SCHEMECOLOR_INDEX" val="7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4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6_1_1"/>
  <p:tag name="KSO_WM_UNIT_ID" val="diagram160616_1*m_h_h_f*1_6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4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a"/>
  <p:tag name="KSO_WM_UNIT_INDEX" val="1"/>
  <p:tag name="KSO_WM_UNIT_ID" val="diagram160616_1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" val="LOREM IPSUM DOLOR"/>
</p:tagLst>
</file>

<file path=ppt/tags/tag4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7"/>
  <p:tag name="KSO_WM_TEMPLATE_CATEGORY" val="diagram"/>
  <p:tag name="KSO_WM_TEMPLATE_INDEX" val="160616"/>
  <p:tag name="KSO_WM_UNIT_INDEX" val="7"/>
</p:tagLst>
</file>

<file path=ppt/tags/tag4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1_1_1"/>
  <p:tag name="KSO_WM_UNIT_ID" val="diagram160616_1*m_h_h_a*1_1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5"/>
  <p:tag name="KSO_WM_UNIT_TEXT_FILL_TYPE" val="1"/>
  <p:tag name="KSO_WM_UNIT_USESOURCEFORMAT_APPLY" val="0"/>
</p:tagLst>
</file>

<file path=ppt/tags/tag4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1"/>
  <p:tag name="KSO_WM_UNIT_ID" val="diagram160616_1*m_i*1_1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5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1_1_1"/>
  <p:tag name="KSO_WM_UNIT_ID" val="diagram160616_1*m_h_h_f*1_1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5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a"/>
  <p:tag name="KSO_WM_UNIT_INDEX" val="1"/>
  <p:tag name="KSO_WM_UNIT_ID" val="diagram160616_1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" val="LOREM IPSUM DOLOR"/>
</p:tagLst>
</file>

<file path=ppt/tags/tag52.xml><?xml version="1.0" encoding="utf-8"?>
<p:tagLst xmlns:p="http://schemas.openxmlformats.org/presentationml/2006/main">
  <p:tag name="KSO_WM_SLIDE_ID" val="diagram160616_1"/>
  <p:tag name="KSO_WM_SLIDE_INDEX" val="1"/>
  <p:tag name="KSO_WM_SLIDE_ITEM_CNT" val="6"/>
  <p:tag name="KSO_WM_SLIDE_LAYOUT" val="a_m"/>
  <p:tag name="KSO_WM_SLIDE_LAYOUT_CNT" val="1_1"/>
  <p:tag name="KSO_WM_SLIDE_TYPE" val="text"/>
  <p:tag name="KSO_WM_BEAUTIFY_FLAG" val="#wm#"/>
  <p:tag name="KSO_WM_SLIDE_POSITION" val="185*106"/>
  <p:tag name="KSO_WM_SLIDE_SIZE" val="589*394"/>
  <p:tag name="KSO_WM_TEMPLATE_CATEGORY" val="custom"/>
  <p:tag name="KSO_WM_TEMPLATE_INDEX" val="160539"/>
  <p:tag name="KSO_WM_TAG_VERSION" val="1.0"/>
  <p:tag name="KSO_WM_DIAGRAM_GROUP_CODE" val="m1-1"/>
  <p:tag name="KSO_WM_SPECIAL_SOURCE" val="bdnull"/>
</p:tagLst>
</file>

<file path=ppt/tags/tag53.xml><?xml version="1.0" encoding="utf-8"?>
<p:tagLst xmlns:p="http://schemas.openxmlformats.org/presentationml/2006/main">
  <p:tag name="KSO_WM_TEMPLATE_CATEGORY" val="custom"/>
  <p:tag name="KSO_WM_TEMPLATE_INDEX" val="160539"/>
  <p:tag name="KSO_WM_TAG_VERSION" val="1.0"/>
  <p:tag name="KSO_WM_SLIDE_ID" val="basetag20163625_6"/>
  <p:tag name="KSO_WM_SLIDE_INDEX" val="6"/>
  <p:tag name="KSO_WM_SLIDE_ITEM_CNT" val="0"/>
  <p:tag name="KSO_WM_SLIDE_TYPE" val="contents"/>
  <p:tag name="KSO_WM_BEAUTIFY_FLAG" val="#wm#"/>
  <p:tag name="KSO_WM_SPECIAL_SOURCE" val="bdnull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5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478_5*i*0"/>
  <p:tag name="KSO_WM_TEMPLATE_CATEGORY" val="diagram"/>
  <p:tag name="KSO_WM_TEMPLATE_INDEX" val="160478"/>
  <p:tag name="KSO_WM_UNIT_INDEX" val="0"/>
</p:tagLst>
</file>

<file path=ppt/tags/tag5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478"/>
  <p:tag name="KSO_WM_UNIT_TYPE" val="m_i"/>
  <p:tag name="KSO_WM_UNIT_INDEX" val="1_1"/>
  <p:tag name="KSO_WM_UNIT_ID" val="diagram160478_5*m_i*1_1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5"/>
  <p:tag name="KSO_WM_UNIT_TEXT_FILL_TYPE" val="1"/>
  <p:tag name="KSO_WM_UNIT_USESOURCEFORMAT_APPLY" val="0"/>
</p:tagLst>
</file>

<file path=ppt/tags/tag5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478"/>
  <p:tag name="KSO_WM_UNIT_TYPE" val="m_h_f"/>
  <p:tag name="KSO_WM_UNIT_INDEX" val="1_1_1"/>
  <p:tag name="KSO_WM_UNIT_ID" val="diagram160478_5*m_h_f*1_1_1"/>
  <p:tag name="KSO_WM_UNIT_CLEAR" val="1"/>
  <p:tag name="KSO_WM_UNIT_LAYERLEVEL" val="1_1_1"/>
  <p:tag name="KSO_WM_UNIT_VALUE" val="10"/>
  <p:tag name="KSO_WM_UNIT_HIGHLIGHT" val="0"/>
  <p:tag name="KSO_WM_UNIT_COMPATIBLE" val="0"/>
  <p:tag name="KSO_WM_DIAGRAM_GROUP_CODE" val="m1-1"/>
  <p:tag name="KSO_WM_UNIT_PRESET_TEXT" val="LOREM IPSUM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6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478_5*i*5"/>
  <p:tag name="KSO_WM_TEMPLATE_CATEGORY" val="diagram"/>
  <p:tag name="KSO_WM_TEMPLATE_INDEX" val="160478"/>
  <p:tag name="KSO_WM_UNIT_INDEX" val="5"/>
</p:tagLst>
</file>

<file path=ppt/tags/tag6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478"/>
  <p:tag name="KSO_WM_UNIT_TYPE" val="m_i"/>
  <p:tag name="KSO_WM_UNIT_INDEX" val="1_2"/>
  <p:tag name="KSO_WM_UNIT_ID" val="diagram160478_5*m_i*1_2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5"/>
  <p:tag name="KSO_WM_UNIT_TEXT_FILL_TYPE" val="1"/>
  <p:tag name="KSO_WM_UNIT_USESOURCEFORMAT_APPLY" val="0"/>
</p:tagLst>
</file>

<file path=ppt/tags/tag6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478"/>
  <p:tag name="KSO_WM_UNIT_TYPE" val="m_h_f"/>
  <p:tag name="KSO_WM_UNIT_INDEX" val="1_2_1"/>
  <p:tag name="KSO_WM_UNIT_ID" val="diagram160478_5*m_h_f*1_2_1"/>
  <p:tag name="KSO_WM_UNIT_CLEAR" val="1"/>
  <p:tag name="KSO_WM_UNIT_LAYERLEVEL" val="1_1_1"/>
  <p:tag name="KSO_WM_UNIT_VALUE" val="10"/>
  <p:tag name="KSO_WM_UNIT_HIGHLIGHT" val="0"/>
  <p:tag name="KSO_WM_UNIT_COMPATIBLE" val="0"/>
  <p:tag name="KSO_WM_DIAGRAM_GROUP_CODE" val="m1-1"/>
  <p:tag name="KSO_WM_UNIT_PRESET_TEXT" val="LOREM IPSUM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6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478_5*i*10"/>
  <p:tag name="KSO_WM_TEMPLATE_CATEGORY" val="diagram"/>
  <p:tag name="KSO_WM_TEMPLATE_INDEX" val="160478"/>
  <p:tag name="KSO_WM_UNIT_INDEX" val="10"/>
</p:tagLst>
</file>

<file path=ppt/tags/tag6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478"/>
  <p:tag name="KSO_WM_UNIT_TYPE" val="m_i"/>
  <p:tag name="KSO_WM_UNIT_INDEX" val="1_3"/>
  <p:tag name="KSO_WM_UNIT_ID" val="diagram160478_5*m_i*1_3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5"/>
  <p:tag name="KSO_WM_UNIT_TEXT_FILL_TYPE" val="1"/>
  <p:tag name="KSO_WM_UNIT_USESOURCEFORMAT_APPLY" val="0"/>
</p:tagLst>
</file>

<file path=ppt/tags/tag6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478"/>
  <p:tag name="KSO_WM_UNIT_TYPE" val="m_h_f"/>
  <p:tag name="KSO_WM_UNIT_INDEX" val="1_5_1"/>
  <p:tag name="KSO_WM_UNIT_ID" val="diagram160478_5*m_h_f*1_5_1"/>
  <p:tag name="KSO_WM_UNIT_CLEAR" val="1"/>
  <p:tag name="KSO_WM_UNIT_LAYERLEVEL" val="1_1_1"/>
  <p:tag name="KSO_WM_UNIT_VALUE" val="10"/>
  <p:tag name="KSO_WM_UNIT_HIGHLIGHT" val="0"/>
  <p:tag name="KSO_WM_UNIT_COMPATIBLE" val="0"/>
  <p:tag name="KSO_WM_DIAGRAM_GROUP_CODE" val="m1-1"/>
  <p:tag name="KSO_WM_UNIT_PRESET_TEXT" val="LOREM IPSUM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478_5*i*17"/>
  <p:tag name="KSO_WM_TEMPLATE_CATEGORY" val="diagram"/>
  <p:tag name="KSO_WM_TEMPLATE_INDEX" val="160478"/>
  <p:tag name="KSO_WM_UNIT_INDEX" val="1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478"/>
  <p:tag name="KSO_WM_UNIT_TYPE" val="m_i"/>
  <p:tag name="KSO_WM_UNIT_INDEX" val="1_4"/>
  <p:tag name="KSO_WM_UNIT_ID" val="diagram160478_5*m_i*1_4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5"/>
  <p:tag name="KSO_WM_UNIT_TEXT_FILL_TYPE" val="1"/>
  <p:tag name="KSO_WM_UNIT_USESOURCEFORMAT_APPLY" val="0"/>
</p:tagLst>
</file>

<file path=ppt/tags/tag6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478"/>
  <p:tag name="KSO_WM_UNIT_TYPE" val="m_h_f"/>
  <p:tag name="KSO_WM_UNIT_INDEX" val="1_3_1"/>
  <p:tag name="KSO_WM_UNIT_ID" val="diagram160478_5*m_h_f*1_3_1"/>
  <p:tag name="KSO_WM_UNIT_CLEAR" val="1"/>
  <p:tag name="KSO_WM_UNIT_LAYERLEVEL" val="1_1_1"/>
  <p:tag name="KSO_WM_UNIT_VALUE" val="10"/>
  <p:tag name="KSO_WM_UNIT_HIGHLIGHT" val="0"/>
  <p:tag name="KSO_WM_UNIT_COMPATIBLE" val="0"/>
  <p:tag name="KSO_WM_DIAGRAM_GROUP_CODE" val="m1-1"/>
  <p:tag name="KSO_WM_UNIT_PRESET_TEXT" val="LOREM IPSUM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6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478_5*i*22"/>
  <p:tag name="KSO_WM_TEMPLATE_CATEGORY" val="diagram"/>
  <p:tag name="KSO_WM_TEMPLATE_INDEX" val="160478"/>
  <p:tag name="KSO_WM_UNIT_INDEX" val="22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478"/>
  <p:tag name="KSO_WM_UNIT_TYPE" val="m_i"/>
  <p:tag name="KSO_WM_UNIT_INDEX" val="1_5"/>
  <p:tag name="KSO_WM_UNIT_ID" val="diagram160478_5*m_i*1_5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5"/>
  <p:tag name="KSO_WM_UNIT_TEXT_FILL_TYPE" val="1"/>
  <p:tag name="KSO_WM_UNIT_USESOURCEFORMAT_APPLY" val="0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478"/>
  <p:tag name="KSO_WM_UNIT_TYPE" val="m_h_f"/>
  <p:tag name="KSO_WM_UNIT_INDEX" val="1_4_1"/>
  <p:tag name="KSO_WM_UNIT_ID" val="diagram160478_5*m_h_f*1_4_1"/>
  <p:tag name="KSO_WM_UNIT_CLEAR" val="1"/>
  <p:tag name="KSO_WM_UNIT_LAYERLEVEL" val="1_1_1"/>
  <p:tag name="KSO_WM_UNIT_VALUE" val="10"/>
  <p:tag name="KSO_WM_UNIT_HIGHLIGHT" val="0"/>
  <p:tag name="KSO_WM_UNIT_COMPATIBLE" val="0"/>
  <p:tag name="KSO_WM_DIAGRAM_GROUP_CODE" val="m1-1"/>
  <p:tag name="KSO_WM_UNIT_PRESET_TEXT" val="LOREM IPSUM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72.xml><?xml version="1.0" encoding="utf-8"?>
<p:tagLst xmlns:p="http://schemas.openxmlformats.org/presentationml/2006/main">
  <p:tag name="KSO_WM_SLIDE_ID" val="diagram160478_5"/>
  <p:tag name="KSO_WM_SLIDE_INDEX" val="5"/>
  <p:tag name="KSO_WM_SLIDE_ITEM_CNT" val="5"/>
  <p:tag name="KSO_WM_SLIDE_LAYOUT" val="a_f_m"/>
  <p:tag name="KSO_WM_SLIDE_LAYOUT_CNT" val="1_1_1"/>
  <p:tag name="KSO_WM_SLIDE_TYPE" val="text"/>
  <p:tag name="KSO_WM_BEAUTIFY_FLAG" val="#wm#"/>
  <p:tag name="KSO_WM_SLIDE_POSITION" val="110*51"/>
  <p:tag name="KSO_WM_SLIDE_SIZE" val="714*433"/>
  <p:tag name="KSO_WM_TEMPLATE_CATEGORY" val="custom"/>
  <p:tag name="KSO_WM_TEMPLATE_INDEX" val="160539"/>
  <p:tag name="KSO_WM_TAG_VERSION" val="1.0"/>
  <p:tag name="KSO_WM_DIAGRAM_GROUP_CODE" val="m1-1"/>
  <p:tag name="KSO_WM_SPECIAL_SOURCE" val="bdnull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82.xml><?xml version="1.0" encoding="utf-8"?>
<p:tagLst xmlns:p="http://schemas.openxmlformats.org/presentationml/2006/main">
  <p:tag name="KSO_WM_TEMPLATE_CATEGORY" val="custom"/>
  <p:tag name="KSO_WM_TEMPLATE_INDEX" val="160539"/>
  <p:tag name="KSO_WM_TAG_VERSION" val="1.0"/>
  <p:tag name="KSO_WM_SLIDE_ID" val="basetag20163625_6"/>
  <p:tag name="KSO_WM_SLIDE_INDEX" val="6"/>
  <p:tag name="KSO_WM_SLIDE_ITEM_CNT" val="0"/>
  <p:tag name="KSO_WM_SLIDE_TYPE" val="contents"/>
  <p:tag name="KSO_WM_BEAUTIFY_FLAG" val="#wm#"/>
  <p:tag name="KSO_WM_SPECIAL_SOURCE" val="bdnull"/>
</p:tagLst>
</file>

<file path=ppt/tags/tag8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92"/>
  <p:tag name="KSO_WM_UNIT_TYPE" val="m_i"/>
  <p:tag name="KSO_WM_UNIT_INDEX" val="1_1"/>
  <p:tag name="KSO_WM_UNIT_ID" val="diagram692_3*m_i*1_1"/>
  <p:tag name="KSO_WM_UNIT_CLEAR" val="1"/>
  <p:tag name="KSO_WM_UNIT_LAYERLEVEL" val="1_1"/>
  <p:tag name="KSO_WM_DIAGRAM_GROUP_CODE" val="m1-1"/>
  <p:tag name="KSO_WM_UNIT_TEXT_FILL_FORE_SCHEMECOLOR_INDEX" val="14"/>
  <p:tag name="KSO_WM_UNIT_TEXT_FILL_TYPE" val="1"/>
  <p:tag name="KSO_WM_UNIT_USESOURCEFORMAT_APPLY" val="0"/>
</p:tagLst>
</file>

<file path=ppt/tags/tag8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92"/>
  <p:tag name="KSO_WM_UNIT_TYPE" val="m_h_a"/>
  <p:tag name="KSO_WM_UNIT_INDEX" val="1_1_1"/>
  <p:tag name="KSO_WM_UNIT_ID" val="diagram692_3*m_h_a*1_1_1"/>
  <p:tag name="KSO_WM_UNIT_CLEAR" val="1"/>
  <p:tag name="KSO_WM_UNIT_LAYERLEVEL" val="1_1_1"/>
  <p:tag name="KSO_WM_UNIT_VALUE" val="24"/>
  <p:tag name="KSO_WM_UNIT_HIGHLIGHT" val="0"/>
  <p:tag name="KSO_WM_UNIT_COMPATIBLE" val="0"/>
  <p:tag name="KSO_WM_DIAGRAM_GROUP_CODE" val="m1-1"/>
  <p:tag name="KSO_WM_UNIT_PRESET_TEXT" val="LOREM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8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92"/>
  <p:tag name="KSO_WM_UNIT_TYPE" val="m_h_a"/>
  <p:tag name="KSO_WM_UNIT_INDEX" val="1_3_1"/>
  <p:tag name="KSO_WM_UNIT_ID" val="diagram692_3*m_h_a*1_3_1"/>
  <p:tag name="KSO_WM_UNIT_CLEAR" val="1"/>
  <p:tag name="KSO_WM_UNIT_LAYERLEVEL" val="1_1_1"/>
  <p:tag name="KSO_WM_UNIT_VALUE" val="24"/>
  <p:tag name="KSO_WM_UNIT_HIGHLIGHT" val="0"/>
  <p:tag name="KSO_WM_UNIT_COMPATIBLE" val="0"/>
  <p:tag name="KSO_WM_DIAGRAM_GROUP_CODE" val="m1-1"/>
  <p:tag name="KSO_WM_UNIT_PRESET_TEXT" val="LOREM"/>
  <p:tag name="KSO_WM_UNIT_FILL_FORE_SCHEMECOLOR_INDEX" val="7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8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92"/>
  <p:tag name="KSO_WM_UNIT_TYPE" val="m_h_a"/>
  <p:tag name="KSO_WM_UNIT_INDEX" val="1_2_1"/>
  <p:tag name="KSO_WM_UNIT_ID" val="diagram692_3*m_h_a*1_2_1"/>
  <p:tag name="KSO_WM_UNIT_CLEAR" val="1"/>
  <p:tag name="KSO_WM_UNIT_LAYERLEVEL" val="1_1_1"/>
  <p:tag name="KSO_WM_UNIT_VALUE" val="24"/>
  <p:tag name="KSO_WM_UNIT_HIGHLIGHT" val="0"/>
  <p:tag name="KSO_WM_UNIT_COMPATIBLE" val="0"/>
  <p:tag name="KSO_WM_DIAGRAM_GROUP_CODE" val="m1-1"/>
  <p:tag name="KSO_WM_UNIT_PRESET_TEXT" val="LOREM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8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92"/>
  <p:tag name="KSO_WM_UNIT_TYPE" val="m_h_a"/>
  <p:tag name="KSO_WM_UNIT_INDEX" val="1_4_1"/>
  <p:tag name="KSO_WM_UNIT_ID" val="diagram692_3*m_h_a*1_4_1"/>
  <p:tag name="KSO_WM_UNIT_CLEAR" val="1"/>
  <p:tag name="KSO_WM_UNIT_LAYERLEVEL" val="1_1_1"/>
  <p:tag name="KSO_WM_UNIT_VALUE" val="24"/>
  <p:tag name="KSO_WM_UNIT_HIGHLIGHT" val="0"/>
  <p:tag name="KSO_WM_UNIT_COMPATIBLE" val="0"/>
  <p:tag name="KSO_WM_DIAGRAM_GROUP_CODE" val="m1-1"/>
  <p:tag name="KSO_WM_UNIT_PRESET_TEXT" val="LOREM"/>
  <p:tag name="KSO_WM_UNIT_FILL_FORE_SCHEMECOLOR_INDEX" val="8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8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92"/>
  <p:tag name="KSO_WM_UNIT_TYPE" val="m_h_f"/>
  <p:tag name="KSO_WM_UNIT_INDEX" val="1_1_1"/>
  <p:tag name="KSO_WM_UNIT_ID" val="diagram692_3*m_h_f*1_1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46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8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92"/>
  <p:tag name="KSO_WM_UNIT_TYPE" val="m_h_f"/>
  <p:tag name="KSO_WM_UNIT_INDEX" val="1_3_1"/>
  <p:tag name="KSO_WM_UNIT_ID" val="diagram692_3*m_h_f*1_3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46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9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92"/>
  <p:tag name="KSO_WM_UNIT_TYPE" val="m_h_f"/>
  <p:tag name="KSO_WM_UNIT_INDEX" val="1_2_1"/>
  <p:tag name="KSO_WM_UNIT_ID" val="diagram692_3*m_h_f*1_2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46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9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692"/>
  <p:tag name="KSO_WM_UNIT_TYPE" val="m_h_f"/>
  <p:tag name="KSO_WM_UNIT_INDEX" val="1_4_1"/>
  <p:tag name="KSO_WM_UNIT_ID" val="diagram692_3*m_h_f*1_4_1"/>
  <p:tag name="KSO_WM_UNIT_CLEAR" val="1"/>
  <p:tag name="KSO_WM_UNIT_LAYERLEVEL" val="1_1_1"/>
  <p:tag name="KSO_WM_UNIT_VALUE" val="24"/>
  <p:tag name="KSO_WM_UNIT_HIGHLIGHT" val="0"/>
  <p:tag name="KSO_WM_UNIT_COMPATIBLE" val="0"/>
  <p:tag name="KSO_WM_UNIT_PRESET_TEXT_INDEX" val="4"/>
  <p:tag name="KSO_WM_UNIT_PRESET_TEXT_LEN" val="46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92.xml><?xml version="1.0" encoding="utf-8"?>
<p:tagLst xmlns:p="http://schemas.openxmlformats.org/presentationml/2006/main">
  <p:tag name="KSO_WM_SLIDE_ID" val="diagram692_3"/>
  <p:tag name="KSO_WM_SLIDE_INDEX" val="3"/>
  <p:tag name="KSO_WM_SLIDE_ITEM_CNT" val="4"/>
  <p:tag name="KSO_WM_SLIDE_LAYOUT" val="m_a"/>
  <p:tag name="KSO_WM_SLIDE_LAYOUT_CNT" val="1_1"/>
  <p:tag name="KSO_WM_SLIDE_TYPE" val="text"/>
  <p:tag name="KSO_WM_BEAUTIFY_FLAG" val="#wm#"/>
  <p:tag name="KSO_WM_SLIDE_POSITION" val="90*146"/>
  <p:tag name="KSO_WM_SLIDE_SIZE" val="781*300"/>
  <p:tag name="KSO_WM_TEMPLATE_CATEGORY" val="custom"/>
  <p:tag name="KSO_WM_TEMPLATE_INDEX" val="160539"/>
  <p:tag name="KSO_WM_DIAGRAM_GROUP_CODE" val="m1-1"/>
  <p:tag name="KSO_WM_TAG_VERSION" val="1.0"/>
  <p:tag name="KSO_WM_SPECIAL_SOURCE" val="bdnull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9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a"/>
  <p:tag name="KSO_WM_UNIT_INDEX" val="1"/>
  <p:tag name="KSO_WM_UNIT_ID" val="diagram160616_1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" val="LOREM IPSUM DOLOR"/>
</p:tagLst>
</file>

<file path=ppt/tags/tag9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7"/>
  <p:tag name="KSO_WM_TEMPLATE_CATEGORY" val="diagram"/>
  <p:tag name="KSO_WM_TEMPLATE_INDEX" val="160616"/>
  <p:tag name="KSO_WM_UNIT_INDEX" val="7"/>
</p:tagLst>
</file>

<file path=ppt/tags/tag9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1_1_1"/>
  <p:tag name="KSO_WM_UNIT_ID" val="diagram160616_1*m_h_h_a*1_1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5"/>
  <p:tag name="KSO_WM_UNIT_TEXT_FILL_TYPE" val="1"/>
  <p:tag name="KSO_WM_UNIT_USESOURCEFORMAT_APPLY" val="0"/>
</p:tagLst>
</file>

<file path=ppt/tags/tag9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1"/>
  <p:tag name="KSO_WM_UNIT_ID" val="diagram160616_1*m_i*1_1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9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1_1_1"/>
  <p:tag name="KSO_WM_UNIT_ID" val="diagram160616_1*m_h_h_f*1_1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9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14"/>
  <p:tag name="KSO_WM_TEMPLATE_CATEGORY" val="diagram"/>
  <p:tag name="KSO_WM_TEMPLATE_INDEX" val="160616"/>
  <p:tag name="KSO_WM_UNIT_INDEX" val="14"/>
</p:tagLst>
</file>

<file path=ppt/tags/tag10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2_1_1"/>
  <p:tag name="KSO_WM_UNIT_ID" val="diagram160616_1*m_h_h_a*1_2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6"/>
  <p:tag name="KSO_WM_UNIT_TEXT_FILL_TYPE" val="1"/>
  <p:tag name="KSO_WM_UNIT_USESOURCEFORMAT_APPLY" val="0"/>
</p:tagLst>
</file>

<file path=ppt/tags/tag10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2"/>
  <p:tag name="KSO_WM_UNIT_ID" val="diagram160616_1*m_i*1_2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10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2_1_1"/>
  <p:tag name="KSO_WM_UNIT_ID" val="diagram160616_1*m_h_h_f*1_2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10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21"/>
  <p:tag name="KSO_WM_TEMPLATE_CATEGORY" val="diagram"/>
  <p:tag name="KSO_WM_TEMPLATE_INDEX" val="160616"/>
  <p:tag name="KSO_WM_UNIT_INDEX" val="21"/>
</p:tagLst>
</file>

<file path=ppt/tags/tag10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3_1_1"/>
  <p:tag name="KSO_WM_UNIT_ID" val="diagram160616_1*m_h_h_a*1_3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7"/>
  <p:tag name="KSO_WM_UNIT_TEXT_FILL_TYPE" val="1"/>
  <p:tag name="KSO_WM_UNIT_USESOURCEFORMAT_APPLY" val="0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3"/>
  <p:tag name="KSO_WM_UNIT_ID" val="diagram160616_1*m_i*1_3"/>
  <p:tag name="KSO_WM_UNIT_CLEAR" val="1"/>
  <p:tag name="KSO_WM_UNIT_LAYERLEVEL" val="1_1"/>
  <p:tag name="KSO_WM_DIAGRAM_GROUP_CODE" val="m1-1"/>
  <p:tag name="KSO_WM_UNIT_FILL_FORE_SCHEMECOLOR_INDEX" val="7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10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3_1_1"/>
  <p:tag name="KSO_WM_UNIT_ID" val="diagram160616_1*m_h_h_f*1_3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10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28"/>
  <p:tag name="KSO_WM_TEMPLATE_CATEGORY" val="diagram"/>
  <p:tag name="KSO_WM_TEMPLATE_INDEX" val="160616"/>
  <p:tag name="KSO_WM_UNIT_INDEX" val="28"/>
</p:tagLst>
</file>

<file path=ppt/tags/tag10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4_1_1"/>
  <p:tag name="KSO_WM_UNIT_ID" val="diagram160616_1*m_h_h_a*1_4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5"/>
  <p:tag name="KSO_WM_UNIT_TEXT_FILL_TYPE" val="1"/>
  <p:tag name="KSO_WM_UNIT_USESOURCEFORMAT_APPLY" val="0"/>
</p:tagLst>
</file>

<file path=ppt/tags/tag10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4"/>
  <p:tag name="KSO_WM_UNIT_ID" val="diagram160616_1*m_i*1_4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11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4_1_1"/>
  <p:tag name="KSO_WM_UNIT_ID" val="diagram160616_1*m_h_h_f*1_4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1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35"/>
  <p:tag name="KSO_WM_TEMPLATE_CATEGORY" val="diagram"/>
  <p:tag name="KSO_WM_TEMPLATE_INDEX" val="160616"/>
  <p:tag name="KSO_WM_UNIT_INDEX" val="35"/>
</p:tagLst>
</file>

<file path=ppt/tags/tag11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5_1_1"/>
  <p:tag name="KSO_WM_UNIT_ID" val="diagram160616_1*m_h_h_a*1_5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6"/>
  <p:tag name="KSO_WM_UNIT_TEXT_FILL_TYPE" val="1"/>
  <p:tag name="KSO_WM_UNIT_USESOURCEFORMAT_APPLY" val="0"/>
</p:tagLst>
</file>

<file path=ppt/tags/tag11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5"/>
  <p:tag name="KSO_WM_UNIT_ID" val="diagram160616_1*m_i*1_5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11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5_1_1"/>
  <p:tag name="KSO_WM_UNIT_ID" val="diagram160616_1*m_h_h_f*1_5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1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42"/>
  <p:tag name="KSO_WM_TEMPLATE_CATEGORY" val="diagram"/>
  <p:tag name="KSO_WM_TEMPLATE_INDEX" val="160616"/>
  <p:tag name="KSO_WM_UNIT_INDEX" val="42"/>
</p:tagLst>
</file>

<file path=ppt/tags/tag11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6_1_1"/>
  <p:tag name="KSO_WM_UNIT_ID" val="diagram160616_1*m_h_h_a*1_6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7"/>
  <p:tag name="KSO_WM_UNIT_TEXT_FILL_TYPE" val="1"/>
  <p:tag name="KSO_WM_UNIT_USESOURCEFORMAT_APPLY" val="0"/>
</p:tagLst>
</file>

<file path=ppt/tags/tag11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6"/>
  <p:tag name="KSO_WM_UNIT_ID" val="diagram160616_1*m_i*1_6"/>
  <p:tag name="KSO_WM_UNIT_CLEAR" val="1"/>
  <p:tag name="KSO_WM_UNIT_LAYERLEVEL" val="1_1"/>
  <p:tag name="KSO_WM_DIAGRAM_GROUP_CODE" val="m1-1"/>
  <p:tag name="KSO_WM_UNIT_FILL_FORE_SCHEMECOLOR_INDEX" val="7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11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6_1_1"/>
  <p:tag name="KSO_WM_UNIT_ID" val="diagram160616_1*m_h_h_f*1_6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1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16_1*i*7"/>
  <p:tag name="KSO_WM_TEMPLATE_CATEGORY" val="diagram"/>
  <p:tag name="KSO_WM_TEMPLATE_INDEX" val="160616"/>
  <p:tag name="KSO_WM_UNIT_INDEX" val="7"/>
</p:tagLst>
</file>

<file path=ppt/tags/tag12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a"/>
  <p:tag name="KSO_WM_UNIT_INDEX" val="1_1_1_1"/>
  <p:tag name="KSO_WM_UNIT_ID" val="diagram160616_1*m_h_h_a*1_1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36"/>
  <p:tag name="KSO_WM_DIAGRAM_GROUP_CODE" val="m1-1"/>
  <p:tag name="KSO_WM_UNIT_TEXT_FILL_FORE_SCHEMECOLOR_INDEX" val="5"/>
  <p:tag name="KSO_WM_UNIT_TEXT_FILL_TYPE" val="1"/>
  <p:tag name="KSO_WM_UNIT_USESOURCEFORMAT_APPLY" val="0"/>
</p:tagLst>
</file>

<file path=ppt/tags/tag12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i"/>
  <p:tag name="KSO_WM_UNIT_INDEX" val="1_1"/>
  <p:tag name="KSO_WM_UNIT_ID" val="diagram160616_1*m_i*1_1"/>
  <p:tag name="KSO_WM_UNIT_CLEAR" val="1"/>
  <p:tag name="KSO_WM_UNIT_LAYERLEVEL" val="1_1"/>
  <p:tag name="KSO_WM_DIAGRAM_GROUP_CODE" val="m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0"/>
</p:tagLst>
</file>

<file path=ppt/tags/tag12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16"/>
  <p:tag name="KSO_WM_UNIT_TYPE" val="m_h_h_f"/>
  <p:tag name="KSO_WM_UNIT_INDEX" val="1_1_1_1"/>
  <p:tag name="KSO_WM_UNIT_ID" val="diagram160616_1*m_h_h_f*1_1_1_1"/>
  <p:tag name="KSO_WM_UNIT_CLEAR" val="1"/>
  <p:tag name="KSO_WM_UNIT_LAYERLEVEL" val="1_1_1_1"/>
  <p:tag name="KSO_WM_UNIT_VALUE" val="20"/>
  <p:tag name="KSO_WM_UNIT_HIGHLIGHT" val="0"/>
  <p:tag name="KSO_WM_UNIT_COMPATIBLE" val="0"/>
  <p:tag name="KSO_WM_UNIT_PRESET_TEXT_INDEX" val="4"/>
  <p:tag name="KSO_WM_UNIT_PRESET_TEXT_LEN" val="43"/>
  <p:tag name="KSO_WM_DIAGRAM_GROUP_CODE" val="m1-1"/>
  <p:tag name="KSO_WM_UNIT_TEXT_FILL_FORE_SCHEMECOLOR_INDEX" val="13"/>
  <p:tag name="KSO_WM_UNIT_TEXT_FILL_TYPE" val="1"/>
  <p:tag name="KSO_WM_UNIT_USESOURCEFORMAT_APPLY" val="0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160539"/>
  <p:tag name="KSO_WM_SPECIAL_SOURCE" val="bdnull"/>
</p:tagLst>
</file>

<file path=ppt/tags/tag1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301_3*i*1"/>
  <p:tag name="KSO_WM_TEMPLATE_CATEGORY" val="diagram"/>
  <p:tag name="KSO_WM_TEMPLATE_INDEX" val="160301"/>
  <p:tag name="KSO_WM_UNIT_INDEX" val="1"/>
</p:tagLst>
</file>

<file path=ppt/tags/tag126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i"/>
  <p:tag name="KSO_WM_UNIT_INDEX" val="1_1"/>
  <p:tag name="KSO_WM_UNIT_ID" val="258*l_i*1_1"/>
  <p:tag name="KSO_WM_UNIT_CLEAR" val="1"/>
  <p:tag name="KSO_WM_UNIT_LAYERLEVEL" val="1_1"/>
  <p:tag name="KSO_WM_BEAUTIFY_FLAG" val="#wm#"/>
  <p:tag name="KSO_WM_DIAGRAM_GROUP_CODE" val="l1-1"/>
  <p:tag name="KSO_WM_UNIT_FILL_FORE_SCHEMECOLOR_INDEX" val="5"/>
  <p:tag name="KSO_WM_UNIT_FILL_TYPE" val="1"/>
  <p:tag name="KSO_WM_UNIT_USESOURCEFORMAT_APPLY" val="0"/>
</p:tagLst>
</file>

<file path=ppt/tags/tag127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h_a"/>
  <p:tag name="KSO_WM_UNIT_INDEX" val="1_1_1"/>
  <p:tag name="KSO_WM_UNIT_ID" val="258*l_h_a*1_1_1"/>
  <p:tag name="KSO_WM_UNIT_CLEAR" val="1"/>
  <p:tag name="KSO_WM_UNIT_LAYERLEVEL" val="1_1_1"/>
  <p:tag name="KSO_WM_UNIT_VALUE" val="8"/>
  <p:tag name="KSO_WM_UNIT_HIGHLIGHT" val="0"/>
  <p:tag name="KSO_WM_UNIT_COMPATIBLE" val="0"/>
  <p:tag name="KSO_WM_UNIT_PRESET_TEXT" val="AMET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5"/>
  <p:tag name="KSO_WM_UNIT_TEXT_FILL_TYPE" val="1"/>
  <p:tag name="KSO_WM_UNIT_USESOURCEFORMAT_APPLY" val="0"/>
</p:tagLst>
</file>

<file path=ppt/tags/tag128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i"/>
  <p:tag name="KSO_WM_UNIT_INDEX" val="1_2"/>
  <p:tag name="KSO_WM_UNIT_ID" val="258*l_i*1_2"/>
  <p:tag name="KSO_WM_UNIT_CLEAR" val="1"/>
  <p:tag name="KSO_WM_UNIT_LAYERLEVEL" val="1_1"/>
  <p:tag name="KSO_WM_BEAUTIFY_FLAG" val="#wm#"/>
  <p:tag name="KSO_WM_DIAGRAM_GROUP_CODE" val="l1-1"/>
  <p:tag name="KSO_WM_UNIT_USESOURCEFORMAT_APPLY" val="0"/>
</p:tagLst>
</file>

<file path=ppt/tags/tag129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h_f"/>
  <p:tag name="KSO_WM_UNIT_INDEX" val="1_1_1"/>
  <p:tag name="KSO_WM_UNIT_ID" val="258*l_h_f*1_1_1"/>
  <p:tag name="KSO_WM_UNIT_CLEAR" val="1"/>
  <p:tag name="KSO_WM_UNIT_LAYERLEVEL" val="1_1_1"/>
  <p:tag name="KSO_WM_UNIT_VALUE" val="26"/>
  <p:tag name="KSO_WM_UNIT_HIGHLIGHT" val="0"/>
  <p:tag name="KSO_WM_UNIT_COMPATIBLE" val="0"/>
  <p:tag name="KSO_WM_BEAUTIFY_FLAG" val="#wm#"/>
  <p:tag name="KSO_WM_UNIT_PRESET_TEXT_INDEX" val="4"/>
  <p:tag name="KSO_WM_UNIT_PRESET_TEXT_LEN" val="56"/>
  <p:tag name="KSO_WM_DIAGRAM_GROUP_CODE" val="l1-1"/>
  <p:tag name="KSO_WM_UNIT_TEXT_FILL_FORE_SCHEMECOLOR_INDEX" val="13"/>
  <p:tag name="KSO_WM_UNIT_TEXT_FILL_TYPE" val="1"/>
  <p:tag name="KSO_WM_UNIT_USESOURCEFORMAT_APPLY" val="0"/>
</p:tagLst>
</file>

<file path=ppt/tags/tag1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301_3*i*9"/>
  <p:tag name="KSO_WM_TEMPLATE_CATEGORY" val="diagram"/>
  <p:tag name="KSO_WM_TEMPLATE_INDEX" val="160301"/>
  <p:tag name="KSO_WM_UNIT_INDEX" val="9"/>
</p:tagLst>
</file>

<file path=ppt/tags/tag131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i"/>
  <p:tag name="KSO_WM_UNIT_INDEX" val="1_3"/>
  <p:tag name="KSO_WM_UNIT_ID" val="258*l_i*1_3"/>
  <p:tag name="KSO_WM_UNIT_CLEAR" val="1"/>
  <p:tag name="KSO_WM_UNIT_LAYERLEVEL" val="1_1"/>
  <p:tag name="KSO_WM_BEAUTIFY_FLAG" val="#wm#"/>
  <p:tag name="KSO_WM_DIAGRAM_GROUP_CODE" val="l1-1"/>
  <p:tag name="KSO_WM_UNIT_FILL_FORE_SCHEMECOLOR_INDEX" val="6"/>
  <p:tag name="KSO_WM_UNIT_FILL_TYPE" val="1"/>
  <p:tag name="KSO_WM_UNIT_USESOURCEFORMAT_APPLY" val="0"/>
</p:tagLst>
</file>

<file path=ppt/tags/tag132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h_a"/>
  <p:tag name="KSO_WM_UNIT_INDEX" val="1_2_1"/>
  <p:tag name="KSO_WM_UNIT_ID" val="258*l_h_a*1_2_1"/>
  <p:tag name="KSO_WM_UNIT_CLEAR" val="1"/>
  <p:tag name="KSO_WM_UNIT_LAYERLEVEL" val="1_1_1"/>
  <p:tag name="KSO_WM_UNIT_VALUE" val="8"/>
  <p:tag name="KSO_WM_UNIT_HIGHLIGHT" val="0"/>
  <p:tag name="KSO_WM_UNIT_COMPATIBLE" val="0"/>
  <p:tag name="KSO_WM_UNIT_PRESET_TEXT" val="AMET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6"/>
  <p:tag name="KSO_WM_UNIT_TEXT_FILL_TYPE" val="1"/>
  <p:tag name="KSO_WM_UNIT_USESOURCEFORMAT_APPLY" val="0"/>
</p:tagLst>
</file>

<file path=ppt/tags/tag133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i"/>
  <p:tag name="KSO_WM_UNIT_INDEX" val="1_4"/>
  <p:tag name="KSO_WM_UNIT_ID" val="258*l_i*1_4"/>
  <p:tag name="KSO_WM_UNIT_CLEAR" val="1"/>
  <p:tag name="KSO_WM_UNIT_LAYERLEVEL" val="1_1"/>
  <p:tag name="KSO_WM_BEAUTIFY_FLAG" val="#wm#"/>
  <p:tag name="KSO_WM_DIAGRAM_GROUP_CODE" val="l1-1"/>
  <p:tag name="KSO_WM_UNIT_USESOURCEFORMAT_APPLY" val="0"/>
</p:tagLst>
</file>

<file path=ppt/tags/tag134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h_f"/>
  <p:tag name="KSO_WM_UNIT_INDEX" val="1_2_1"/>
  <p:tag name="KSO_WM_UNIT_ID" val="258*l_h_f*1_2_1"/>
  <p:tag name="KSO_WM_UNIT_CLEAR" val="1"/>
  <p:tag name="KSO_WM_UNIT_LAYERLEVEL" val="1_1_1"/>
  <p:tag name="KSO_WM_UNIT_VALUE" val="26"/>
  <p:tag name="KSO_WM_UNIT_HIGHLIGHT" val="0"/>
  <p:tag name="KSO_WM_UNIT_COMPATIBLE" val="0"/>
  <p:tag name="KSO_WM_BEAUTIFY_FLAG" val="#wm#"/>
  <p:tag name="KSO_WM_UNIT_PRESET_TEXT_INDEX" val="4"/>
  <p:tag name="KSO_WM_UNIT_PRESET_TEXT_LEN" val="56"/>
  <p:tag name="KSO_WM_DIAGRAM_GROUP_CODE" val="l1-1"/>
  <p:tag name="KSO_WM_UNIT_TEXT_FILL_FORE_SCHEMECOLOR_INDEX" val="13"/>
  <p:tag name="KSO_WM_UNIT_TEXT_FILL_TYPE" val="1"/>
  <p:tag name="KSO_WM_UNIT_USESOURCEFORMAT_APPLY" val="0"/>
</p:tagLst>
</file>

<file path=ppt/tags/tag1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301_3*i*17"/>
  <p:tag name="KSO_WM_TEMPLATE_CATEGORY" val="diagram"/>
  <p:tag name="KSO_WM_TEMPLATE_INDEX" val="160301"/>
  <p:tag name="KSO_WM_UNIT_INDEX" val="17"/>
</p:tagLst>
</file>

<file path=ppt/tags/tag136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i"/>
  <p:tag name="KSO_WM_UNIT_INDEX" val="1_5"/>
  <p:tag name="KSO_WM_UNIT_ID" val="258*l_i*1_5"/>
  <p:tag name="KSO_WM_UNIT_CLEAR" val="1"/>
  <p:tag name="KSO_WM_UNIT_LAYERLEVEL" val="1_1"/>
  <p:tag name="KSO_WM_BEAUTIFY_FLAG" val="#wm#"/>
  <p:tag name="KSO_WM_DIAGRAM_GROUP_CODE" val="l1-1"/>
  <p:tag name="KSO_WM_UNIT_FILL_FORE_SCHEMECOLOR_INDEX" val="7"/>
  <p:tag name="KSO_WM_UNIT_FILL_TYPE" val="1"/>
  <p:tag name="KSO_WM_UNIT_USESOURCEFORMAT_APPLY" val="0"/>
</p:tagLst>
</file>

<file path=ppt/tags/tag137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h_a"/>
  <p:tag name="KSO_WM_UNIT_INDEX" val="1_3_1"/>
  <p:tag name="KSO_WM_UNIT_ID" val="258*l_h_a*1_3_1"/>
  <p:tag name="KSO_WM_UNIT_CLEAR" val="1"/>
  <p:tag name="KSO_WM_UNIT_LAYERLEVEL" val="1_1_1"/>
  <p:tag name="KSO_WM_UNIT_VALUE" val="8"/>
  <p:tag name="KSO_WM_UNIT_HIGHLIGHT" val="0"/>
  <p:tag name="KSO_WM_UNIT_COMPATIBLE" val="0"/>
  <p:tag name="KSO_WM_UNIT_PRESET_TEXT" val="AMET"/>
  <p:tag name="KSO_WM_BEAUTIFY_FLAG" val="#wm#"/>
  <p:tag name="KSO_WM_DIAGRAM_GROUP_CODE" val="l1-1"/>
  <p:tag name="KSO_WM_UNIT_FILL_FORE_SCHEMECOLOR_INDEX" val="14"/>
  <p:tag name="KSO_WM_UNIT_FILL_TYPE" val="1"/>
  <p:tag name="KSO_WM_UNIT_TEXT_FILL_FORE_SCHEMECOLOR_INDEX" val="7"/>
  <p:tag name="KSO_WM_UNIT_TEXT_FILL_TYPE" val="1"/>
  <p:tag name="KSO_WM_UNIT_USESOURCEFORMAT_APPLY" val="0"/>
</p:tagLst>
</file>

<file path=ppt/tags/tag138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i"/>
  <p:tag name="KSO_WM_UNIT_INDEX" val="1_6"/>
  <p:tag name="KSO_WM_UNIT_ID" val="258*l_i*1_6"/>
  <p:tag name="KSO_WM_UNIT_CLEAR" val="1"/>
  <p:tag name="KSO_WM_UNIT_LAYERLEVEL" val="1_1"/>
  <p:tag name="KSO_WM_BEAUTIFY_FLAG" val="#wm#"/>
  <p:tag name="KSO_WM_DIAGRAM_GROUP_CODE" val="l1-1"/>
  <p:tag name="KSO_WM_UNIT_USESOURCEFORMAT_APPLY" val="0"/>
</p:tagLst>
</file>

<file path=ppt/tags/tag139.xml><?xml version="1.0" encoding="utf-8"?>
<p:tagLst xmlns:p="http://schemas.openxmlformats.org/presentationml/2006/main">
  <p:tag name="KSO_WM_TAG_VERSION" val="1.0"/>
  <p:tag name="KSO_WM_TEMPLATE_CATEGORY" val="diagram"/>
  <p:tag name="KSO_WM_TEMPLATE_INDEX" val="160301"/>
  <p:tag name="KSO_WM_UNIT_TYPE" val="l_h_f"/>
  <p:tag name="KSO_WM_UNIT_INDEX" val="1_3_1"/>
  <p:tag name="KSO_WM_UNIT_ID" val="258*l_h_f*1_3_1"/>
  <p:tag name="KSO_WM_UNIT_CLEAR" val="1"/>
  <p:tag name="KSO_WM_UNIT_LAYERLEVEL" val="1_1_1"/>
  <p:tag name="KSO_WM_UNIT_VALUE" val="26"/>
  <p:tag name="KSO_WM_UNIT_HIGHLIGHT" val="0"/>
  <p:tag name="KSO_WM_UNIT_COMPATIBLE" val="0"/>
  <p:tag name="KSO_WM_BEAUTIFY_FLAG" val="#wm#"/>
  <p:tag name="KSO_WM_UNIT_PRESET_TEXT_INDEX" val="4"/>
  <p:tag name="KSO_WM_UNIT_PRESET_TEXT_LEN" val="56"/>
  <p:tag name="KSO_WM_DIAGRAM_GROUP_CODE" val="l1-1"/>
  <p:tag name="KSO_WM_UNIT_TEXT_FILL_FORE_SCHEMECOLOR_INDEX" val="13"/>
  <p:tag name="KSO_WM_UNIT_TEXT_FILL_TYPE" val="1"/>
  <p:tag name="KSO_WM_UNIT_USESOURCEFORMAT_APPLY" val="0"/>
</p:tagLst>
</file>

<file path=ppt/tags/tag140.xml><?xml version="1.0" encoding="utf-8"?>
<p:tagLst xmlns:p="http://schemas.openxmlformats.org/presentationml/2006/main">
  <p:tag name="KSO_WM_SLIDE_ID" val="diagram160301_3"/>
  <p:tag name="KSO_WM_SLIDE_INDEX" val="3"/>
  <p:tag name="KSO_WM_SLIDE_ITEM_CNT" val="3"/>
  <p:tag name="KSO_WM_SLIDE_LAYOUT" val="a_l"/>
  <p:tag name="KSO_WM_SLIDE_LAYOUT_CNT" val="1_1"/>
  <p:tag name="KSO_WM_SLIDE_TYPE" val="text"/>
  <p:tag name="KSO_WM_BEAUTIFY_FLAG" val="#wm#"/>
  <p:tag name="KSO_WM_SLIDE_POSITION" val="193*134"/>
  <p:tag name="KSO_WM_SLIDE_SIZE" val="596*313"/>
  <p:tag name="KSO_WM_TEMPLATE_CATEGORY" val="custom"/>
  <p:tag name="KSO_WM_TEMPLATE_INDEX" val="160539"/>
  <p:tag name="KSO_WM_DIAGRAM_GROUP_CODE" val="l1-1"/>
  <p:tag name="KSO_WM_TAG_VERSION" val="1.0"/>
  <p:tag name="KSO_WM_SPECIAL_SOURCE" val="bdnull"/>
</p:tagLst>
</file>

<file path=ppt/tags/tag14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47"/>
  <p:tag name="KSO_WM_UNIT_TYPE" val="a"/>
  <p:tag name="KSO_WM_UNIT_INDEX" val="1"/>
  <p:tag name="KSO_WM_UNIT_ID" val="custom160447_31*a*1"/>
  <p:tag name="KSO_WM_UNIT_CLEAR" val="1"/>
  <p:tag name="KSO_WM_UNIT_LAYERLEVEL" val="1"/>
  <p:tag name="KSO_WM_UNIT_VALUE" val="8"/>
  <p:tag name="KSO_WM_UNIT_ISCONTENTSTITLE" val="0"/>
  <p:tag name="KSO_WM_UNIT_HIGHLIGHT" val="0"/>
  <p:tag name="KSO_WM_UNIT_COMPATIBLE" val="0"/>
  <p:tag name="KSO_WM_UNIT_PRESET_TEXT" val="THANKYOU"/>
</p:tagLst>
</file>

<file path=ppt/tags/tag142.xml><?xml version="1.0" encoding="utf-8"?>
<p:tagLst xmlns:p="http://schemas.openxmlformats.org/presentationml/2006/main">
  <p:tag name="KSO_WM_TEMPLATE_CATEGORY" val="custom"/>
  <p:tag name="KSO_WM_TEMPLATE_INDEX" val="160447"/>
  <p:tag name="KSO_WM_TAG_VERSION" val="1.0"/>
  <p:tag name="KSO_WM_SLIDE_ID" val="custom160447_31"/>
  <p:tag name="KSO_WM_SLIDE_INDEX" val="31"/>
  <p:tag name="KSO_WM_SLIDE_ITEM_CNT" val="1"/>
  <p:tag name="KSO_WM_SLIDE_LAYOUT" val="a"/>
  <p:tag name="KSO_WM_SLIDE_LAYOUT_CNT" val="1"/>
  <p:tag name="KSO_WM_SLIDE_TYPE" val="endPage"/>
  <p:tag name="KSO_WM_BEAUTIFY_FLAG" val="#wm#"/>
  <p:tag name="KSO_WM_SPECIAL_SOURCE" val="bdnull"/>
</p:tagLst>
</file>

<file path=ppt/tags/tag143.xml><?xml version="1.0" encoding="utf-8"?>
<p:tagLst xmlns:p="http://schemas.openxmlformats.org/presentationml/2006/main">
  <p:tag name="KSO_DOCER_TEMPLATE_OPEN_ONCE_MARK" val="1"/>
</p:tagLst>
</file>

<file path=ppt/theme/theme1.xml><?xml version="1.0" encoding="utf-8"?>
<a:theme xmlns:a="http://schemas.openxmlformats.org/drawingml/2006/main" name="1_A000120140530A99PPBG">
  <a:themeElements>
    <a:clrScheme name="160539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1198EB"/>
      </a:accent1>
      <a:accent2>
        <a:srgbClr val="628EE3"/>
      </a:accent2>
      <a:accent3>
        <a:srgbClr val="2BC3B5"/>
      </a:accent3>
      <a:accent4>
        <a:srgbClr val="92D050"/>
      </a:accent4>
      <a:accent5>
        <a:srgbClr val="FFC000"/>
      </a:accent5>
      <a:accent6>
        <a:srgbClr val="C00000"/>
      </a:accent6>
      <a:hlink>
        <a:srgbClr val="00B0F0"/>
      </a:hlink>
      <a:folHlink>
        <a:srgbClr val="AFB2B4"/>
      </a:folHlink>
    </a:clrScheme>
    <a:fontScheme name="自定义 2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40530A79PPBG">
  <a:themeElements>
    <a:clrScheme name="160164.16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887DCD"/>
      </a:accent1>
      <a:accent2>
        <a:srgbClr val="6F8BC9"/>
      </a:accent2>
      <a:accent3>
        <a:srgbClr val="BA88C2"/>
      </a:accent3>
      <a:accent4>
        <a:srgbClr val="84ADE4"/>
      </a:accent4>
      <a:accent5>
        <a:srgbClr val="9D939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1399</Words>
  <Application>WPS 演示</Application>
  <PresentationFormat>宽屏</PresentationFormat>
  <Paragraphs>261</Paragraphs>
  <Slides>27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40" baseType="lpstr">
      <vt:lpstr>Arial</vt:lpstr>
      <vt:lpstr>宋体</vt:lpstr>
      <vt:lpstr>Wingdings</vt:lpstr>
      <vt:lpstr>黑体</vt:lpstr>
      <vt:lpstr>幼圆</vt:lpstr>
      <vt:lpstr>Calibri</vt:lpstr>
      <vt:lpstr>楷体</vt:lpstr>
      <vt:lpstr>Times New Roman</vt:lpstr>
      <vt:lpstr>张海山锐谐体2.0-授权联系：Samtype@QQ.com</vt:lpstr>
      <vt:lpstr>微软雅黑</vt:lpstr>
      <vt:lpstr>Arial Unicode MS</vt:lpstr>
      <vt:lpstr>1_A000120140530A99PPBG</vt:lpstr>
      <vt:lpstr>A000120140530A79PPBG</vt:lpstr>
      <vt:lpstr>亚马逊选品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亚马逊选品</dc:title>
  <dc:creator/>
  <cp:lastModifiedBy>DELL</cp:lastModifiedBy>
  <cp:revision>19</cp:revision>
  <dcterms:created xsi:type="dcterms:W3CDTF">2015-05-05T08:02:00Z</dcterms:created>
  <dcterms:modified xsi:type="dcterms:W3CDTF">2024-12-15T09:12:43Z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B04F0FDBFD094E0CAD22553F0FE95C6D</vt:lpwstr>
  </property>
</Properties>
</file>