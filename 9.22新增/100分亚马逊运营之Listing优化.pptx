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9" r:id="rId4"/>
    <p:sldId id="289" r:id="rId5"/>
    <p:sldId id="292" r:id="rId6"/>
    <p:sldId id="297" r:id="rId7"/>
    <p:sldId id="293" r:id="rId8"/>
    <p:sldId id="298" r:id="rId9"/>
    <p:sldId id="299" r:id="rId10"/>
    <p:sldId id="300" r:id="rId11"/>
    <p:sldId id="305" r:id="rId12"/>
    <p:sldId id="294" r:id="rId13"/>
    <p:sldId id="301" r:id="rId14"/>
    <p:sldId id="296" r:id="rId15"/>
    <p:sldId id="302" r:id="rId16"/>
    <p:sldId id="303" r:id="rId17"/>
    <p:sldId id="295" r:id="rId18"/>
    <p:sldId id="304" r:id="rId19"/>
  </p:sldIdLst>
  <p:sldSz cx="9144000" cy="5143500" type="screen16x9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B56"/>
    <a:srgbClr val="6DA6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11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FA458-1BD1-4DDD-9759-255B3AD58664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1C0A81-2F0E-4C26-9C5D-A3051C9BC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6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090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980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63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084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033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581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31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71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191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295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251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1C0A81-2F0E-4C26-9C5D-A3051C9BC68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48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61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23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73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9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67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16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57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99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77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86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14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0"/>
            <a:ext cx="9143999" cy="915566"/>
          </a:xfrm>
          <a:prstGeom prst="rect">
            <a:avLst/>
          </a:prstGeom>
          <a:solidFill>
            <a:srgbClr val="203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" y="649461"/>
            <a:ext cx="9143999" cy="481812"/>
            <a:chOff x="0" y="404350"/>
            <a:chExt cx="15829885" cy="834102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404350"/>
              <a:ext cx="5268009" cy="83410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flipH="1">
              <a:off x="5246201" y="404350"/>
              <a:ext cx="5268010" cy="834102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514211" y="404350"/>
              <a:ext cx="5315674" cy="834102"/>
            </a:xfrm>
            <a:prstGeom prst="rect">
              <a:avLst/>
            </a:prstGeom>
          </p:spPr>
        </p:pic>
      </p:grp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51520" y="180521"/>
            <a:ext cx="637387" cy="1057931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92B25-010A-4E6A-9854-B7EDE84929E5}" type="datetimeFigureOut">
              <a:rPr lang="zh-CN" altLang="en-US" smtClean="0"/>
              <a:t>2020/2/11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96E78-121C-422F-ADAA-D8B109AB6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46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3999" cy="4215570"/>
          </a:xfrm>
          <a:prstGeom prst="rect">
            <a:avLst/>
          </a:prstGeom>
          <a:solidFill>
            <a:srgbClr val="203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43692"/>
            <a:ext cx="9144000" cy="144780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66209" y="2984053"/>
            <a:ext cx="60115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时间：</a:t>
            </a:r>
            <a:r>
              <a:rPr lang="en-US" altLang="zh-CN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2020</a:t>
            </a:r>
            <a:r>
              <a:rPr lang="zh-CN" altLang="en-US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年</a:t>
            </a:r>
            <a:r>
              <a:rPr lang="en-US" altLang="zh-CN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月</a:t>
            </a:r>
            <a:r>
              <a:rPr lang="en-US" altLang="zh-CN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12-13</a:t>
            </a:r>
            <a:r>
              <a:rPr lang="zh-CN" altLang="en-US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日</a:t>
            </a:r>
            <a:r>
              <a:rPr lang="en-US" altLang="zh-CN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15:00-16:00</a:t>
            </a:r>
            <a:r>
              <a:rPr lang="zh-CN" altLang="en-US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      主讲：张强建（</a:t>
            </a:r>
            <a:r>
              <a:rPr lang="en-US" altLang="zh-CN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JS</a:t>
            </a:r>
            <a:r>
              <a:rPr lang="zh-CN" altLang="en-US" sz="14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数据大视野）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48429" y="270964"/>
            <a:ext cx="2700779" cy="2643825"/>
            <a:chOff x="5985329" y="410076"/>
            <a:chExt cx="2700779" cy="264382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06447" y="597969"/>
              <a:ext cx="1479661" cy="2455932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85329" y="410076"/>
              <a:ext cx="2242373" cy="2144746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2956012" y="1065147"/>
            <a:ext cx="5207283" cy="1112411"/>
            <a:chOff x="2700779" y="1111368"/>
            <a:chExt cx="5207283" cy="1112411"/>
          </a:xfrm>
        </p:grpSpPr>
        <p:sp>
          <p:nvSpPr>
            <p:cNvPr id="14" name="矩形 13"/>
            <p:cNvSpPr/>
            <p:nvPr/>
          </p:nvSpPr>
          <p:spPr>
            <a:xfrm>
              <a:off x="2700779" y="1111368"/>
              <a:ext cx="4166525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chemeClr val="bg1"/>
                  </a:soli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>100</a:t>
              </a:r>
              <a:r>
                <a:rPr lang="zh-CN" altLang="en-US" sz="4000" dirty="0">
                  <a:solidFill>
                    <a:schemeClr val="bg1"/>
                  </a:soli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>分亚马逊运营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2723486" y="1762114"/>
              <a:ext cx="51845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之</a:t>
              </a:r>
              <a:r>
                <a:rPr lang="en-US" altLang="zh-CN" sz="240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Listing</a:t>
              </a:r>
              <a:r>
                <a:rPr lang="zh-CN" altLang="en-US" sz="240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优化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40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5508104" y="915566"/>
            <a:ext cx="3024336" cy="493790"/>
            <a:chOff x="5508104" y="1059583"/>
            <a:chExt cx="3024336" cy="493790"/>
          </a:xfrm>
        </p:grpSpPr>
        <p:sp>
          <p:nvSpPr>
            <p:cNvPr id="11" name="TextBox 10"/>
            <p:cNvSpPr txBox="1"/>
            <p:nvPr/>
          </p:nvSpPr>
          <p:spPr>
            <a:xfrm>
              <a:off x="6228184" y="1153263"/>
              <a:ext cx="2304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Listing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优化 </a:t>
              </a:r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· 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思路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5508104" y="1059583"/>
              <a:ext cx="504056" cy="48111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Arial"/>
                  <a:ea typeface="微软雅黑"/>
                  <a:sym typeface="Arial"/>
                </a:rPr>
                <a:t>01</a:t>
              </a:r>
              <a:endParaRPr lang="zh-CN" altLang="en-US" dirty="0"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1" y="0"/>
            <a:ext cx="4355976" cy="5143500"/>
          </a:xfrm>
          <a:prstGeom prst="rect">
            <a:avLst/>
          </a:prstGeom>
          <a:solidFill>
            <a:srgbClr val="203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4"/>
          <a:srcRect l="11592" r="31934"/>
          <a:stretch/>
        </p:blipFill>
        <p:spPr>
          <a:xfrm rot="5400000">
            <a:off x="-1850731" y="1850730"/>
            <a:ext cx="5143499" cy="1442042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>
            <a:off x="-202911" y="946787"/>
            <a:ext cx="3807712" cy="3727415"/>
            <a:chOff x="5985329" y="410076"/>
            <a:chExt cx="2700779" cy="2643825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06447" y="597969"/>
              <a:ext cx="1479661" cy="2455932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85329" y="410076"/>
              <a:ext cx="2242373" cy="2144746"/>
            </a:xfrm>
            <a:prstGeom prst="rect">
              <a:avLst/>
            </a:prstGeom>
          </p:spPr>
        </p:pic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C1EBE4F-88E0-46DE-AEA7-32D0BAC56C28}"/>
              </a:ext>
            </a:extLst>
          </p:cNvPr>
          <p:cNvGrpSpPr/>
          <p:nvPr/>
        </p:nvGrpSpPr>
        <p:grpSpPr>
          <a:xfrm>
            <a:off x="3184749" y="300456"/>
            <a:ext cx="2240291" cy="646331"/>
            <a:chOff x="2183715" y="2751734"/>
            <a:chExt cx="2240291" cy="646331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D76C02C-CB9F-4892-966A-CE7569B867D7}"/>
                </a:ext>
              </a:extLst>
            </p:cNvPr>
            <p:cNvSpPr/>
            <p:nvPr/>
          </p:nvSpPr>
          <p:spPr>
            <a:xfrm>
              <a:off x="2183715" y="2751734"/>
              <a:ext cx="110799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zh-CN" altLang="en-US" sz="3600" dirty="0">
                <a:solidFill>
                  <a:schemeClr val="bg1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BA077AF-8B8D-42A5-BD0B-0B88E66339C8}"/>
                </a:ext>
              </a:extLst>
            </p:cNvPr>
            <p:cNvSpPr/>
            <p:nvPr/>
          </p:nvSpPr>
          <p:spPr>
            <a:xfrm>
              <a:off x="3408022" y="2960359"/>
              <a:ext cx="10159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altLang="zh-CN" sz="1400" dirty="0">
                  <a:solidFill>
                    <a:schemeClr val="bg1">
                      <a:lumMod val="6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CONENTS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928F972-A720-4CE7-9104-BB98DE59CDF0}"/>
              </a:ext>
            </a:extLst>
          </p:cNvPr>
          <p:cNvGrpSpPr/>
          <p:nvPr/>
        </p:nvGrpSpPr>
        <p:grpSpPr>
          <a:xfrm>
            <a:off x="5508104" y="1710221"/>
            <a:ext cx="3024336" cy="493790"/>
            <a:chOff x="5508104" y="1059583"/>
            <a:chExt cx="3024336" cy="493790"/>
          </a:xfrm>
        </p:grpSpPr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606C82FA-16F4-4358-BD2E-7E10A9E7F8A2}"/>
                </a:ext>
              </a:extLst>
            </p:cNvPr>
            <p:cNvSpPr txBox="1"/>
            <p:nvPr/>
          </p:nvSpPr>
          <p:spPr>
            <a:xfrm>
              <a:off x="6228184" y="1153263"/>
              <a:ext cx="2304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Listing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优化 </a:t>
              </a:r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· 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流程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8359538D-F5CF-43CD-B5AA-EE83AE312D6D}"/>
                </a:ext>
              </a:extLst>
            </p:cNvPr>
            <p:cNvSpPr/>
            <p:nvPr/>
          </p:nvSpPr>
          <p:spPr>
            <a:xfrm>
              <a:off x="5508104" y="1059583"/>
              <a:ext cx="504056" cy="48111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Arial"/>
                  <a:ea typeface="微软雅黑"/>
                  <a:sym typeface="Arial"/>
                </a:rPr>
                <a:t>02</a:t>
              </a:r>
              <a:endParaRPr lang="zh-CN" altLang="en-US" dirty="0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4D16CD0-0FD9-4D52-BF72-B00C3CF9471F}"/>
              </a:ext>
            </a:extLst>
          </p:cNvPr>
          <p:cNvGrpSpPr/>
          <p:nvPr/>
        </p:nvGrpSpPr>
        <p:grpSpPr>
          <a:xfrm>
            <a:off x="5508104" y="2504876"/>
            <a:ext cx="3024336" cy="493790"/>
            <a:chOff x="5508104" y="1059583"/>
            <a:chExt cx="3024336" cy="493790"/>
          </a:xfrm>
        </p:grpSpPr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106FE3F8-FDE7-420D-8CFA-34AF97B95912}"/>
                </a:ext>
              </a:extLst>
            </p:cNvPr>
            <p:cNvSpPr txBox="1"/>
            <p:nvPr/>
          </p:nvSpPr>
          <p:spPr>
            <a:xfrm>
              <a:off x="6228184" y="1153263"/>
              <a:ext cx="2304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Listing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优化 </a:t>
              </a:r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· 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维度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DF81937-F440-4DDB-92C2-5B6B1B9E17D3}"/>
                </a:ext>
              </a:extLst>
            </p:cNvPr>
            <p:cNvSpPr/>
            <p:nvPr/>
          </p:nvSpPr>
          <p:spPr>
            <a:xfrm>
              <a:off x="5508104" y="1059583"/>
              <a:ext cx="504056" cy="48111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Arial"/>
                  <a:ea typeface="微软雅黑"/>
                  <a:sym typeface="Arial"/>
                </a:rPr>
                <a:t>03</a:t>
              </a:r>
              <a:endParaRPr lang="zh-CN" altLang="en-US" dirty="0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66D524F-CB2D-4581-8C51-7A0810585A49}"/>
              </a:ext>
            </a:extLst>
          </p:cNvPr>
          <p:cNvGrpSpPr/>
          <p:nvPr/>
        </p:nvGrpSpPr>
        <p:grpSpPr>
          <a:xfrm>
            <a:off x="5508104" y="3299531"/>
            <a:ext cx="3024336" cy="493790"/>
            <a:chOff x="5508104" y="1059583"/>
            <a:chExt cx="3024336" cy="493790"/>
          </a:xfrm>
        </p:grpSpPr>
        <p:sp>
          <p:nvSpPr>
            <p:cNvPr id="37" name="TextBox 10">
              <a:extLst>
                <a:ext uri="{FF2B5EF4-FFF2-40B4-BE49-F238E27FC236}">
                  <a16:creationId xmlns:a16="http://schemas.microsoft.com/office/drawing/2014/main" id="{28C56227-B621-47CE-85D1-72A5837B3462}"/>
                </a:ext>
              </a:extLst>
            </p:cNvPr>
            <p:cNvSpPr txBox="1"/>
            <p:nvPr/>
          </p:nvSpPr>
          <p:spPr>
            <a:xfrm>
              <a:off x="6228184" y="1153263"/>
              <a:ext cx="2304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Listing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优化 </a:t>
              </a:r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· 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顺序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8F267D6-FA4D-49F4-A431-840EDF31C361}"/>
                </a:ext>
              </a:extLst>
            </p:cNvPr>
            <p:cNvSpPr/>
            <p:nvPr/>
          </p:nvSpPr>
          <p:spPr>
            <a:xfrm>
              <a:off x="5508104" y="1059583"/>
              <a:ext cx="504056" cy="48111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Arial"/>
                  <a:ea typeface="微软雅黑"/>
                  <a:sym typeface="Arial"/>
                </a:rPr>
                <a:t>04</a:t>
              </a:r>
              <a:endParaRPr lang="zh-CN" altLang="en-US" dirty="0"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8B232CB-860F-44DA-83CF-A405A7F3846A}"/>
              </a:ext>
            </a:extLst>
          </p:cNvPr>
          <p:cNvGrpSpPr/>
          <p:nvPr/>
        </p:nvGrpSpPr>
        <p:grpSpPr>
          <a:xfrm>
            <a:off x="5508104" y="4094184"/>
            <a:ext cx="3024336" cy="493790"/>
            <a:chOff x="5508104" y="1059583"/>
            <a:chExt cx="3024336" cy="493790"/>
          </a:xfrm>
        </p:grpSpPr>
        <p:sp>
          <p:nvSpPr>
            <p:cNvPr id="40" name="TextBox 10">
              <a:extLst>
                <a:ext uri="{FF2B5EF4-FFF2-40B4-BE49-F238E27FC236}">
                  <a16:creationId xmlns:a16="http://schemas.microsoft.com/office/drawing/2014/main" id="{1E8A70DF-AB52-4348-8BDF-12DB825E07E3}"/>
                </a:ext>
              </a:extLst>
            </p:cNvPr>
            <p:cNvSpPr txBox="1"/>
            <p:nvPr/>
          </p:nvSpPr>
          <p:spPr>
            <a:xfrm>
              <a:off x="6228184" y="1153263"/>
              <a:ext cx="2304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Listing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优化 </a:t>
              </a:r>
              <a:r>
                <a:rPr lang="en-US" altLang="zh-CN" sz="2000" dirty="0">
                  <a:latin typeface="Arial"/>
                  <a:ea typeface="微软雅黑"/>
                  <a:sym typeface="Arial"/>
                </a:rPr>
                <a:t>· </a:t>
              </a:r>
              <a:r>
                <a:rPr lang="zh-CN" altLang="en-US" sz="2000" dirty="0">
                  <a:latin typeface="Arial"/>
                  <a:ea typeface="微软雅黑"/>
                  <a:sym typeface="Arial"/>
                </a:rPr>
                <a:t>页面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679C2F0-CDDA-4098-8CC9-512FE851A008}"/>
                </a:ext>
              </a:extLst>
            </p:cNvPr>
            <p:cNvSpPr/>
            <p:nvPr/>
          </p:nvSpPr>
          <p:spPr>
            <a:xfrm>
              <a:off x="5508104" y="1059583"/>
              <a:ext cx="504056" cy="48111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Arial"/>
                  <a:ea typeface="微软雅黑"/>
                  <a:sym typeface="Arial"/>
                </a:rPr>
                <a:t>05</a:t>
              </a:r>
              <a:endParaRPr lang="zh-CN" altLang="en-US" dirty="0">
                <a:latin typeface="Arial"/>
                <a:ea typeface="微软雅黑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298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71600" y="771550"/>
            <a:ext cx="2736304" cy="3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79712" y="2211710"/>
            <a:ext cx="187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01</a:t>
            </a:r>
            <a:endParaRPr lang="zh-CN" altLang="en-US" sz="7200" dirty="0">
              <a:solidFill>
                <a:schemeClr val="bg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88024" y="1995686"/>
            <a:ext cx="3563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Listing</a:t>
            </a:r>
            <a:r>
              <a:rPr lang="zh-CN" altLang="en-US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优化 </a:t>
            </a:r>
            <a:r>
              <a:rPr lang="en-US" altLang="zh-CN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· </a:t>
            </a:r>
            <a:r>
              <a:rPr lang="zh-CN" altLang="en-US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思路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19860" y="203986"/>
            <a:ext cx="3807712" cy="3727415"/>
            <a:chOff x="5985329" y="410076"/>
            <a:chExt cx="2700779" cy="264382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6447" y="597969"/>
              <a:ext cx="1479661" cy="2455932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5329" y="410076"/>
              <a:ext cx="2242373" cy="2144746"/>
            </a:xfrm>
            <a:prstGeom prst="rect">
              <a:avLst/>
            </a:prstGeom>
          </p:spPr>
        </p:pic>
      </p:grpSp>
      <p:sp>
        <p:nvSpPr>
          <p:cNvPr id="4" name="文本框 3"/>
          <p:cNvSpPr txBox="1"/>
          <p:nvPr/>
        </p:nvSpPr>
        <p:spPr>
          <a:xfrm>
            <a:off x="4809618" y="426026"/>
            <a:ext cx="13147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latin typeface="Impact" panose="020B0806030902050204" pitchFamily="34" charset="0"/>
              </a:rPr>
              <a:t>01</a:t>
            </a:r>
            <a:endParaRPr lang="zh-CN" altLang="en-US" sz="9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14E20B91-5227-4F9D-B05D-D03846EF631B}"/>
              </a:ext>
            </a:extLst>
          </p:cNvPr>
          <p:cNvSpPr txBox="1"/>
          <p:nvPr/>
        </p:nvSpPr>
        <p:spPr>
          <a:xfrm>
            <a:off x="611560" y="145098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Listing</a:t>
            </a:r>
            <a:r>
              <a:rPr lang="zh-CN" altLang="en-US" sz="2800" dirty="0"/>
              <a:t>优化思路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4AAF69-DE26-4D00-B8B4-94D8DB87A2AD}"/>
              </a:ext>
            </a:extLst>
          </p:cNvPr>
          <p:cNvSpPr txBox="1"/>
          <p:nvPr/>
        </p:nvSpPr>
        <p:spPr>
          <a:xfrm>
            <a:off x="611560" y="2079888"/>
            <a:ext cx="83529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电商销售的核心是</a:t>
            </a:r>
            <a:r>
              <a:rPr lang="en-US" altLang="zh-CN" sz="2000" dirty="0">
                <a:solidFill>
                  <a:srgbClr val="FF0000"/>
                </a:solidFill>
              </a:rPr>
              <a:t>Listing</a:t>
            </a:r>
            <a:r>
              <a:rPr lang="zh-CN" altLang="en-US" sz="2000" dirty="0">
                <a:solidFill>
                  <a:srgbClr val="FF0000"/>
                </a:solidFill>
              </a:rPr>
              <a:t>运营</a:t>
            </a:r>
            <a:r>
              <a:rPr lang="zh-CN" altLang="en-US" sz="2000" dirty="0"/>
              <a:t>（渠道，产品，库存，广告，促销，团队，品牌，销售策略 </a:t>
            </a:r>
            <a:r>
              <a:rPr lang="en-US" altLang="zh-CN" sz="2000" dirty="0"/>
              <a:t>… </a:t>
            </a:r>
            <a:r>
              <a:rPr lang="zh-CN" altLang="en-US" sz="2000" dirty="0">
                <a:solidFill>
                  <a:srgbClr val="FF0000"/>
                </a:solidFill>
              </a:rPr>
              <a:t>最重要的是</a:t>
            </a:r>
            <a:r>
              <a:rPr lang="zh-CN" altLang="en-US" sz="2000" dirty="0"/>
              <a:t>，</a:t>
            </a:r>
            <a:r>
              <a:rPr lang="en-US" altLang="zh-CN" sz="2000" dirty="0"/>
              <a:t>Listing</a:t>
            </a:r>
            <a:r>
              <a:rPr lang="zh-CN" altLang="en-US" sz="2000" dirty="0"/>
              <a:t>是我们与买家达成交易的桥梁）</a:t>
            </a:r>
            <a:endParaRPr lang="en-US" altLang="zh-CN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你如何做</a:t>
            </a:r>
            <a:r>
              <a:rPr lang="en-US" altLang="zh-CN" sz="2000" dirty="0">
                <a:solidFill>
                  <a:srgbClr val="FF0000"/>
                </a:solidFill>
              </a:rPr>
              <a:t>Listing</a:t>
            </a:r>
            <a:r>
              <a:rPr lang="zh-CN" altLang="en-US" sz="2000" dirty="0">
                <a:solidFill>
                  <a:srgbClr val="FF0000"/>
                </a:solidFill>
              </a:rPr>
              <a:t>优化</a:t>
            </a:r>
            <a:r>
              <a:rPr lang="zh-CN" altLang="en-US" sz="2000" dirty="0"/>
              <a:t>（</a:t>
            </a:r>
            <a:r>
              <a:rPr lang="en-US" altLang="zh-CN" sz="2000" dirty="0"/>
              <a:t>Listing</a:t>
            </a:r>
            <a:r>
              <a:rPr lang="zh-CN" altLang="en-US" sz="2000" dirty="0"/>
              <a:t>优化的 </a:t>
            </a:r>
            <a:r>
              <a:rPr lang="zh-CN" altLang="en-US" sz="2000" dirty="0">
                <a:solidFill>
                  <a:srgbClr val="FF0000"/>
                </a:solidFill>
              </a:rPr>
              <a:t>狭义</a:t>
            </a:r>
            <a:r>
              <a:rPr lang="zh-CN" altLang="en-US" sz="2000" dirty="0"/>
              <a:t> 和 </a:t>
            </a:r>
            <a:r>
              <a:rPr lang="zh-CN" altLang="en-US" sz="2000" dirty="0">
                <a:solidFill>
                  <a:srgbClr val="FF0000"/>
                </a:solidFill>
              </a:rPr>
              <a:t>广义 </a:t>
            </a:r>
            <a:r>
              <a:rPr lang="en-US" altLang="zh-CN" sz="2000" dirty="0"/>
              <a:t>– </a:t>
            </a:r>
            <a:r>
              <a:rPr lang="zh-CN" altLang="en-US" sz="2000" dirty="0"/>
              <a:t>企业的打法和套路）</a:t>
            </a:r>
            <a:endParaRPr lang="en-US" altLang="zh-CN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数据运营新思路：竞品竞争模式</a:t>
            </a:r>
            <a:r>
              <a:rPr lang="zh-CN" altLang="en-US" sz="2000" dirty="0"/>
              <a:t>（思考：从铺货模式到精品模式，从粗放式运营到数据化运营，做一个睁开眼睛做运营的精明卖家）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43900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1600" y="771550"/>
            <a:ext cx="2736304" cy="3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1979712" y="2211710"/>
            <a:ext cx="187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01</a:t>
            </a:r>
            <a:endParaRPr lang="zh-CN" altLang="en-US" sz="7200" dirty="0">
              <a:solidFill>
                <a:schemeClr val="bg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4" name="TextBox 8"/>
          <p:cNvSpPr txBox="1"/>
          <p:nvPr/>
        </p:nvSpPr>
        <p:spPr>
          <a:xfrm>
            <a:off x="4788024" y="1995686"/>
            <a:ext cx="3563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Listing</a:t>
            </a:r>
            <a:r>
              <a:rPr lang="zh-CN" altLang="en-US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优化 </a:t>
            </a:r>
            <a:r>
              <a:rPr lang="en-US" altLang="zh-CN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· </a:t>
            </a:r>
            <a:r>
              <a:rPr lang="zh-CN" altLang="en-US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流程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19860" y="203986"/>
            <a:ext cx="3807712" cy="3727415"/>
            <a:chOff x="5985329" y="410076"/>
            <a:chExt cx="2700779" cy="264382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6447" y="597969"/>
              <a:ext cx="1479661" cy="2455932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5329" y="410076"/>
              <a:ext cx="2242373" cy="2144746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4809618" y="426026"/>
            <a:ext cx="14638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latin typeface="Impact" panose="020B0806030902050204" pitchFamily="34" charset="0"/>
              </a:rPr>
              <a:t>02</a:t>
            </a:r>
            <a:endParaRPr lang="zh-CN" altLang="en-US" sz="9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22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14E20B91-5227-4F9D-B05D-D03846EF631B}"/>
              </a:ext>
            </a:extLst>
          </p:cNvPr>
          <p:cNvSpPr txBox="1"/>
          <p:nvPr/>
        </p:nvSpPr>
        <p:spPr>
          <a:xfrm>
            <a:off x="611560" y="145098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Listing</a:t>
            </a:r>
            <a:r>
              <a:rPr lang="zh-CN" altLang="en-US" sz="2800" dirty="0"/>
              <a:t>优化流程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4AAF69-DE26-4D00-B8B4-94D8DB87A2AD}"/>
              </a:ext>
            </a:extLst>
          </p:cNvPr>
          <p:cNvSpPr txBox="1"/>
          <p:nvPr/>
        </p:nvSpPr>
        <p:spPr>
          <a:xfrm>
            <a:off x="611560" y="2079888"/>
            <a:ext cx="8352928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发现</a:t>
            </a:r>
            <a:r>
              <a:rPr lang="zh-CN" altLang="en-US" sz="2000" dirty="0"/>
              <a:t>（找到 </a:t>
            </a:r>
            <a:r>
              <a:rPr lang="zh-CN" altLang="en-US" sz="2000" dirty="0">
                <a:solidFill>
                  <a:srgbClr val="FF0000"/>
                </a:solidFill>
              </a:rPr>
              <a:t>主词相同 款型相同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甚至参数相同 </a:t>
            </a:r>
            <a:r>
              <a:rPr lang="zh-CN" altLang="en-US" sz="2000" dirty="0"/>
              <a:t>的全部竞品</a:t>
            </a:r>
            <a:r>
              <a:rPr lang="en-US" altLang="zh-CN" sz="2000" dirty="0"/>
              <a:t>ASIN</a:t>
            </a:r>
            <a:r>
              <a:rPr lang="zh-CN" altLang="en-US" sz="2000" dirty="0"/>
              <a:t>，举例：</a:t>
            </a:r>
            <a:r>
              <a:rPr lang="en-US" altLang="zh-CN" sz="2000" dirty="0"/>
              <a:t>2 in 1 laptop / led strip lights </a:t>
            </a:r>
            <a:r>
              <a:rPr lang="zh-CN" altLang="en-US" sz="2000" dirty="0"/>
              <a:t>）（工具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r>
              <a:rPr lang="en-US" altLang="zh-CN" dirty="0"/>
              <a:t>DS Amazon Quick View</a:t>
            </a:r>
            <a:r>
              <a:rPr lang="zh-CN" altLang="en-US" dirty="0"/>
              <a:t>）</a:t>
            </a:r>
            <a:endParaRPr lang="en-US" altLang="zh-CN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调研</a:t>
            </a:r>
            <a:r>
              <a:rPr lang="zh-CN" altLang="en-US" sz="2000" dirty="0"/>
              <a:t>（</a:t>
            </a:r>
            <a:r>
              <a:rPr lang="zh-CN" altLang="en-US" sz="2000" dirty="0">
                <a:solidFill>
                  <a:srgbClr val="FF0000"/>
                </a:solidFill>
              </a:rPr>
              <a:t>转化率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要素：</a:t>
            </a:r>
            <a:r>
              <a:rPr lang="zh-CN" altLang="en-US" sz="2000" dirty="0"/>
              <a:t>评论，价格，卖点）（工具：竞品调研表）</a:t>
            </a:r>
            <a:endParaRPr lang="en-US" altLang="zh-CN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模仿</a:t>
            </a:r>
            <a:r>
              <a:rPr lang="zh-CN" altLang="en-US" sz="2000" dirty="0"/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AB</a:t>
            </a:r>
            <a:r>
              <a:rPr lang="zh-CN" altLang="en-US" sz="2000" dirty="0">
                <a:solidFill>
                  <a:srgbClr val="FF0000"/>
                </a:solidFill>
              </a:rPr>
              <a:t>测试：</a:t>
            </a:r>
            <a:r>
              <a:rPr lang="zh-CN" altLang="en-US" sz="2000" dirty="0"/>
              <a:t>搜索图，标题，详情图，五行）（重点：流量词</a:t>
            </a:r>
            <a:r>
              <a:rPr lang="en-US" altLang="zh-CN" sz="2000" dirty="0"/>
              <a:t>+</a:t>
            </a:r>
            <a:r>
              <a:rPr lang="zh-CN" altLang="en-US" sz="2000" dirty="0"/>
              <a:t>卖点）</a:t>
            </a:r>
            <a:endParaRPr lang="en-US" altLang="zh-CN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超越</a:t>
            </a:r>
            <a:r>
              <a:rPr lang="zh-CN" altLang="en-US" sz="2000" dirty="0"/>
              <a:t>（</a:t>
            </a:r>
            <a:r>
              <a:rPr lang="en-US" altLang="zh-CN" sz="2000" dirty="0" err="1"/>
              <a:t>A9</a:t>
            </a:r>
            <a:r>
              <a:rPr lang="en-US" altLang="zh-CN" sz="2000" dirty="0"/>
              <a:t>/10</a:t>
            </a:r>
            <a:r>
              <a:rPr lang="zh-CN" altLang="en-US" sz="2000" dirty="0"/>
              <a:t>评估的</a:t>
            </a:r>
            <a:r>
              <a:rPr lang="en-US" altLang="zh-CN" sz="2000" dirty="0"/>
              <a:t>2</a:t>
            </a:r>
            <a:r>
              <a:rPr lang="zh-CN" altLang="en-US" sz="2000" dirty="0"/>
              <a:t>大销量：</a:t>
            </a:r>
            <a:r>
              <a:rPr lang="en-US" altLang="zh-CN" sz="2000" dirty="0">
                <a:solidFill>
                  <a:srgbClr val="FF0000"/>
                </a:solidFill>
              </a:rPr>
              <a:t>Listing</a:t>
            </a:r>
            <a:r>
              <a:rPr lang="zh-CN" altLang="en-US" sz="2000" dirty="0">
                <a:solidFill>
                  <a:srgbClr val="FF0000"/>
                </a:solidFill>
              </a:rPr>
              <a:t>销量 </a:t>
            </a:r>
            <a:r>
              <a:rPr lang="en-US" altLang="zh-CN" sz="2000" dirty="0"/>
              <a:t>+ </a:t>
            </a:r>
            <a:r>
              <a:rPr lang="zh-CN" altLang="en-US" sz="2000" dirty="0">
                <a:solidFill>
                  <a:srgbClr val="FF0000"/>
                </a:solidFill>
              </a:rPr>
              <a:t>关键词销量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27121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1600" y="771550"/>
            <a:ext cx="2736304" cy="3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1979712" y="2211710"/>
            <a:ext cx="187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01</a:t>
            </a:r>
            <a:endParaRPr lang="zh-CN" altLang="en-US" sz="7200" dirty="0">
              <a:solidFill>
                <a:schemeClr val="bg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4" name="TextBox 8"/>
          <p:cNvSpPr txBox="1"/>
          <p:nvPr/>
        </p:nvSpPr>
        <p:spPr>
          <a:xfrm>
            <a:off x="4788024" y="1995686"/>
            <a:ext cx="3563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Listing</a:t>
            </a:r>
            <a:r>
              <a:rPr lang="zh-CN" altLang="en-US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优化 </a:t>
            </a:r>
            <a:r>
              <a:rPr lang="en-US" altLang="zh-CN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· </a:t>
            </a:r>
            <a:r>
              <a:rPr lang="zh-CN" altLang="en-US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维度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19860" y="203986"/>
            <a:ext cx="3807712" cy="3727415"/>
            <a:chOff x="5985329" y="410076"/>
            <a:chExt cx="2700779" cy="264382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6447" y="597969"/>
              <a:ext cx="1479661" cy="2455932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5329" y="410076"/>
              <a:ext cx="2242373" cy="2144746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4809618" y="426026"/>
            <a:ext cx="14975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latin typeface="Impact" panose="020B0806030902050204" pitchFamily="34" charset="0"/>
              </a:rPr>
              <a:t>03</a:t>
            </a:r>
            <a:endParaRPr lang="zh-CN" altLang="en-US" sz="9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87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14E20B91-5227-4F9D-B05D-D03846EF631B}"/>
              </a:ext>
            </a:extLst>
          </p:cNvPr>
          <p:cNvSpPr txBox="1"/>
          <p:nvPr/>
        </p:nvSpPr>
        <p:spPr>
          <a:xfrm>
            <a:off x="611560" y="145098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Listing</a:t>
            </a:r>
            <a:r>
              <a:rPr lang="zh-CN" altLang="en-US" sz="2800" dirty="0"/>
              <a:t>优化维度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4AAF69-DE26-4D00-B8B4-94D8DB87A2AD}"/>
              </a:ext>
            </a:extLst>
          </p:cNvPr>
          <p:cNvSpPr txBox="1"/>
          <p:nvPr/>
        </p:nvSpPr>
        <p:spPr>
          <a:xfrm>
            <a:off x="611560" y="2079888"/>
            <a:ext cx="8352928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平台维度</a:t>
            </a:r>
            <a:r>
              <a:rPr lang="zh-CN" altLang="en-US" sz="2000" dirty="0"/>
              <a:t>（如何制定价格体系：让亚马逊认为有利可图的定价策略：</a:t>
            </a:r>
            <a:r>
              <a:rPr lang="zh-CN" altLang="en-US" sz="2000" dirty="0">
                <a:solidFill>
                  <a:srgbClr val="FF0000"/>
                </a:solidFill>
              </a:rPr>
              <a:t>高价 </a:t>
            </a:r>
            <a:r>
              <a:rPr lang="en-US" altLang="zh-CN" sz="2000" dirty="0"/>
              <a:t>– </a:t>
            </a:r>
            <a:r>
              <a:rPr lang="zh-CN" altLang="en-US" sz="2000" dirty="0"/>
              <a:t>新品期 </a:t>
            </a:r>
            <a:r>
              <a:rPr lang="en-US" altLang="zh-CN" sz="2000" dirty="0"/>
              <a:t>/ </a:t>
            </a:r>
            <a:r>
              <a:rPr lang="zh-CN" altLang="en-US" sz="2000" dirty="0">
                <a:solidFill>
                  <a:srgbClr val="FF0000"/>
                </a:solidFill>
              </a:rPr>
              <a:t>高销量 </a:t>
            </a:r>
            <a:r>
              <a:rPr lang="en-US" altLang="zh-CN" sz="2000" dirty="0"/>
              <a:t>– </a:t>
            </a:r>
            <a:r>
              <a:rPr lang="zh-CN" altLang="en-US" sz="2000" dirty="0"/>
              <a:t>成熟期）</a:t>
            </a:r>
            <a:endParaRPr lang="en-US" altLang="zh-CN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买家维度</a:t>
            </a:r>
            <a:r>
              <a:rPr lang="zh-CN" altLang="en-US" sz="2000" dirty="0"/>
              <a:t>（如何降低退货率：给你的顾客想要的承诺，帮助你的顾客做出购买决定，检查每批发往</a:t>
            </a:r>
            <a:r>
              <a:rPr lang="en-US" altLang="zh-CN" sz="2000" dirty="0"/>
              <a:t>FBA</a:t>
            </a:r>
            <a:r>
              <a:rPr lang="zh-CN" altLang="en-US" sz="2000" dirty="0"/>
              <a:t>的库存，询问买家退货原因，提供所见即所得的产品描述）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684057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14E20B91-5227-4F9D-B05D-D03846EF631B}"/>
              </a:ext>
            </a:extLst>
          </p:cNvPr>
          <p:cNvSpPr txBox="1"/>
          <p:nvPr/>
        </p:nvSpPr>
        <p:spPr>
          <a:xfrm>
            <a:off x="611560" y="145098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Listing</a:t>
            </a:r>
            <a:r>
              <a:rPr lang="zh-CN" altLang="en-US" sz="2800" dirty="0"/>
              <a:t>优化维度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4AAF69-DE26-4D00-B8B4-94D8DB87A2AD}"/>
              </a:ext>
            </a:extLst>
          </p:cNvPr>
          <p:cNvSpPr txBox="1"/>
          <p:nvPr/>
        </p:nvSpPr>
        <p:spPr>
          <a:xfrm>
            <a:off x="611560" y="2079888"/>
            <a:ext cx="83529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卖家维度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如何增加访客数（自然搜索流量，广告搜索流量，站内活动流量，关联推荐流量，站外活动流量，榜单搜索流量，站外测评流量）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如何增加订单数（自然销售订单，广告销售订单，站内活动订单，关联销售订单，站外活动订单）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35093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14E20B91-5227-4F9D-B05D-D03846EF631B}"/>
              </a:ext>
            </a:extLst>
          </p:cNvPr>
          <p:cNvSpPr txBox="1"/>
          <p:nvPr/>
        </p:nvSpPr>
        <p:spPr>
          <a:xfrm>
            <a:off x="611560" y="145098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Listing</a:t>
            </a:r>
            <a:r>
              <a:rPr lang="zh-CN" altLang="en-US" sz="2800" dirty="0"/>
              <a:t>优化维度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4AAF69-DE26-4D00-B8B4-94D8DB87A2AD}"/>
              </a:ext>
            </a:extLst>
          </p:cNvPr>
          <p:cNvSpPr txBox="1"/>
          <p:nvPr/>
        </p:nvSpPr>
        <p:spPr>
          <a:xfrm>
            <a:off x="611560" y="2079888"/>
            <a:ext cx="835292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卖家维度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如何增加转化率（评论定制，销售定制，价格定制）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如何增加销售速度（制定合理销售计划）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如何增加活跃度（增加评论， 增加点赞，增加问答，加购，加心愿）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32858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8D1F095-930B-4D4A-8B86-F00E59C41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094" y="1434861"/>
            <a:ext cx="3071813" cy="307181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E14377F-20C3-42EF-B1F6-1A6A322D558D}"/>
              </a:ext>
            </a:extLst>
          </p:cNvPr>
          <p:cNvSpPr txBox="1"/>
          <p:nvPr/>
        </p:nvSpPr>
        <p:spPr>
          <a:xfrm>
            <a:off x="2555776" y="4434666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扫描关注</a:t>
            </a:r>
            <a:r>
              <a:rPr lang="en-US" altLang="zh-CN" dirty="0"/>
              <a:t>JS</a:t>
            </a:r>
            <a:r>
              <a:rPr lang="zh-CN" altLang="en-US" dirty="0"/>
              <a:t>数据大视野（个人微信号）</a:t>
            </a:r>
          </a:p>
        </p:txBody>
      </p:sp>
    </p:spTree>
    <p:extLst>
      <p:ext uri="{BB962C8B-B14F-4D97-AF65-F5344CB8AC3E}">
        <p14:creationId xmlns:p14="http://schemas.microsoft.com/office/powerpoint/2010/main" val="3202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1600" y="771550"/>
            <a:ext cx="2736304" cy="3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/>
              <a:ea typeface="微软雅黑"/>
              <a:sym typeface="Arial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1979712" y="2211710"/>
            <a:ext cx="187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solidFill>
                  <a:schemeClr val="bg1"/>
                </a:solidFill>
                <a:latin typeface="Arial"/>
                <a:ea typeface="微软雅黑"/>
                <a:sym typeface="Arial"/>
              </a:rPr>
              <a:t>01</a:t>
            </a:r>
            <a:endParaRPr lang="zh-CN" altLang="en-US" sz="7200" dirty="0">
              <a:solidFill>
                <a:schemeClr val="bg1"/>
              </a:solidFill>
              <a:latin typeface="Arial"/>
              <a:ea typeface="微软雅黑"/>
              <a:sym typeface="Arial"/>
            </a:endParaRPr>
          </a:p>
        </p:txBody>
      </p:sp>
      <p:sp>
        <p:nvSpPr>
          <p:cNvPr id="4" name="TextBox 8"/>
          <p:cNvSpPr txBox="1"/>
          <p:nvPr/>
        </p:nvSpPr>
        <p:spPr>
          <a:xfrm>
            <a:off x="4788024" y="1995686"/>
            <a:ext cx="3563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Listing</a:t>
            </a:r>
            <a:r>
              <a:rPr lang="zh-CN" altLang="en-US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优化 </a:t>
            </a:r>
            <a:r>
              <a:rPr lang="en-US" altLang="zh-CN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· </a:t>
            </a:r>
            <a:r>
              <a:rPr lang="zh-CN" altLang="en-US" sz="3200" b="1" dirty="0">
                <a:solidFill>
                  <a:schemeClr val="accent1"/>
                </a:solidFill>
                <a:latin typeface="Arial"/>
                <a:ea typeface="微软雅黑"/>
                <a:sym typeface="Arial"/>
              </a:rPr>
              <a:t>顺序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19860" y="203986"/>
            <a:ext cx="3807712" cy="3727415"/>
            <a:chOff x="5985329" y="410076"/>
            <a:chExt cx="2700779" cy="264382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6447" y="597969"/>
              <a:ext cx="1479661" cy="2455932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5329" y="410076"/>
              <a:ext cx="2242373" cy="2144746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4809618" y="426026"/>
            <a:ext cx="14606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latin typeface="Impact" panose="020B0806030902050204" pitchFamily="34" charset="0"/>
              </a:rPr>
              <a:t>04</a:t>
            </a:r>
            <a:endParaRPr lang="zh-CN" altLang="en-US" sz="9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164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14E20B91-5227-4F9D-B05D-D03846EF631B}"/>
              </a:ext>
            </a:extLst>
          </p:cNvPr>
          <p:cNvSpPr txBox="1"/>
          <p:nvPr/>
        </p:nvSpPr>
        <p:spPr>
          <a:xfrm>
            <a:off x="611560" y="145098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Listing</a:t>
            </a:r>
            <a:r>
              <a:rPr lang="zh-CN" altLang="en-US" sz="2800" dirty="0"/>
              <a:t>优化顺序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4AAF69-DE26-4D00-B8B4-94D8DB87A2AD}"/>
              </a:ext>
            </a:extLst>
          </p:cNvPr>
          <p:cNvSpPr txBox="1"/>
          <p:nvPr/>
        </p:nvSpPr>
        <p:spPr>
          <a:xfrm>
            <a:off x="2555776" y="2095564"/>
            <a:ext cx="237626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新品期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转化率</a:t>
            </a:r>
            <a:endParaRPr lang="en-US" altLang="zh-CN" sz="20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排名</a:t>
            </a:r>
            <a:endParaRPr lang="en-US" altLang="zh-CN" sz="20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流量</a:t>
            </a:r>
            <a:endParaRPr lang="en-US" altLang="zh-CN" sz="20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销量</a:t>
            </a:r>
            <a:endParaRPr lang="en-US" altLang="zh-CN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8206FA-CE2E-4171-8C96-20FC8F9E5E06}"/>
              </a:ext>
            </a:extLst>
          </p:cNvPr>
          <p:cNvSpPr txBox="1"/>
          <p:nvPr/>
        </p:nvSpPr>
        <p:spPr>
          <a:xfrm>
            <a:off x="4716016" y="2095564"/>
            <a:ext cx="237626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成熟期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销量</a:t>
            </a:r>
            <a:endParaRPr lang="en-US" altLang="zh-CN" sz="20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流量</a:t>
            </a:r>
            <a:endParaRPr lang="en-US" altLang="zh-CN" sz="20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排名</a:t>
            </a:r>
            <a:endParaRPr lang="en-US" altLang="zh-CN" sz="2000" dirty="0"/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/>
              <a:t>转化率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56538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71600" y="771550"/>
            <a:ext cx="2736304" cy="360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3" name="TextBox 4"/>
          <p:cNvSpPr txBox="1"/>
          <p:nvPr/>
        </p:nvSpPr>
        <p:spPr>
          <a:xfrm>
            <a:off x="1979712" y="2211710"/>
            <a:ext cx="187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/>
              </a:rPr>
              <a:t>01</a:t>
            </a: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  <a:sym typeface="Arial"/>
            </a:endParaRPr>
          </a:p>
        </p:txBody>
      </p:sp>
      <p:sp>
        <p:nvSpPr>
          <p:cNvPr id="4" name="TextBox 8"/>
          <p:cNvSpPr txBox="1"/>
          <p:nvPr/>
        </p:nvSpPr>
        <p:spPr>
          <a:xfrm>
            <a:off x="4788024" y="1995686"/>
            <a:ext cx="3563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2B4E72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/>
              </a:rPr>
              <a:t>Listing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B4E72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/>
              </a:rPr>
              <a:t>优化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2B4E72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/>
              </a:rPr>
              <a:t>·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B4E72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Arial"/>
              </a:rPr>
              <a:t>页面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19860" y="203986"/>
            <a:ext cx="3807712" cy="3727415"/>
            <a:chOff x="5985329" y="410076"/>
            <a:chExt cx="2700779" cy="2643825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6447" y="597969"/>
              <a:ext cx="1479661" cy="2455932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5329" y="410076"/>
              <a:ext cx="2242373" cy="2144746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4809618" y="426026"/>
            <a:ext cx="15055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mpact" panose="020B0806030902050204" pitchFamily="34" charset="0"/>
                <a:cs typeface="+mn-cs"/>
              </a:rPr>
              <a:t>05</a:t>
            </a:r>
            <a:endParaRPr kumimoji="0" lang="zh-CN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mpact" panose="020B080603090205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442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14E20B91-5227-4F9D-B05D-D03846EF631B}"/>
              </a:ext>
            </a:extLst>
          </p:cNvPr>
          <p:cNvSpPr txBox="1"/>
          <p:nvPr/>
        </p:nvSpPr>
        <p:spPr>
          <a:xfrm>
            <a:off x="611560" y="145098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Listing</a:t>
            </a:r>
            <a:r>
              <a:rPr lang="zh-CN" altLang="en-US" sz="2800" dirty="0"/>
              <a:t>优化页面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4AAF69-DE26-4D00-B8B4-94D8DB87A2AD}"/>
              </a:ext>
            </a:extLst>
          </p:cNvPr>
          <p:cNvSpPr txBox="1"/>
          <p:nvPr/>
        </p:nvSpPr>
        <p:spPr>
          <a:xfrm>
            <a:off x="611560" y="2079888"/>
            <a:ext cx="835292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标题</a:t>
            </a:r>
            <a:r>
              <a:rPr lang="zh-CN" altLang="en-US" sz="2000" dirty="0"/>
              <a:t>（流量</a:t>
            </a:r>
            <a:r>
              <a:rPr lang="en-US" altLang="zh-CN" sz="2000" dirty="0"/>
              <a:t>+</a:t>
            </a:r>
            <a:r>
              <a:rPr lang="zh-CN" altLang="en-US" sz="2000" dirty="0"/>
              <a:t>点击率）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主图（搜索图）</a:t>
            </a:r>
            <a:r>
              <a:rPr lang="zh-CN" altLang="en-US" sz="2000" dirty="0"/>
              <a:t>（流量</a:t>
            </a:r>
            <a:r>
              <a:rPr lang="en-US" altLang="zh-CN" sz="2000" dirty="0"/>
              <a:t>+</a:t>
            </a:r>
            <a:r>
              <a:rPr lang="zh-CN" altLang="en-US" sz="2000" dirty="0"/>
              <a:t>点击率）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主图（详情图）</a:t>
            </a:r>
            <a:r>
              <a:rPr lang="zh-CN" altLang="en-US" sz="2000" dirty="0"/>
              <a:t>（转化率）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卖点</a:t>
            </a:r>
            <a:r>
              <a:rPr lang="zh-CN" altLang="en-US" sz="2000" dirty="0"/>
              <a:t>（转化率）</a:t>
            </a:r>
          </a:p>
        </p:txBody>
      </p:sp>
    </p:spTree>
    <p:extLst>
      <p:ext uri="{BB962C8B-B14F-4D97-AF65-F5344CB8AC3E}">
        <p14:creationId xmlns:p14="http://schemas.microsoft.com/office/powerpoint/2010/main" val="409055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14E20B91-5227-4F9D-B05D-D03846EF631B}"/>
              </a:ext>
            </a:extLst>
          </p:cNvPr>
          <p:cNvSpPr txBox="1"/>
          <p:nvPr/>
        </p:nvSpPr>
        <p:spPr>
          <a:xfrm>
            <a:off x="611560" y="1450980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Listing</a:t>
            </a:r>
            <a:r>
              <a:rPr lang="zh-CN" altLang="en-US" sz="2800" dirty="0"/>
              <a:t>优化页面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4AAF69-DE26-4D00-B8B4-94D8DB87A2AD}"/>
              </a:ext>
            </a:extLst>
          </p:cNvPr>
          <p:cNvSpPr txBox="1"/>
          <p:nvPr/>
        </p:nvSpPr>
        <p:spPr>
          <a:xfrm>
            <a:off x="611560" y="2079888"/>
            <a:ext cx="83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详情</a:t>
            </a:r>
            <a:r>
              <a:rPr lang="zh-CN" altLang="en-US" sz="2000" dirty="0"/>
              <a:t>（转化率</a:t>
            </a:r>
            <a:r>
              <a:rPr lang="en-US" altLang="zh-CN" sz="2000" dirty="0"/>
              <a:t>+</a:t>
            </a:r>
            <a:r>
              <a:rPr lang="zh-CN" altLang="en-US" sz="2000" dirty="0"/>
              <a:t>停留时间）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A+</a:t>
            </a:r>
            <a:r>
              <a:rPr lang="zh-CN" altLang="en-US" sz="2000" dirty="0">
                <a:solidFill>
                  <a:srgbClr val="FF0000"/>
                </a:solidFill>
              </a:rPr>
              <a:t>内容</a:t>
            </a:r>
            <a:r>
              <a:rPr lang="zh-CN" altLang="en-US" sz="2000" dirty="0"/>
              <a:t>（转化率</a:t>
            </a:r>
            <a:r>
              <a:rPr lang="en-US" altLang="zh-CN" sz="2000" dirty="0"/>
              <a:t>+</a:t>
            </a:r>
            <a:r>
              <a:rPr lang="zh-CN" altLang="en-US" sz="2000" dirty="0"/>
              <a:t>停留时间）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视频</a:t>
            </a:r>
            <a:r>
              <a:rPr lang="zh-CN" altLang="en-US" sz="2000" dirty="0"/>
              <a:t>（转化率</a:t>
            </a:r>
            <a:r>
              <a:rPr lang="en-US" altLang="zh-CN" sz="2000" dirty="0"/>
              <a:t>+</a:t>
            </a:r>
            <a:r>
              <a:rPr lang="zh-CN" altLang="en-US" sz="2000" dirty="0"/>
              <a:t>停留时间）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05607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3999" cy="4215570"/>
          </a:xfrm>
          <a:prstGeom prst="rect">
            <a:avLst/>
          </a:prstGeom>
          <a:solidFill>
            <a:srgbClr val="203B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3692"/>
            <a:ext cx="9144000" cy="1447801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248429" y="270964"/>
            <a:ext cx="2700779" cy="2643825"/>
            <a:chOff x="5985329" y="410076"/>
            <a:chExt cx="2700779" cy="2643825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06447" y="597969"/>
              <a:ext cx="1479661" cy="2455932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85329" y="410076"/>
              <a:ext cx="2242373" cy="2144746"/>
            </a:xfrm>
            <a:prstGeom prst="rect">
              <a:avLst/>
            </a:prstGeom>
          </p:spPr>
        </p:pic>
      </p:grpSp>
      <p:sp>
        <p:nvSpPr>
          <p:cNvPr id="14" name="矩形 13"/>
          <p:cNvSpPr/>
          <p:nvPr/>
        </p:nvSpPr>
        <p:spPr>
          <a:xfrm>
            <a:off x="3967419" y="711736"/>
            <a:ext cx="22172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阿里巴巴普惠体 H" panose="00020600040101010101" pitchFamily="18" charset="-122"/>
                <a:ea typeface="阿里巴巴普惠体 H" panose="00020600040101010101" pitchFamily="18" charset="-122"/>
                <a:cs typeface="阿里巴巴普惠体 H" panose="00020600040101010101" pitchFamily="18" charset="-122"/>
              </a:rPr>
              <a:t>谢谢观看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F85D97-781A-4ABC-B9ED-A044C7C907A8}"/>
              </a:ext>
            </a:extLst>
          </p:cNvPr>
          <p:cNvSpPr txBox="1"/>
          <p:nvPr/>
        </p:nvSpPr>
        <p:spPr>
          <a:xfrm>
            <a:off x="2915816" y="1419622"/>
            <a:ext cx="4320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更多精彩雨课：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《 100</a:t>
            </a:r>
            <a:r>
              <a:rPr lang="zh-CN" altLang="en-US" sz="1600" dirty="0">
                <a:solidFill>
                  <a:schemeClr val="bg1"/>
                </a:solidFill>
              </a:rPr>
              <a:t>分亚马逊运营之选品流程</a:t>
            </a:r>
            <a:r>
              <a:rPr lang="en-US" altLang="zh-CN" sz="1600" dirty="0">
                <a:solidFill>
                  <a:schemeClr val="bg1"/>
                </a:solidFill>
              </a:rPr>
              <a:t>》</a:t>
            </a:r>
          </a:p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《 100</a:t>
            </a:r>
            <a:r>
              <a:rPr lang="zh-CN" altLang="en-US" sz="1600" dirty="0">
                <a:solidFill>
                  <a:schemeClr val="bg1"/>
                </a:solidFill>
              </a:rPr>
              <a:t>分亚马逊运营之</a:t>
            </a:r>
            <a:r>
              <a:rPr lang="en-US" altLang="zh-CN" sz="1600" dirty="0">
                <a:solidFill>
                  <a:schemeClr val="bg1"/>
                </a:solidFill>
              </a:rPr>
              <a:t>PPC</a:t>
            </a:r>
            <a:r>
              <a:rPr lang="zh-CN" altLang="en-US" sz="1600" dirty="0">
                <a:solidFill>
                  <a:schemeClr val="bg1"/>
                </a:solidFill>
              </a:rPr>
              <a:t>优化</a:t>
            </a:r>
            <a:r>
              <a:rPr lang="en-US" altLang="zh-CN" sz="1600" dirty="0">
                <a:solidFill>
                  <a:schemeClr val="bg1"/>
                </a:solidFill>
              </a:rPr>
              <a:t>》</a:t>
            </a:r>
          </a:p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《100</a:t>
            </a:r>
            <a:r>
              <a:rPr lang="zh-CN" altLang="en-US" sz="1600" dirty="0">
                <a:solidFill>
                  <a:schemeClr val="bg1"/>
                </a:solidFill>
              </a:rPr>
              <a:t>分亚马逊运营之库存管理</a:t>
            </a:r>
            <a:r>
              <a:rPr lang="en-US" altLang="zh-CN" sz="1600" dirty="0">
                <a:solidFill>
                  <a:schemeClr val="bg1"/>
                </a:solidFill>
              </a:rPr>
              <a:t>》</a:t>
            </a:r>
          </a:p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</a:rPr>
              <a:t>    …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50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8D1F095-930B-4D4A-8B86-F00E59C41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094" y="1434861"/>
            <a:ext cx="3071813" cy="307181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E14377F-20C3-42EF-B1F6-1A6A322D558D}"/>
              </a:ext>
            </a:extLst>
          </p:cNvPr>
          <p:cNvSpPr txBox="1"/>
          <p:nvPr/>
        </p:nvSpPr>
        <p:spPr>
          <a:xfrm>
            <a:off x="2555776" y="4434666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扫描关注</a:t>
            </a:r>
            <a:r>
              <a:rPr lang="en-US" altLang="zh-CN" dirty="0"/>
              <a:t>JS</a:t>
            </a:r>
            <a:r>
              <a:rPr lang="zh-CN" altLang="en-US" dirty="0"/>
              <a:t>数据大视野（个人微信号）</a:t>
            </a:r>
          </a:p>
        </p:txBody>
      </p:sp>
    </p:spTree>
    <p:extLst>
      <p:ext uri="{BB962C8B-B14F-4D97-AF65-F5344CB8AC3E}">
        <p14:creationId xmlns:p14="http://schemas.microsoft.com/office/powerpoint/2010/main" val="14635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灰色简约商务年终汇报总结PPT模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B4E72"/>
      </a:accent1>
      <a:accent2>
        <a:srgbClr val="2790B0"/>
      </a:accent2>
      <a:accent3>
        <a:srgbClr val="94BA65"/>
      </a:accent3>
      <a:accent4>
        <a:srgbClr val="353432"/>
      </a:accent4>
      <a:accent5>
        <a:srgbClr val="4E4D4A"/>
      </a:accent5>
      <a:accent6>
        <a:srgbClr val="BFBFBF"/>
      </a:accent6>
      <a:hlink>
        <a:srgbClr val="0077B5"/>
      </a:hlink>
      <a:folHlink>
        <a:srgbClr val="BFBFBF"/>
      </a:folHlink>
    </a:clrScheme>
    <a:fontScheme name="自定义 1">
      <a:majorFont>
        <a:latin typeface="Arial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2B4E72"/>
    </a:accent1>
    <a:accent2>
      <a:srgbClr val="2790B0"/>
    </a:accent2>
    <a:accent3>
      <a:srgbClr val="94BA65"/>
    </a:accent3>
    <a:accent4>
      <a:srgbClr val="353432"/>
    </a:accent4>
    <a:accent5>
      <a:srgbClr val="4E4D4A"/>
    </a:accent5>
    <a:accent6>
      <a:srgbClr val="BFBFBF"/>
    </a:accent6>
    <a:hlink>
      <a:srgbClr val="0077B5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2B4E72"/>
    </a:accent1>
    <a:accent2>
      <a:srgbClr val="2790B0"/>
    </a:accent2>
    <a:accent3>
      <a:srgbClr val="94BA65"/>
    </a:accent3>
    <a:accent4>
      <a:srgbClr val="353432"/>
    </a:accent4>
    <a:accent5>
      <a:srgbClr val="4E4D4A"/>
    </a:accent5>
    <a:accent6>
      <a:srgbClr val="BFBFBF"/>
    </a:accent6>
    <a:hlink>
      <a:srgbClr val="0077B5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631</Words>
  <Application>Microsoft Office PowerPoint</Application>
  <PresentationFormat>全屏显示(16:9)</PresentationFormat>
  <Paragraphs>91</Paragraphs>
  <Slides>18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Microsoft JhengHei Light</vt:lpstr>
      <vt:lpstr>阿里巴巴普惠体 H</vt:lpstr>
      <vt:lpstr>思源黑体 CN Bold</vt:lpstr>
      <vt:lpstr>思源黑体 CN Regular</vt:lpstr>
      <vt:lpstr>宋体</vt:lpstr>
      <vt:lpstr>微软雅黑</vt:lpstr>
      <vt:lpstr>微软雅黑 Light</vt:lpstr>
      <vt:lpstr>Arial</vt:lpstr>
      <vt:lpstr>Calibri</vt:lpstr>
      <vt:lpstr>Impact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——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www.51pptmoban.com</dc:title>
  <dc:creator>Pter</dc:creator>
  <cp:keywords>51PPT模板网</cp:keywords>
  <dc:description>www.51pptmoban.com</dc:description>
  <cp:lastModifiedBy>admin</cp:lastModifiedBy>
  <cp:revision>98</cp:revision>
  <dcterms:created xsi:type="dcterms:W3CDTF">2017-10-25T05:39:13Z</dcterms:created>
  <dcterms:modified xsi:type="dcterms:W3CDTF">2020-02-11T04:52:13Z</dcterms:modified>
</cp:coreProperties>
</file>