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3"/>
    <p:sldId id="450" r:id="rId4"/>
    <p:sldId id="411" r:id="rId5"/>
    <p:sldId id="412" r:id="rId6"/>
    <p:sldId id="413" r:id="rId7"/>
    <p:sldId id="414" r:id="rId8"/>
    <p:sldId id="415" r:id="rId9"/>
    <p:sldId id="416" r:id="rId10"/>
    <p:sldId id="417" r:id="rId11"/>
    <p:sldId id="418" r:id="rId12"/>
    <p:sldId id="419" r:id="rId13"/>
    <p:sldId id="420" r:id="rId14"/>
    <p:sldId id="421" r:id="rId15"/>
    <p:sldId id="422" r:id="rId16"/>
    <p:sldId id="423" r:id="rId17"/>
    <p:sldId id="424" r:id="rId18"/>
    <p:sldId id="425" r:id="rId19"/>
    <p:sldId id="426" r:id="rId20"/>
    <p:sldId id="427" r:id="rId21"/>
    <p:sldId id="428" r:id="rId22"/>
    <p:sldId id="429" r:id="rId23"/>
    <p:sldId id="430" r:id="rId24"/>
    <p:sldId id="431" r:id="rId25"/>
    <p:sldId id="432" r:id="rId26"/>
    <p:sldId id="433" r:id="rId27"/>
    <p:sldId id="434" r:id="rId28"/>
    <p:sldId id="435" r:id="rId29"/>
    <p:sldId id="436" r:id="rId30"/>
    <p:sldId id="437" r:id="rId31"/>
    <p:sldId id="438" r:id="rId32"/>
    <p:sldId id="439" r:id="rId33"/>
    <p:sldId id="440" r:id="rId34"/>
    <p:sldId id="441" r:id="rId35"/>
    <p:sldId id="442" r:id="rId36"/>
    <p:sldId id="443" r:id="rId37"/>
    <p:sldId id="444" r:id="rId38"/>
    <p:sldId id="445" r:id="rId39"/>
    <p:sldId id="446" r:id="rId40"/>
    <p:sldId id="447" r:id="rId41"/>
    <p:sldId id="448" r:id="rId42"/>
    <p:sldId id="449" r:id="rId43"/>
    <p:sldId id="468" r:id="rId44"/>
    <p:sldId id="451" r:id="rId45"/>
    <p:sldId id="452" r:id="rId46"/>
    <p:sldId id="453" r:id="rId47"/>
    <p:sldId id="454" r:id="rId48"/>
    <p:sldId id="455" r:id="rId49"/>
    <p:sldId id="456" r:id="rId50"/>
    <p:sldId id="457" r:id="rId51"/>
    <p:sldId id="458" r:id="rId52"/>
    <p:sldId id="459" r:id="rId53"/>
    <p:sldId id="460" r:id="rId54"/>
    <p:sldId id="461" r:id="rId55"/>
    <p:sldId id="462" r:id="rId5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F1423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224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bg1">
                    <a:lumMod val="8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bg1"/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bg1">
                    <a:lumMod val="8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bg1">
                    <a:lumMod val="85000"/>
                  </a:schemeClr>
                </a:solidFill>
                <a:uFillTx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bg1">
                    <a:lumMod val="85000"/>
                  </a:schemeClr>
                </a:solidFill>
                <a:uFillTx/>
              </a:defRPr>
            </a:lvl3pPr>
            <a:lvl4pPr eaLnBrk="1" fontAlgn="auto" latinLnBrk="0" hangingPunct="1">
              <a:defRPr sz="1400" u="none" strike="noStrike" kern="1200" cap="none" spc="150" normalizeH="0">
                <a:solidFill>
                  <a:schemeClr val="bg1">
                    <a:lumMod val="85000"/>
                  </a:schemeClr>
                </a:solidFill>
                <a:uFillTx/>
              </a:defRPr>
            </a:lvl4pPr>
            <a:lvl5pPr eaLnBrk="1" fontAlgn="auto" latinLnBrk="0" hangingPunct="1">
              <a:defRPr sz="1400" u="none" strike="noStrike" kern="1200" cap="none" spc="150" normalizeH="0">
                <a:solidFill>
                  <a:schemeClr val="bg1">
                    <a:lumMod val="85000"/>
                  </a:schemeClr>
                </a:solidFill>
                <a:uFillTx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spc="300" baseline="0">
                <a:solidFill>
                  <a:schemeClr val="bg1">
                    <a:lumMod val="85000"/>
                  </a:schemeClr>
                </a:solidFill>
              </a:defRPr>
            </a:lvl1pPr>
            <a:lvl2pPr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pc="300" baseline="0">
                <a:solidFill>
                  <a:schemeClr val="bg1">
                    <a:lumMod val="85000"/>
                  </a:schemeClr>
                </a:solidFill>
              </a:defRPr>
            </a:lvl2pPr>
            <a:lvl3pPr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pc="300" baseline="0">
                <a:solidFill>
                  <a:schemeClr val="bg1">
                    <a:lumMod val="85000"/>
                  </a:schemeClr>
                </a:solidFill>
              </a:defRPr>
            </a:lvl3pPr>
            <a:lvl4pPr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sz="1400" spc="300" baseline="0">
                <a:solidFill>
                  <a:schemeClr val="bg1">
                    <a:lumMod val="85000"/>
                  </a:schemeClr>
                </a:solidFill>
              </a:defRPr>
            </a:lvl4pPr>
            <a:lvl5pPr indent="-228600" eaLnBrk="1" fontAlgn="auto" latinLnBrk="0" hangingPunct="1">
              <a:lnSpc>
                <a:spcPct val="120000"/>
              </a:lnSpc>
              <a:spcAft>
                <a:spcPts val="300"/>
              </a:spcAft>
              <a:buChar char="•"/>
              <a:defRPr sz="1400" spc="3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spc="150" baseline="0">
                <a:solidFill>
                  <a:schemeClr val="bg1">
                    <a:lumMod val="85000"/>
                  </a:schemeClr>
                </a:solidFill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pc="150" baseline="0">
                <a:solidFill>
                  <a:schemeClr val="bg1">
                    <a:lumMod val="85000"/>
                  </a:schemeClr>
                </a:solidFill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pc="150" baseline="0">
                <a:solidFill>
                  <a:schemeClr val="bg1">
                    <a:lumMod val="85000"/>
                  </a:schemeClr>
                </a:solidFill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spc="150" baseline="0">
                <a:solidFill>
                  <a:schemeClr val="bg1">
                    <a:lumMod val="85000"/>
                  </a:schemeClr>
                </a:solidFill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sz="1400" spc="15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bg1">
              <a:lumMod val="8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</a:tabLst>
        <a:defRPr sz="1600" u="none" strike="noStrike" kern="1200" cap="none" spc="150" normalizeH="0" baseline="0">
          <a:solidFill>
            <a:schemeClr val="bg1">
              <a:lumMod val="8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bg1">
              <a:lumMod val="8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bg1">
              <a:lumMod val="8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bg1">
              <a:lumMod val="8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95.xml"/><Relationship Id="rId2" Type="http://schemas.openxmlformats.org/officeDocument/2006/relationships/image" Target="../media/image1.png"/><Relationship Id="rId1" Type="http://schemas.openxmlformats.org/officeDocument/2006/relationships/tags" Target="../tags/tag94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0.xml"/><Relationship Id="rId2" Type="http://schemas.openxmlformats.org/officeDocument/2006/relationships/image" Target="../media/image2.png"/><Relationship Id="rId1" Type="http://schemas.openxmlformats.org/officeDocument/2006/relationships/tags" Target="../tags/tag99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5.xml"/><Relationship Id="rId2" Type="http://schemas.openxmlformats.org/officeDocument/2006/relationships/image" Target="../media/image3.png"/><Relationship Id="rId1" Type="http://schemas.openxmlformats.org/officeDocument/2006/relationships/tags" Target="../tags/tag104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0.xml"/><Relationship Id="rId2" Type="http://schemas.openxmlformats.org/officeDocument/2006/relationships/image" Target="../media/image4.png"/><Relationship Id="rId1" Type="http://schemas.openxmlformats.org/officeDocument/2006/relationships/tags" Target="../tags/tag109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image" Target="../media/image5.png"/><Relationship Id="rId1" Type="http://schemas.openxmlformats.org/officeDocument/2006/relationships/tags" Target="../tags/tag114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tags" Target="../tags/tag122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21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6.xml"/><Relationship Id="rId3" Type="http://schemas.openxmlformats.org/officeDocument/2006/relationships/image" Target="../media/image12.png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8.xml"/><Relationship Id="rId2" Type="http://schemas.openxmlformats.org/officeDocument/2006/relationships/image" Target="../media/image13.png"/><Relationship Id="rId1" Type="http://schemas.openxmlformats.org/officeDocument/2006/relationships/tags" Target="../tags/tag127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30.xml"/><Relationship Id="rId2" Type="http://schemas.openxmlformats.org/officeDocument/2006/relationships/image" Target="../media/image14.png"/><Relationship Id="rId1" Type="http://schemas.openxmlformats.org/officeDocument/2006/relationships/tags" Target="../tags/tag129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33.xml"/><Relationship Id="rId3" Type="http://schemas.openxmlformats.org/officeDocument/2006/relationships/image" Target="../media/image12.png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36.xml"/><Relationship Id="rId3" Type="http://schemas.openxmlformats.org/officeDocument/2006/relationships/image" Target="../media/image12.png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38.xml"/><Relationship Id="rId2" Type="http://schemas.openxmlformats.org/officeDocument/2006/relationships/image" Target="../media/image15.png"/><Relationship Id="rId1" Type="http://schemas.openxmlformats.org/officeDocument/2006/relationships/tags" Target="../tags/tag137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1.xml"/><Relationship Id="rId3" Type="http://schemas.openxmlformats.org/officeDocument/2006/relationships/image" Target="../media/image12.png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4.xml"/><Relationship Id="rId3" Type="http://schemas.openxmlformats.org/officeDocument/2006/relationships/image" Target="../media/image16.png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46.xml"/><Relationship Id="rId2" Type="http://schemas.openxmlformats.org/officeDocument/2006/relationships/image" Target="../media/image17.png"/><Relationship Id="rId1" Type="http://schemas.openxmlformats.org/officeDocument/2006/relationships/tags" Target="../tags/tag145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54.xml"/><Relationship Id="rId3" Type="http://schemas.openxmlformats.org/officeDocument/2006/relationships/image" Target="../media/image12.png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60.xml"/><Relationship Id="rId3" Type="http://schemas.openxmlformats.org/officeDocument/2006/relationships/image" Target="../media/image18.png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74.xml"/><Relationship Id="rId3" Type="http://schemas.openxmlformats.org/officeDocument/2006/relationships/image" Target="../media/image19.png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77.xml"/><Relationship Id="rId3" Type="http://schemas.openxmlformats.org/officeDocument/2006/relationships/image" Target="../media/image20.png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83.xml"/><Relationship Id="rId3" Type="http://schemas.openxmlformats.org/officeDocument/2006/relationships/image" Target="../media/image21.png"/><Relationship Id="rId2" Type="http://schemas.openxmlformats.org/officeDocument/2006/relationships/tags" Target="../tags/tag182.xml"/><Relationship Id="rId1" Type="http://schemas.openxmlformats.org/officeDocument/2006/relationships/tags" Target="../tags/tag181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86.xml"/><Relationship Id="rId3" Type="http://schemas.openxmlformats.org/officeDocument/2006/relationships/image" Target="../media/image12.png"/><Relationship Id="rId2" Type="http://schemas.openxmlformats.org/officeDocument/2006/relationships/tags" Target="../tags/tag185.xml"/><Relationship Id="rId1" Type="http://schemas.openxmlformats.org/officeDocument/2006/relationships/tags" Target="../tags/tag184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88.xml"/><Relationship Id="rId2" Type="http://schemas.openxmlformats.org/officeDocument/2006/relationships/image" Target="../media/image22.png"/><Relationship Id="rId1" Type="http://schemas.openxmlformats.org/officeDocument/2006/relationships/tags" Target="../tags/tag187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90.xml"/><Relationship Id="rId2" Type="http://schemas.openxmlformats.org/officeDocument/2006/relationships/image" Target="../media/image23.png"/><Relationship Id="rId1" Type="http://schemas.openxmlformats.org/officeDocument/2006/relationships/tags" Target="../tags/tag189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93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tags" Target="../tags/tag192.xml"/><Relationship Id="rId1" Type="http://schemas.openxmlformats.org/officeDocument/2006/relationships/tags" Target="../tags/tag19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5.xml"/><Relationship Id="rId1" Type="http://schemas.openxmlformats.org/officeDocument/2006/relationships/tags" Target="../tags/tag194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98.xml"/><Relationship Id="rId3" Type="http://schemas.openxmlformats.org/officeDocument/2006/relationships/image" Target="../media/image12.png"/><Relationship Id="rId2" Type="http://schemas.openxmlformats.org/officeDocument/2006/relationships/tags" Target="../tags/tag197.xml"/><Relationship Id="rId1" Type="http://schemas.openxmlformats.org/officeDocument/2006/relationships/tags" Target="../tags/tag196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04.xml"/><Relationship Id="rId3" Type="http://schemas.openxmlformats.org/officeDocument/2006/relationships/image" Target="../media/image26.png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06.xml"/><Relationship Id="rId1" Type="http://schemas.openxmlformats.org/officeDocument/2006/relationships/tags" Target="../tags/tag205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tags" Target="../tags/tag207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" Type="http://schemas.openxmlformats.org/officeDocument/2006/relationships/tags" Target="../tags/tag2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14.xml"/><Relationship Id="rId1" Type="http://schemas.openxmlformats.org/officeDocument/2006/relationships/tags" Target="../tags/tag2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6340" y="2462530"/>
            <a:ext cx="9799320" cy="1932940"/>
          </a:xfrm>
        </p:spPr>
        <p:txBody>
          <a:bodyPr>
            <a:normAutofit fontScale="90000"/>
          </a:bodyPr>
          <a:p>
            <a:pPr algn="ctr"/>
            <a:r>
              <a:rPr lang="zh-CN" altLang="zh-CN">
                <a:sym typeface="+mn-ea"/>
              </a:rPr>
              <a:t>亚马逊运营之道-运营必修十一 </a:t>
            </a:r>
            <a:r>
              <a:rPr altLang="zh-CN" sz="4000">
                <a:sym typeface="+mn-ea"/>
              </a:rPr>
              <a:t>CPC关键词广告 - 亚马逊运营的核心</a:t>
            </a:r>
            <a:endParaRPr altLang="zh-CN" sz="4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>
            <p:custDataLst>
              <p:tags r:id="rId1"/>
            </p:custDataLst>
          </p:nvPr>
        </p:nvSpPr>
        <p:spPr>
          <a:xfrm>
            <a:off x="5768975" y="1936113"/>
            <a:ext cx="958850" cy="7683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4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01.</a:t>
            </a:r>
            <a:endParaRPr lang="en-US" altLang="zh-CN" sz="4400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878955" y="1936113"/>
            <a:ext cx="4246245" cy="770400"/>
          </a:xfrm>
          <a:prstGeom prst="rect">
            <a:avLst/>
          </a:prstGeom>
          <a:noFill/>
        </p:spPr>
        <p:txBody>
          <a:bodyPr wrap="square" bIns="46990" rtlCol="0" anchor="ctr" anchorCtr="0">
            <a:norm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zh-CN" sz="3600">
                <a:solidFill>
                  <a:schemeClr val="bg1"/>
                </a:solidFill>
                <a:sym typeface="+mn-ea"/>
              </a:rPr>
              <a:t>为什么没销量?</a:t>
            </a:r>
            <a:endParaRPr lang="zh-CN" altLang="zh-CN" sz="36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5768975" y="2948305"/>
            <a:ext cx="958850" cy="7683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4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02.</a:t>
            </a:r>
            <a:endParaRPr lang="en-US" altLang="zh-CN" sz="4400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4"/>
            </p:custDataLst>
          </p:nvPr>
        </p:nvSpPr>
        <p:spPr>
          <a:xfrm>
            <a:off x="5768975" y="3960494"/>
            <a:ext cx="958850" cy="7683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4400" b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03.</a:t>
            </a:r>
            <a:endParaRPr lang="en-US" altLang="zh-CN" sz="4400" b="1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5"/>
            </p:custDataLst>
          </p:nvPr>
        </p:nvSpPr>
        <p:spPr>
          <a:xfrm>
            <a:off x="5768975" y="4972685"/>
            <a:ext cx="958850" cy="7683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4400" b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04.</a:t>
            </a:r>
            <a:endParaRPr lang="en-US" altLang="zh-CN" sz="4400" b="1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6"/>
            </p:custDataLst>
          </p:nvPr>
        </p:nvCxnSpPr>
        <p:spPr>
          <a:xfrm>
            <a:off x="5876925" y="1515110"/>
            <a:ext cx="5248275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887096" y="1393190"/>
            <a:ext cx="1851660" cy="768350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/>
          <a:p>
            <a:pPr algn="r"/>
            <a:r>
              <a:rPr lang="zh-CN" altLang="en-US" sz="44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目录</a:t>
            </a:r>
            <a:endParaRPr lang="zh-CN" altLang="en-US" sz="4400" b="1" spc="3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887095" y="2161540"/>
            <a:ext cx="1851660" cy="3683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/>
            <a:r>
              <a:rPr lang="en-US" altLang="zh-CN" spc="3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CONTENTS</a:t>
            </a:r>
            <a:endParaRPr lang="en-US" altLang="zh-CN" spc="3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>
            <p:custDataLst>
              <p:tags r:id="rId9"/>
            </p:custDataLst>
          </p:nvPr>
        </p:nvSpPr>
        <p:spPr>
          <a:xfrm>
            <a:off x="2897505" y="1515110"/>
            <a:ext cx="76200" cy="9226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6878955" y="2948305"/>
            <a:ext cx="4246245" cy="599440"/>
          </a:xfrm>
          <a:prstGeom prst="rect">
            <a:avLst/>
          </a:prstGeom>
          <a:noFill/>
        </p:spPr>
        <p:txBody>
          <a:bodyPr wrap="square" bIns="46990" rtlCol="0" anchor="ctr" anchorCtr="0">
            <a:no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zh-CN" sz="3600">
                <a:solidFill>
                  <a:schemeClr val="bg1"/>
                </a:solidFill>
                <a:sym typeface="+mn-ea"/>
              </a:rPr>
              <a:t>提升曝( Impression )</a:t>
            </a:r>
            <a:endParaRPr lang="zh-CN" altLang="zh-CN" sz="36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6878955" y="3960494"/>
            <a:ext cx="4246245" cy="770400"/>
          </a:xfrm>
          <a:prstGeom prst="rect">
            <a:avLst/>
          </a:prstGeom>
          <a:noFill/>
        </p:spPr>
        <p:txBody>
          <a:bodyPr wrap="square" bIns="46990" rtlCol="0" anchor="ctr" anchorCtr="0">
            <a:norm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zh-CN" sz="3600">
                <a:solidFill>
                  <a:schemeClr val="bg1"/>
                </a:solidFill>
                <a:sym typeface="+mn-ea"/>
              </a:rPr>
              <a:t>提升点击(CTR )</a:t>
            </a:r>
            <a:endParaRPr lang="zh-CN" altLang="zh-CN" sz="36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6878955" y="4972685"/>
            <a:ext cx="4246245" cy="770400"/>
          </a:xfrm>
          <a:prstGeom prst="rect">
            <a:avLst/>
          </a:prstGeom>
          <a:noFill/>
        </p:spPr>
        <p:txBody>
          <a:bodyPr wrap="square" bIns="46990" rtlCol="0" anchor="ctr" anchorCtr="0">
            <a:normAutofit fontScale="90000"/>
          </a:bodyPr>
          <a:lstStyle/>
          <a:p>
            <a:pPr fontAlgn="auto">
              <a:lnSpc>
                <a:spcPct val="120000"/>
              </a:lnSpc>
            </a:pPr>
            <a:r>
              <a:rPr lang="zh-CN" altLang="zh-CN" sz="3600">
                <a:solidFill>
                  <a:schemeClr val="bg1"/>
                </a:solidFill>
                <a:sym typeface="+mn-ea"/>
              </a:rPr>
              <a:t>提升转化( Conversion )</a:t>
            </a:r>
            <a:endParaRPr lang="zh-CN" altLang="zh-CN" sz="36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76925" y="5995035"/>
            <a:ext cx="95885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4400" b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05.</a:t>
            </a:r>
            <a:endParaRPr lang="zh-CN" altLang="en-US" sz="4400"/>
          </a:p>
        </p:txBody>
      </p:sp>
      <p:sp>
        <p:nvSpPr>
          <p:cNvPr id="3" name="文本框 2"/>
          <p:cNvSpPr txBox="1"/>
          <p:nvPr/>
        </p:nvSpPr>
        <p:spPr>
          <a:xfrm>
            <a:off x="7037705" y="6056630"/>
            <a:ext cx="2926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zh-CN" sz="3600">
                <a:solidFill>
                  <a:schemeClr val="bg1"/>
                </a:solidFill>
                <a:sym typeface="+mn-ea"/>
              </a:rPr>
              <a:t>为广告加把火</a:t>
            </a:r>
            <a:endParaRPr lang="zh-CN" altLang="zh-CN" sz="3600">
              <a:solidFill>
                <a:schemeClr val="bg1"/>
              </a:solidFill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6340" y="2747010"/>
            <a:ext cx="9799320" cy="1363980"/>
          </a:xfrm>
        </p:spPr>
        <p:txBody>
          <a:bodyPr/>
          <a:p>
            <a:r>
              <a:rPr lang="zh-CN" altLang="zh-CN"/>
              <a:t>第一部分:为什么没销量?</a:t>
            </a:r>
            <a:endParaRPr lang="zh-CN" altLang="zh-CN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464185"/>
            <a:ext cx="9799320" cy="1294765"/>
          </a:xfrm>
        </p:spPr>
        <p:txBody>
          <a:bodyPr/>
          <a:p>
            <a:r>
              <a:rPr lang="en-US" altLang="zh-CN"/>
              <a:t>1</a:t>
            </a:r>
            <a:r>
              <a:rPr lang="zh-CN" altLang="zh-CN"/>
              <a:t>.是不是好产品?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/>
          <a:p>
            <a:pPr algn="l"/>
            <a:r>
              <a:rPr lang="en-US" altLang="zh-CN"/>
              <a:t>01.</a:t>
            </a:r>
            <a:r>
              <a:rPr lang="zh-CN" altLang="en-US"/>
              <a:t>谷歌趋势:市场需求向上,与大类第一名曲线接近;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02.</a:t>
            </a:r>
            <a:r>
              <a:rPr lang="zh-CN" altLang="en-US"/>
              <a:t>外观新颖:社交平台是否已经得到认可?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03.</a:t>
            </a:r>
            <a:r>
              <a:rPr lang="zh-CN" altLang="en-US"/>
              <a:t>验证销量:相似产品大类BSR是否在1000名左右?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04.</a:t>
            </a:r>
            <a:r>
              <a:rPr lang="zh-CN" altLang="en-US"/>
              <a:t>充足利润:你是否有足够利润支撑推广开支?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/>
          <a:p>
            <a:r>
              <a:rPr lang="zh-CN" altLang="zh-CN"/>
              <a:t>2.客户为什么拒绝?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/>
          <a:p>
            <a:pPr algn="l"/>
            <a:r>
              <a:rPr lang="en-US" altLang="zh-CN"/>
              <a:t>01.</a:t>
            </a:r>
            <a:r>
              <a:rPr lang="zh-CN" altLang="en-US"/>
              <a:t>产品独特性:吸引力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02.</a:t>
            </a:r>
            <a:r>
              <a:rPr lang="zh-CN" altLang="en-US"/>
              <a:t>产品价格优势:性价比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03.</a:t>
            </a:r>
            <a:r>
              <a:rPr lang="zh-CN" altLang="en-US"/>
              <a:t>产品发货优势: FBA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04.</a:t>
            </a:r>
            <a:r>
              <a:rPr lang="zh-CN" altLang="en-US"/>
              <a:t>客户口碑:没有差评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/>
          <a:p>
            <a:r>
              <a:rPr lang="zh-CN" altLang="zh-CN"/>
              <a:t>3.流量够不够?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/>
          <a:p>
            <a:pPr algn="l"/>
            <a:r>
              <a:rPr lang="en-US" altLang="zh-CN"/>
              <a:t>01.</a:t>
            </a:r>
            <a:r>
              <a:rPr lang="zh-CN" altLang="en-US"/>
              <a:t>BSR非常差,而且没有上升;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02.</a:t>
            </a:r>
            <a:r>
              <a:rPr lang="zh-CN" altLang="en-US"/>
              <a:t>从来不做广告;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03.</a:t>
            </a:r>
            <a:r>
              <a:rPr lang="zh-CN" altLang="en-US"/>
              <a:t>做广告的预算非常低;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04.</a:t>
            </a:r>
            <a:r>
              <a:rPr lang="zh-CN" altLang="en-US"/>
              <a:t>从来不参加Amazon的促销活动;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6340" y="2548890"/>
            <a:ext cx="9799320" cy="1759585"/>
          </a:xfrm>
        </p:spPr>
        <p:txBody>
          <a:bodyPr>
            <a:normAutofit fontScale="90000"/>
          </a:bodyPr>
          <a:p>
            <a:r>
              <a:rPr lang="zh-CN" altLang="zh-CN"/>
              <a:t>第二部分</a:t>
            </a:r>
            <a:br>
              <a:rPr lang="zh-CN" altLang="zh-CN"/>
            </a:br>
            <a:r>
              <a:rPr lang="zh-CN" altLang="zh-CN"/>
              <a:t>提升曝光( Impression )</a:t>
            </a:r>
            <a:endParaRPr lang="zh-CN" altLang="zh-CN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/>
          <a:p>
            <a:r>
              <a:rPr lang="zh-CN" altLang="zh-CN"/>
              <a:t>1. Display Ads-横幅广告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/>
              <a:t>显示规则:每页显示一样的广 告</a:t>
            </a:r>
            <a:endParaRPr lang="zh-CN" alt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/>
              <a:t>可推广店铺和单品</a:t>
            </a:r>
            <a:endParaRPr lang="zh-CN" alt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/>
              <a:t>曝光指标: </a:t>
            </a:r>
            <a:r>
              <a:rPr lang="en-US" altLang="zh-CN"/>
              <a:t>4</a:t>
            </a:r>
            <a:r>
              <a:rPr lang="zh-CN" altLang="en-US"/>
              <a:t>颗星</a:t>
            </a:r>
            <a:endParaRPr lang="zh-CN" alt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/>
              <a:t>适用卖家:只有Vendor ( VC、VE )才能够设置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/>
          <a:p>
            <a:r>
              <a:rPr lang="zh-CN" altLang="zh-CN">
                <a:sym typeface="+mn-ea"/>
              </a:rPr>
              <a:t>Display Ads-横幅广告</a:t>
            </a:r>
            <a:endParaRPr lang="zh-CN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395" y="1758950"/>
            <a:ext cx="8475345" cy="47072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>
            <a:normAutofit fontScale="90000"/>
          </a:bodyPr>
          <a:p>
            <a:r>
              <a:rPr lang="zh-CN" altLang="zh-CN"/>
              <a:t>2. Top of Search-顶部广告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>
            <a:normAutofit lnSpcReduction="10000"/>
          </a:bodyPr>
          <a:p>
            <a:pPr algn="l"/>
            <a:r>
              <a:rPr lang="zh-CN" altLang="en-US"/>
              <a:t>。显示规则:首页搜索结果顶部显示,不会在其它页面显示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。只能推广单品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。Impression指标:</a:t>
            </a:r>
            <a:r>
              <a:rPr lang="en-US" altLang="zh-CN"/>
              <a:t>4</a:t>
            </a:r>
            <a:r>
              <a:rPr lang="zh-CN" altLang="en-US"/>
              <a:t>颗星</a:t>
            </a:r>
            <a:endParaRPr lang="zh-CN" altLang="en-US"/>
          </a:p>
          <a:p>
            <a:pPr algn="l"/>
            <a:br>
              <a:rPr lang="zh-CN" altLang="en-US"/>
            </a:br>
            <a:r>
              <a:rPr lang="zh-CN" altLang="en-US"/>
              <a:t>。适用卖家:任何卖家都可以做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。后台设置:提高“缺省竞价”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/>
          <a:p>
            <a:r>
              <a:rPr lang="zh-CN" altLang="zh-CN">
                <a:sym typeface="+mn-ea"/>
              </a:rPr>
              <a:t>Top of Search-顶部广告</a:t>
            </a:r>
            <a:endParaRPr lang="zh-CN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" y="1758950"/>
            <a:ext cx="9337675" cy="45199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>
            <a:normAutofit/>
          </a:bodyPr>
          <a:p>
            <a:r>
              <a:rPr lang="zh-CN" altLang="zh-CN" sz="5335"/>
              <a:t>3. </a:t>
            </a:r>
            <a:r>
              <a:rPr lang="en-US" altLang="zh-CN" sz="5335"/>
              <a:t>Other-</a:t>
            </a:r>
            <a:r>
              <a:rPr lang="zh-CN" altLang="zh-CN" sz="5335"/>
              <a:t>底部广告</a:t>
            </a:r>
            <a:endParaRPr lang="zh-CN" altLang="zh-CN" sz="5335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>
            <a:normAutofit lnSpcReduction="20000"/>
          </a:bodyPr>
          <a:p>
            <a:pPr algn="l"/>
            <a:r>
              <a:rPr lang="zh-CN" altLang="en-US"/>
              <a:t>。显示属性:每个搜索页面底部显示,有可能重复出现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。只能推广单品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。Impression指标:</a:t>
            </a:r>
            <a:r>
              <a:rPr lang="en-US" altLang="zh-CN"/>
              <a:t>3</a:t>
            </a:r>
            <a:r>
              <a:rPr lang="zh-CN" altLang="en-US"/>
              <a:t>颗星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。适用卖家:任何卖家都可以做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。后台设置:“缺省竞价"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>
            <a:normAutofit/>
          </a:bodyPr>
          <a:p>
            <a:r>
              <a:rPr lang="en-US" altLang="zh-CN">
                <a:sym typeface="+mn-ea"/>
              </a:rPr>
              <a:t>Other-</a:t>
            </a:r>
            <a:r>
              <a:rPr lang="zh-CN" altLang="zh-CN">
                <a:sym typeface="+mn-ea"/>
              </a:rPr>
              <a:t>底部广告</a:t>
            </a:r>
            <a:endParaRPr lang="zh-CN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370" y="1881505"/>
            <a:ext cx="8854440" cy="47301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6340" y="463550"/>
            <a:ext cx="9799320" cy="1363980"/>
          </a:xfrm>
        </p:spPr>
        <p:txBody>
          <a:bodyPr>
            <a:normAutofit fontScale="90000"/>
          </a:bodyPr>
          <a:p>
            <a:r>
              <a:rPr lang="zh-CN" altLang="zh-CN" sz="4890"/>
              <a:t>4. Other (Middle of search)-搜索结果中间广告</a:t>
            </a:r>
            <a:endParaRPr lang="zh-CN" altLang="zh-CN" sz="489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>
            <a:normAutofit lnSpcReduction="20000"/>
          </a:bodyPr>
          <a:p>
            <a:pPr algn="l"/>
            <a:r>
              <a:rPr lang="zh-CN" altLang="en-US"/>
              <a:t>。显示属性:搜索页面中部显示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。只能推广单品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。Impression指标:</a:t>
            </a:r>
            <a:r>
              <a:rPr lang="en-US" altLang="zh-CN"/>
              <a:t>3</a:t>
            </a:r>
            <a:r>
              <a:rPr lang="zh-CN" altLang="en-US"/>
              <a:t>颗星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。适用卖家:任何卖家都可以做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。后台设置:“缺省竞价" 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>
            <a:normAutofit/>
          </a:bodyPr>
          <a:p>
            <a:r>
              <a:rPr lang="zh-CN" altLang="zh-CN">
                <a:sym typeface="+mn-ea"/>
              </a:rPr>
              <a:t>搜索结果中间广告</a:t>
            </a:r>
            <a:endParaRPr lang="zh-CN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115" y="1758950"/>
            <a:ext cx="5779770" cy="47675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>
            <a:normAutofit/>
          </a:bodyPr>
          <a:p>
            <a:r>
              <a:rPr lang="en-US" altLang="zh-CN"/>
              <a:t>5</a:t>
            </a:r>
            <a:r>
              <a:rPr lang="zh-CN" altLang="zh-CN"/>
              <a:t>. Other-购物车五点下方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/>
          <a:p>
            <a:pPr algn="l"/>
            <a:r>
              <a:rPr lang="zh-CN" altLang="en-US"/>
              <a:t>。显示规则:单个产品页面的产品广告会有所不同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。可推广店铺和单品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。Impression指标: </a:t>
            </a:r>
            <a:r>
              <a:rPr lang="en-US" altLang="zh-CN"/>
              <a:t>4</a:t>
            </a:r>
            <a:r>
              <a:rPr lang="zh-CN" altLang="en-US"/>
              <a:t>颗星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。适用卖家:只有Vendor ( VC、VE )才能够设置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640715"/>
            <a:ext cx="9799320" cy="1118235"/>
          </a:xfrm>
        </p:spPr>
        <p:txBody>
          <a:bodyPr/>
          <a:p>
            <a:r>
              <a:rPr lang="zh-CN" altLang="zh-CN">
                <a:sym typeface="+mn-ea"/>
              </a:rPr>
              <a:t>购物车五点下方</a:t>
            </a:r>
            <a:endParaRPr lang="zh-CN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880" y="1899920"/>
            <a:ext cx="10186670" cy="44900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5605"/>
            <a:ext cx="9799320" cy="1363980"/>
          </a:xfrm>
        </p:spPr>
        <p:txBody>
          <a:bodyPr>
            <a:normAutofit/>
          </a:bodyPr>
          <a:p>
            <a:r>
              <a:rPr lang="zh-CN" altLang="zh-CN" sz="4000"/>
              <a:t>结论:如果想要提高曝光量,只</a:t>
            </a:r>
            <a:br>
              <a:rPr lang="zh-CN" altLang="zh-CN" sz="4000"/>
            </a:br>
            <a:r>
              <a:rPr lang="zh-CN" altLang="zh-CN" sz="4000"/>
              <a:t>需要提高</a:t>
            </a:r>
            <a:r>
              <a:rPr lang="en-US" altLang="zh-CN" sz="4000"/>
              <a:t>4</a:t>
            </a:r>
            <a:r>
              <a:rPr lang="zh-CN" altLang="zh-CN" sz="4000"/>
              <a:t>个指标:</a:t>
            </a:r>
            <a:endParaRPr lang="zh-CN" altLang="zh-CN" sz="40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/>
          <a:p>
            <a:pPr algn="l"/>
            <a:r>
              <a:rPr lang="en-US" altLang="zh-CN"/>
              <a:t>01.</a:t>
            </a:r>
            <a:r>
              <a:rPr lang="zh-CN" altLang="en-US"/>
              <a:t>每日预算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02.</a:t>
            </a:r>
            <a:r>
              <a:rPr lang="zh-CN" altLang="en-US"/>
              <a:t>缺省竞价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03.</a:t>
            </a:r>
            <a:r>
              <a:rPr lang="zh-CN" altLang="en-US"/>
              <a:t>增加关键词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04.</a:t>
            </a:r>
            <a:r>
              <a:rPr lang="zh-CN" altLang="en-US"/>
              <a:t>使用广泛匹配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6340" y="2515235"/>
            <a:ext cx="9799320" cy="1827530"/>
          </a:xfrm>
        </p:spPr>
        <p:txBody>
          <a:bodyPr>
            <a:normAutofit fontScale="90000"/>
          </a:bodyPr>
          <a:p>
            <a:r>
              <a:rPr lang="zh-CN" altLang="zh-CN"/>
              <a:t>第三部分</a:t>
            </a:r>
            <a:br>
              <a:rPr lang="zh-CN" altLang="zh-CN"/>
            </a:br>
            <a:r>
              <a:rPr lang="zh-CN" altLang="zh-CN"/>
              <a:t>提升点击(CTR )</a:t>
            </a:r>
            <a:endParaRPr lang="zh-CN" altLang="zh-CN"/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/>
          <a:p>
            <a:r>
              <a:rPr lang="zh-CN" altLang="zh-CN"/>
              <a:t>影响CTR的六大指标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>
            <a:normAutofit fontScale="70000"/>
          </a:bodyPr>
          <a:p>
            <a:pPr algn="l"/>
            <a:r>
              <a:rPr lang="en-US" altLang="zh-CN"/>
              <a:t>01.</a:t>
            </a:r>
            <a:r>
              <a:rPr lang="zh-CN" altLang="en-US"/>
              <a:t>产品主图:带个性化包装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02.</a:t>
            </a:r>
            <a:r>
              <a:rPr lang="zh-CN" altLang="en-US"/>
              <a:t>产品标题:一目了然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03.</a:t>
            </a:r>
            <a:r>
              <a:rPr lang="zh-CN" altLang="en-US"/>
              <a:t>产品价格:有竞争力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04.</a:t>
            </a:r>
            <a:r>
              <a:rPr lang="zh-CN" altLang="en-US"/>
              <a:t>产品评价: 4星以上,越多越好</a:t>
            </a:r>
            <a:endParaRPr lang="zh-CN" altLang="en-US"/>
          </a:p>
          <a:p>
            <a:pPr algn="l"/>
            <a:br>
              <a:rPr lang="zh-CN" altLang="en-US"/>
            </a:br>
            <a:r>
              <a:rPr lang="en-US" altLang="zh-CN"/>
              <a:t>05.</a:t>
            </a:r>
            <a:r>
              <a:rPr lang="zh-CN" altLang="en-US"/>
              <a:t>推荐标记: Best Seller Amazon's Choice </a:t>
            </a:r>
            <a:endParaRPr lang="zh-CN" altLang="en-US"/>
          </a:p>
          <a:p>
            <a:pPr algn="l"/>
            <a:br>
              <a:rPr lang="zh-CN" altLang="en-US"/>
            </a:br>
            <a:r>
              <a:rPr lang="en-US" altLang="zh-CN"/>
              <a:t>06.</a:t>
            </a:r>
            <a:r>
              <a:rPr lang="zh-CN" altLang="en-US"/>
              <a:t>运输优势: FBA发货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135" y="1759585"/>
            <a:ext cx="986790" cy="3797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505" y="2610485"/>
            <a:ext cx="885825" cy="3524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6505" y="3445510"/>
            <a:ext cx="1371600" cy="3619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955" y="4269740"/>
            <a:ext cx="800100" cy="3905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6830" y="4931410"/>
            <a:ext cx="1333500" cy="3905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0005" y="5656580"/>
            <a:ext cx="542925" cy="36195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/>
          <a:p>
            <a:r>
              <a:rPr lang="zh-CN" altLang="zh-CN"/>
              <a:t>1.产品主图:带个性化包装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/>
          <a:p>
            <a:pPr algn="l"/>
            <a:r>
              <a:rPr lang="zh-CN" altLang="en-US"/>
              <a:t>。带个性化包装;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。注意摆放;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。注意与首页其它产品对比时体现差异化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。CTR影响度: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530" y="5011420"/>
            <a:ext cx="457200" cy="457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725" y="5011420"/>
            <a:ext cx="457200" cy="457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540" y="5011420"/>
            <a:ext cx="457200" cy="4572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030" y="5011420"/>
            <a:ext cx="457200" cy="4572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/>
          <a:p>
            <a:r>
              <a:rPr lang="zh-CN" altLang="zh-CN"/>
              <a:t>个性化的包装</a:t>
            </a:r>
            <a:endParaRPr lang="zh-CN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115" y="1758950"/>
            <a:ext cx="4515485" cy="48507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>
            <a:normAutofit/>
          </a:bodyPr>
          <a:p>
            <a:r>
              <a:rPr lang="zh-CN" altLang="en-US"/>
              <a:t>差异化体现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730" y="1942465"/>
            <a:ext cx="9729470" cy="39465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>
            <a:normAutofit/>
          </a:bodyPr>
          <a:p>
            <a:r>
              <a:rPr lang="zh-CN" altLang="zh-CN"/>
              <a:t>2.产品标题:一目了然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>
            <a:normAutofit lnSpcReduction="20000"/>
          </a:bodyPr>
          <a:p>
            <a:pPr algn="l"/>
            <a:r>
              <a:rPr lang="zh-CN" altLang="en-US"/>
              <a:t>。不建议以品牌名称开头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。30个字符以内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。前3个单词为精准大搜索量单词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。5个词后记得使用 - (前后必须空格)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>
                <a:sym typeface="+mn-ea"/>
              </a:rPr>
              <a:t>。</a:t>
            </a:r>
            <a:r>
              <a:rPr lang="zh-CN" altLang="en-US"/>
              <a:t>CTR影响度: 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900" y="5412105"/>
            <a:ext cx="457200" cy="457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510" y="5412105"/>
            <a:ext cx="457200" cy="457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435" y="5412105"/>
            <a:ext cx="457200" cy="4572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/>
          <a:p>
            <a:r>
              <a:rPr lang="zh-CN" altLang="zh-CN"/>
              <a:t>3.产品价格:有竞争力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/>
          <a:p>
            <a:pPr algn="l"/>
            <a:r>
              <a:rPr lang="zh-CN" altLang="en-US"/>
              <a:t>。不要盲目自信说自己的产品品质好,所以价格高;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。不要主观定价;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。新品没有价格优势胜出几率只有10% 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。CTR影响度: 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8060" y="4957445"/>
            <a:ext cx="457200" cy="457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890" y="4957445"/>
            <a:ext cx="457200" cy="457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985" y="4957445"/>
            <a:ext cx="457200" cy="457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670" y="4957445"/>
            <a:ext cx="457200" cy="457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835" y="4957445"/>
            <a:ext cx="457200" cy="4572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/>
          <a:p>
            <a:r>
              <a:rPr lang="zh-CN" altLang="zh-CN"/>
              <a:t>产品价格:有竞争力</a:t>
            </a:r>
            <a:endParaRPr lang="zh-CN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480" y="1875155"/>
            <a:ext cx="5786120" cy="44386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>
            <a:normAutofit fontScale="90000"/>
          </a:bodyPr>
          <a:p>
            <a:r>
              <a:rPr lang="zh-CN" altLang="zh-CN" sz="5335"/>
              <a:t>4.产品评价: 4星以上,越多越好</a:t>
            </a:r>
            <a:endParaRPr lang="zh-CN" altLang="zh-CN" sz="5335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>
            <a:normAutofit lnSpcReduction="20000"/>
          </a:bodyPr>
          <a:p>
            <a:pPr algn="l"/>
            <a:r>
              <a:rPr lang="zh-CN" altLang="en-US"/>
              <a:t>。没有评价不要做广告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。建议做广告之前最少要有1个视频评价,评价数最少在20个以上;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。4星以下CTR大跌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。CTR影响度: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220" y="4533265"/>
            <a:ext cx="457200" cy="457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775" y="4533265"/>
            <a:ext cx="457200" cy="457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025" y="4533265"/>
            <a:ext cx="457200" cy="4572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/>
          <a:p>
            <a:r>
              <a:rPr lang="zh-CN" altLang="zh-CN"/>
              <a:t>5.推荐标记的叠加效果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240645" cy="640080"/>
          </a:xfrm>
        </p:spPr>
        <p:txBody>
          <a:bodyPr/>
          <a:p>
            <a:pPr algn="l"/>
            <a:r>
              <a:rPr lang="zh-CN" altLang="en-US"/>
              <a:t>。推荐标记能够对广告起到叠加效果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160" y="2522220"/>
            <a:ext cx="8896350" cy="39770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>
            <a:normAutofit fontScale="90000"/>
          </a:bodyPr>
          <a:p>
            <a:r>
              <a:rPr lang="zh-CN" altLang="zh-CN"/>
              <a:t>6.没有FBA库存做广告是浪费!</a:t>
            </a:r>
            <a:endParaRPr lang="zh-CN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510" y="1699895"/>
            <a:ext cx="6694805" cy="48856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/>
          <a:p>
            <a:r>
              <a:rPr lang="zh-CN" altLang="zh-CN"/>
              <a:t>结论:如果要提高CTR,必须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>
            <a:normAutofit lnSpcReduction="20000"/>
          </a:bodyPr>
          <a:p>
            <a:pPr algn="l"/>
            <a:r>
              <a:rPr lang="zh-CN" altLang="en-US"/>
              <a:t>。基础:FBA有库存;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。基础:有至少</a:t>
            </a:r>
            <a:r>
              <a:rPr lang="en-US" altLang="zh-CN"/>
              <a:t>10</a:t>
            </a:r>
            <a:r>
              <a:rPr lang="zh-CN" altLang="en-US"/>
              <a:t>个Review ,星级在4星以上;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。标题的前30个字符, 3个单词需要明确说明产品;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。产品主图与竞争对手有明显差异性;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。特别提醒:产品价格是CTR的关键所在!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05485" y="2164715"/>
            <a:ext cx="9799320" cy="1946275"/>
          </a:xfrm>
        </p:spPr>
        <p:txBody>
          <a:bodyPr>
            <a:normAutofit fontScale="90000"/>
          </a:bodyPr>
          <a:p>
            <a:r>
              <a:rPr lang="zh-CN" altLang="zh-CN"/>
              <a:t>第四部分</a:t>
            </a:r>
            <a:br>
              <a:rPr lang="zh-CN" altLang="zh-CN"/>
            </a:br>
            <a:r>
              <a:rPr lang="zh-CN" altLang="zh-CN"/>
              <a:t>提升转化( Conversion )</a:t>
            </a:r>
            <a:endParaRPr lang="zh-CN" altLang="zh-CN"/>
          </a:p>
        </p:txBody>
      </p:sp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35280"/>
            <a:ext cx="9799320" cy="1363980"/>
          </a:xfrm>
        </p:spPr>
        <p:txBody>
          <a:bodyPr>
            <a:normAutofit/>
          </a:bodyPr>
          <a:p>
            <a:r>
              <a:rPr lang="zh-CN" altLang="zh-CN" sz="4445"/>
              <a:t>转化率= Listing页面的健康指数</a:t>
            </a:r>
            <a:endParaRPr lang="zh-CN" altLang="zh-CN" sz="4445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/>
          <a:p>
            <a:pPr algn="l"/>
            <a:r>
              <a:rPr lang="zh-CN" altLang="en-US"/>
              <a:t>。产品图片是否优质，并大于7张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。是否设置促销码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。是否设置A+页面 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。页面是否有差评 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750" y="1759585"/>
            <a:ext cx="457200" cy="457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710" y="1759585"/>
            <a:ext cx="457200" cy="457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930" y="1759585"/>
            <a:ext cx="457200" cy="457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150" y="2891155"/>
            <a:ext cx="457200" cy="4572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365" y="2891155"/>
            <a:ext cx="457200" cy="4572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585" y="2891155"/>
            <a:ext cx="457200" cy="4572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435" y="3892550"/>
            <a:ext cx="457200" cy="4572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020" y="3892550"/>
            <a:ext cx="457200" cy="4572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925" y="3892550"/>
            <a:ext cx="457200" cy="4572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165" y="3892550"/>
            <a:ext cx="457200" cy="4572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130" y="4997450"/>
            <a:ext cx="457200" cy="4572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470" y="4997450"/>
            <a:ext cx="457200" cy="4572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685" y="4997450"/>
            <a:ext cx="457200" cy="4572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785" y="4997450"/>
            <a:ext cx="457200" cy="4572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385" y="4997450"/>
            <a:ext cx="457200" cy="4572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>
            <a:normAutofit/>
          </a:bodyPr>
          <a:p>
            <a:r>
              <a:rPr lang="zh-CN" altLang="zh-CN" sz="4445"/>
              <a:t>让自己的页面看_上去饱满、热闹</a:t>
            </a:r>
            <a:endParaRPr lang="zh-CN" altLang="zh-CN" sz="4445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/>
          <a:p>
            <a:pPr algn="l"/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。客户在你页面的停留时间越长,下单几率越大;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。所以,你需要比竞争对手提供更多有用信息;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>
            <a:normAutofit/>
          </a:bodyPr>
          <a:p>
            <a:r>
              <a:rPr lang="zh-CN" altLang="zh-CN"/>
              <a:t>差评绝对是转化率杀手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8950"/>
            <a:ext cx="10151745" cy="4391025"/>
          </a:xfrm>
        </p:spPr>
        <p:txBody>
          <a:bodyPr/>
          <a:p>
            <a:pPr algn="l"/>
            <a:r>
              <a:rPr lang="zh-CN" altLang="en-US"/>
              <a:t>。不断增加评价</a:t>
            </a:r>
            <a:endParaRPr lang="zh-CN" altLang="en-US"/>
          </a:p>
          <a:p>
            <a:pPr algn="l"/>
            <a:r>
              <a:rPr lang="zh-CN" altLang="en-US"/>
              <a:t>。更多增加视频评价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020" y="2854325"/>
            <a:ext cx="8885555" cy="3556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>
            <a:normAutofit/>
          </a:bodyPr>
          <a:p>
            <a:r>
              <a:rPr lang="zh-CN" altLang="zh-CN"/>
              <a:t>总结:提升转化率需要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/>
          <a:p>
            <a:pPr algn="l"/>
            <a:r>
              <a:rPr lang="en-US" altLang="zh-CN"/>
              <a:t> 01.比竞争对手提供更多产品信息;</a:t>
            </a:r>
            <a:endParaRPr lang="en-US" altLang="zh-CN"/>
          </a:p>
          <a:p>
            <a:pPr algn="l"/>
            <a:endParaRPr lang="en-US" altLang="zh-CN"/>
          </a:p>
          <a:p>
            <a:pPr algn="l"/>
            <a:r>
              <a:rPr lang="en-US" altLang="zh-CN"/>
              <a:t>02.页面、图片美观;</a:t>
            </a:r>
            <a:endParaRPr lang="en-US" altLang="zh-CN"/>
          </a:p>
          <a:p>
            <a:pPr algn="l"/>
            <a:endParaRPr lang="en-US" altLang="zh-CN"/>
          </a:p>
          <a:p>
            <a:pPr algn="l"/>
            <a:r>
              <a:rPr lang="en-US" altLang="zh-CN">
                <a:solidFill>
                  <a:srgbClr val="FF0000"/>
                </a:solidFill>
              </a:rPr>
              <a:t>。特别注意:差评几乎无法避免,需要通过不断增加产品评价,特别是视频评价来降低差评带来的影响;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6340" y="2548890"/>
            <a:ext cx="9799320" cy="1759585"/>
          </a:xfrm>
        </p:spPr>
        <p:txBody>
          <a:bodyPr>
            <a:normAutofit fontScale="90000"/>
          </a:bodyPr>
          <a:p>
            <a:r>
              <a:rPr lang="zh-CN" altLang="zh-CN"/>
              <a:t>第四部分</a:t>
            </a:r>
            <a:br>
              <a:rPr lang="zh-CN" altLang="zh-CN"/>
            </a:br>
            <a:r>
              <a:rPr lang="zh-CN" altLang="zh-CN"/>
              <a:t>通过广告快速推广新品的方法</a:t>
            </a:r>
            <a:endParaRPr lang="zh-CN" altLang="zh-CN"/>
          </a:p>
        </p:txBody>
      </p:sp>
    </p:spTree>
    <p:custDataLst>
      <p:tags r:id="rId2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/>
          <a:p>
            <a:r>
              <a:rPr lang="zh-CN" altLang="zh-CN"/>
              <a:t>开启广告前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/>
          <a:p>
            <a:pPr algn="l"/>
            <a:r>
              <a:rPr lang="zh-CN" altLang="en-US"/>
              <a:t>。产品页面符合以上标准;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。产品价格降到比竞争对手低0.</a:t>
            </a:r>
            <a:r>
              <a:rPr lang="en-US" altLang="zh-CN"/>
              <a:t>5</a:t>
            </a:r>
            <a:r>
              <a:rPr lang="zh-CN" altLang="en-US"/>
              <a:t>美金;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。每天至少准备$50-100美金广告费,首月广告预算$500-</a:t>
            </a:r>
            <a:r>
              <a:rPr lang="en-US" altLang="zh-CN"/>
              <a:t>1500</a:t>
            </a:r>
            <a:r>
              <a:rPr lang="zh-CN" altLang="en-US"/>
              <a:t>(约</a:t>
            </a:r>
            <a:r>
              <a:rPr lang="en-US" altLang="zh-CN"/>
              <a:t>3000</a:t>
            </a:r>
            <a:r>
              <a:rPr lang="zh-CN" altLang="en-US"/>
              <a:t>-</a:t>
            </a:r>
            <a:r>
              <a:rPr lang="en-US" altLang="zh-CN"/>
              <a:t>1</a:t>
            </a:r>
            <a:r>
              <a:rPr lang="zh-CN" altLang="en-US"/>
              <a:t>万人民币) ;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/>
          <a:p>
            <a:r>
              <a:rPr lang="zh-CN" altLang="zh-CN"/>
              <a:t>新卖家必须面对的问题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/>
          <a:p>
            <a:pPr algn="l"/>
            <a:r>
              <a:rPr lang="en-US" altLang="zh-CN"/>
              <a:t>01.</a:t>
            </a:r>
            <a:r>
              <a:rPr lang="zh-CN" altLang="en-US"/>
              <a:t>广告必须要做;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02.</a:t>
            </a:r>
            <a:r>
              <a:rPr lang="zh-CN" altLang="en-US"/>
              <a:t>广告预算越低,广告成本越高;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03.</a:t>
            </a:r>
            <a:r>
              <a:rPr lang="zh-CN" altLang="en-US"/>
              <a:t>做好前2周的高成本、低转化准备; 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/>
          <a:p>
            <a:r>
              <a:rPr lang="zh-CN" altLang="zh-CN"/>
              <a:t>1.每日预算定多少?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/>
          <a:p>
            <a:pPr algn="l"/>
            <a:r>
              <a:rPr lang="zh-CN" altLang="en-US"/>
              <a:t>。Amazon建议$75/天/广告组</a:t>
            </a:r>
            <a:endParaRPr lang="zh-CN" altLang="en-US"/>
          </a:p>
          <a:p>
            <a:pPr algn="l"/>
            <a:r>
              <a:rPr lang="zh-CN" altLang="en-US"/>
              <a:t>。艾伦建议$50-100/天/产品</a:t>
            </a:r>
            <a:endParaRPr lang="zh-CN" altLang="en-US"/>
          </a:p>
          <a:p>
            <a:pPr algn="l"/>
            <a:r>
              <a:rPr lang="zh-CN" altLang="en-US"/>
              <a:t>。这决定了你的广告每天持续的时间和点击次数,</a:t>
            </a:r>
            <a:endParaRPr lang="zh-CN" altLang="en-US"/>
          </a:p>
          <a:p>
            <a:pPr algn="l"/>
            <a:r>
              <a:rPr lang="zh-CN" altLang="en-US"/>
              <a:t>如:关键词$2.00 ,每天可以点击50,之后广告自动停止;</a:t>
            </a:r>
            <a:endParaRPr lang="zh-CN" altLang="en-US"/>
          </a:p>
          <a:p>
            <a:pPr algn="l"/>
            <a:r>
              <a:rPr lang="zh-CN" altLang="en-US"/>
              <a:t>。定价在$30美金以内,基本没有太大效果;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910" y="4547235"/>
            <a:ext cx="5289550" cy="14452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/>
          <a:p>
            <a:r>
              <a:rPr lang="zh-CN" altLang="zh-CN"/>
              <a:t>2.起始时间多久?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/>
          <a:p>
            <a:pPr algn="l"/>
            <a:r>
              <a:rPr lang="en-US" altLang="zh-CN"/>
              <a:t>01.</a:t>
            </a:r>
            <a:r>
              <a:rPr lang="zh-CN" altLang="en-US"/>
              <a:t>建议长期有效;</a:t>
            </a:r>
            <a:endParaRPr lang="zh-CN" altLang="en-US"/>
          </a:p>
          <a:p>
            <a:pPr algn="l"/>
            <a:r>
              <a:rPr lang="en-US" altLang="zh-CN"/>
              <a:t>02.</a:t>
            </a:r>
            <a:r>
              <a:rPr lang="zh-CN" altLang="en-US"/>
              <a:t>广告效果不好,立即暂停!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185" y="2976245"/>
            <a:ext cx="4648200" cy="9048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4970"/>
            <a:ext cx="9799320" cy="1363980"/>
          </a:xfrm>
        </p:spPr>
        <p:txBody>
          <a:bodyPr/>
          <a:p>
            <a:r>
              <a:rPr lang="zh-CN" altLang="zh-CN"/>
              <a:t>3.默认竞价(缺省竞价)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759585"/>
            <a:ext cx="10151745" cy="4391025"/>
          </a:xfrm>
        </p:spPr>
        <p:txBody>
          <a:bodyPr>
            <a:normAutofit lnSpcReduction="10000"/>
          </a:bodyPr>
          <a:p>
            <a:pPr algn="l"/>
            <a:r>
              <a:rPr lang="en-US" altLang="zh-CN"/>
              <a:t>01.</a:t>
            </a:r>
            <a:r>
              <a:rPr lang="zh-CN" altLang="en-US"/>
              <a:t>这是你愿意支付的最高出价;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02.</a:t>
            </a:r>
            <a:r>
              <a:rPr lang="zh-CN" altLang="en-US"/>
              <a:t>实际价格将根据相关关键词竞争对手的最高出价决定，只要对方不超过你的出价,你就有机会一直排在他们的前面;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03.</a:t>
            </a:r>
            <a:r>
              <a:rPr lang="zh-CN" altLang="en-US"/>
              <a:t>如果你选择“自动投放”, 或“手动投放”中"建议的关键字”, 那么这里也决定了Amazon只会给你配备低于你单次竞价的词;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en-US" altLang="zh-CN"/>
              <a:t>04.</a:t>
            </a:r>
            <a:r>
              <a:rPr lang="zh-CN" altLang="en-US"/>
              <a:t>这里同时对你的广告排名有较大影响;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77620" y="321310"/>
            <a:ext cx="9799320" cy="1031240"/>
          </a:xfrm>
        </p:spPr>
        <p:txBody>
          <a:bodyPr>
            <a:normAutofit fontScale="90000"/>
          </a:bodyPr>
          <a:p>
            <a:r>
              <a:rPr lang="zh-CN" altLang="zh-CN"/>
              <a:t>默认竞价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487805"/>
            <a:ext cx="9799320" cy="4847590"/>
          </a:xfrm>
        </p:spPr>
        <p:txBody>
          <a:bodyPr/>
          <a:p>
            <a:pPr algn="l"/>
            <a:r>
              <a:rPr lang="zh-CN" altLang="en-US"/>
              <a:t>。建议在此设置至少$2美金最多$5美金;</a:t>
            </a:r>
            <a:endParaRPr lang="zh-CN" altLang="en-US"/>
          </a:p>
          <a:p>
            <a:pPr algn="l"/>
            <a:r>
              <a:rPr lang="zh-CN" altLang="en-US"/>
              <a:t>。手动如果你设置的金额小于$2美金,同时追求大流量，建议勾选Bid+ ;</a:t>
            </a:r>
            <a:endParaRPr lang="zh-CN" altLang="en-US"/>
          </a:p>
          <a:p>
            <a:pPr algn="l"/>
            <a:r>
              <a:rPr lang="zh-CN" altLang="en-US"/>
              <a:t>。定价在$0.75美金以内基本没有太大效果;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45" y="3687445"/>
            <a:ext cx="5337810" cy="22574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77620" y="321310"/>
            <a:ext cx="9799320" cy="1031240"/>
          </a:xfrm>
        </p:spPr>
        <p:txBody>
          <a:bodyPr>
            <a:normAutofit fontScale="90000"/>
          </a:bodyPr>
          <a:p>
            <a:r>
              <a:rPr lang="zh-CN" altLang="zh-CN"/>
              <a:t>4.自动投放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487805"/>
            <a:ext cx="9799320" cy="4847590"/>
          </a:xfrm>
        </p:spPr>
        <p:txBody>
          <a:bodyPr/>
          <a:p>
            <a:pPr algn="l"/>
            <a:r>
              <a:rPr lang="zh-CN" altLang="en-US"/>
              <a:t>。自动投放的前提:产品类别、标题、文案、属性、ST设置完整,否则Amazon会匹配非精准流量;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。自动投放的目的:</a:t>
            </a:r>
            <a:endParaRPr lang="zh-CN" altLang="en-US"/>
          </a:p>
          <a:p>
            <a:pPr algn="l"/>
            <a:r>
              <a:rPr lang="zh-CN" altLang="en-US"/>
              <a:t>     看到哪个产品能够获得最好的广告效果;</a:t>
            </a:r>
            <a:br>
              <a:rPr lang="zh-CN" altLang="en-US"/>
            </a:br>
            <a:r>
              <a:rPr lang="zh-CN" altLang="en-US"/>
              <a:t>     找到Amazon推荐的产品关键词;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。自动投放的效果: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470" y="5053965"/>
            <a:ext cx="457200" cy="457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360" y="5053965"/>
            <a:ext cx="457200" cy="4572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77620" y="321310"/>
            <a:ext cx="9799320" cy="1031240"/>
          </a:xfrm>
        </p:spPr>
        <p:txBody>
          <a:bodyPr>
            <a:normAutofit fontScale="90000"/>
          </a:bodyPr>
          <a:p>
            <a:r>
              <a:rPr lang="zh-CN" altLang="zh-CN"/>
              <a:t>选择自动投放</a:t>
            </a:r>
            <a:endParaRPr lang="zh-CN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405" y="2473325"/>
            <a:ext cx="9362440" cy="26187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77620" y="321310"/>
            <a:ext cx="9799320" cy="1031240"/>
          </a:xfrm>
        </p:spPr>
        <p:txBody>
          <a:bodyPr>
            <a:normAutofit/>
          </a:bodyPr>
          <a:p>
            <a:r>
              <a:rPr lang="zh-CN" altLang="zh-CN" sz="4445"/>
              <a:t>同时添加所有你需要观察的产品</a:t>
            </a:r>
            <a:endParaRPr lang="zh-CN" altLang="zh-CN" sz="4445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005" y="1588770"/>
            <a:ext cx="7336155" cy="45453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77620" y="321310"/>
            <a:ext cx="9799320" cy="1031240"/>
          </a:xfrm>
        </p:spPr>
        <p:txBody>
          <a:bodyPr>
            <a:normAutofit fontScale="90000"/>
          </a:bodyPr>
          <a:p>
            <a:r>
              <a:rPr lang="zh-CN" altLang="zh-CN"/>
              <a:t>观察一周后的数据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487805"/>
            <a:ext cx="9799320" cy="4847590"/>
          </a:xfrm>
        </p:spPr>
        <p:txBody>
          <a:bodyPr/>
          <a:p>
            <a:pPr algn="l"/>
            <a:r>
              <a:rPr lang="zh-CN" altLang="en-US"/>
              <a:t>进入卖家中心-&gt;数据报告-&gt;广告-&gt;自动投放报告,下载表格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2092325"/>
            <a:ext cx="7920990" cy="25844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4816475"/>
            <a:ext cx="5704840" cy="16789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477645" y="2199640"/>
            <a:ext cx="9799320" cy="2353945"/>
          </a:xfrm>
        </p:spPr>
        <p:txBody>
          <a:bodyPr>
            <a:normAutofit/>
          </a:bodyPr>
          <a:p>
            <a:r>
              <a:rPr lang="zh-CN" altLang="zh-CN" sz="4400">
                <a:solidFill>
                  <a:srgbClr val="FF0000"/>
                </a:solidFill>
              </a:rPr>
              <a:t>提示:自动投放不是必须操作的一步;</a:t>
            </a:r>
            <a:br>
              <a:rPr lang="zh-CN" altLang="zh-CN" sz="4400">
                <a:solidFill>
                  <a:srgbClr val="FF0000"/>
                </a:solidFill>
              </a:rPr>
            </a:br>
            <a:endParaRPr lang="zh-CN" altLang="zh-CN" sz="440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77620" y="321310"/>
            <a:ext cx="9799320" cy="1031240"/>
          </a:xfrm>
        </p:spPr>
        <p:txBody>
          <a:bodyPr>
            <a:normAutofit fontScale="90000"/>
          </a:bodyPr>
          <a:p>
            <a:r>
              <a:rPr lang="en-US" altLang="zh-CN"/>
              <a:t>5</a:t>
            </a:r>
            <a:r>
              <a:rPr lang="zh-CN" altLang="zh-CN"/>
              <a:t>.手动投放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487805"/>
            <a:ext cx="9799320" cy="4847590"/>
          </a:xfrm>
        </p:spPr>
        <p:txBody>
          <a:bodyPr/>
          <a:p>
            <a:pPr algn="l"/>
            <a:r>
              <a:rPr lang="zh-CN" altLang="en-US"/>
              <a:t>。手动投放的前提:自己准备关键词;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。手动投放的目的:</a:t>
            </a:r>
            <a:endParaRPr lang="zh-CN" altLang="en-US"/>
          </a:p>
          <a:p>
            <a:pPr algn="l"/>
            <a:r>
              <a:rPr lang="zh-CN" altLang="en-US"/>
              <a:t>    推广新品;</a:t>
            </a:r>
            <a:endParaRPr lang="zh-CN" altLang="en-US"/>
          </a:p>
          <a:p>
            <a:pPr algn="l"/>
            <a:r>
              <a:rPr lang="zh-CN" altLang="en-US"/>
              <a:t>    提升产品销量;</a:t>
            </a:r>
            <a:endParaRPr lang="zh-CN" altLang="en-US"/>
          </a:p>
          <a:p>
            <a:pPr algn="l"/>
            <a:r>
              <a:rPr lang="zh-CN" altLang="en-US"/>
              <a:t>    精细化运营广告组;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。自动投放的效果: 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080" y="5266055"/>
            <a:ext cx="457200" cy="457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415" y="5266055"/>
            <a:ext cx="457200" cy="457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200" y="5266055"/>
            <a:ext cx="457200" cy="457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5266055"/>
            <a:ext cx="457200" cy="457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780" y="5266055"/>
            <a:ext cx="457200" cy="4572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77620" y="321310"/>
            <a:ext cx="9799320" cy="1031240"/>
          </a:xfrm>
        </p:spPr>
        <p:txBody>
          <a:bodyPr>
            <a:normAutofit fontScale="90000"/>
          </a:bodyPr>
          <a:p>
            <a:r>
              <a:rPr lang="zh-CN" altLang="zh-CN"/>
              <a:t>设置方法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277620" y="1497330"/>
            <a:ext cx="10357485" cy="4847590"/>
          </a:xfrm>
        </p:spPr>
        <p:txBody>
          <a:bodyPr/>
          <a:p>
            <a:pPr algn="l"/>
            <a:endParaRPr lang="zh-CN" altLang="en-US"/>
          </a:p>
          <a:p>
            <a:pPr algn="l"/>
            <a:r>
              <a:rPr lang="zh-CN" altLang="en-US"/>
              <a:t>。为了看到每-一个产品精准的效果,建议每个广告只选择1个ASIN 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。设置缺省竞价;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。选择推荐的关键词;</a:t>
            </a:r>
            <a:br>
              <a:rPr lang="zh-CN" altLang="en-US"/>
            </a:br>
            <a:r>
              <a:rPr lang="zh-CN" altLang="en-US"/>
              <a:t>（</a:t>
            </a:r>
            <a:r>
              <a:rPr lang="en-US" altLang="zh-CN"/>
              <a:t>10-50</a:t>
            </a:r>
            <a:r>
              <a:rPr lang="zh-CN" altLang="en-US"/>
              <a:t>词）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77620" y="321310"/>
            <a:ext cx="9799320" cy="1031240"/>
          </a:xfrm>
        </p:spPr>
        <p:txBody>
          <a:bodyPr>
            <a:normAutofit fontScale="90000"/>
          </a:bodyPr>
          <a:p>
            <a:r>
              <a:rPr lang="zh-CN" altLang="zh-CN"/>
              <a:t>你可以同样添加指定关键词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487805"/>
            <a:ext cx="9799320" cy="4847590"/>
          </a:xfrm>
        </p:spPr>
        <p:txBody>
          <a:bodyPr/>
          <a:p>
            <a:pPr algn="l"/>
            <a:r>
              <a:rPr lang="zh-CN" altLang="en-US"/>
              <a:t>。点击"关键词定位、输入列表”</a:t>
            </a:r>
            <a:endParaRPr lang="zh-CN" altLang="en-US"/>
          </a:p>
          <a:p>
            <a:pPr algn="l"/>
            <a:r>
              <a:rPr lang="zh-CN" altLang="en-US"/>
              <a:t>。输入自己指定,或是从Merchantwords等工具搜出的关键词;</a:t>
            </a:r>
            <a:endParaRPr lang="zh-CN" altLang="en-US"/>
          </a:p>
          <a:p>
            <a:pPr algn="l"/>
            <a:r>
              <a:rPr lang="zh-CN" altLang="en-US"/>
              <a:t>。使用广泛匹配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970" y="3176905"/>
            <a:ext cx="6460490" cy="30416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6340" y="2369185"/>
            <a:ext cx="9799320" cy="2119630"/>
          </a:xfrm>
        </p:spPr>
        <p:txBody>
          <a:bodyPr>
            <a:normAutofit/>
          </a:bodyPr>
          <a:p>
            <a:r>
              <a:rPr lang="zh-CN" altLang="zh-CN"/>
              <a:t>第五部分</a:t>
            </a:r>
            <a:br>
              <a:rPr lang="zh-CN" altLang="zh-CN"/>
            </a:br>
            <a:r>
              <a:rPr lang="zh-CN" altLang="zh-CN"/>
              <a:t>为广告加把火</a:t>
            </a:r>
            <a:endParaRPr lang="zh-CN" altLang="zh-CN"/>
          </a:p>
        </p:txBody>
      </p:sp>
    </p:spTree>
    <p:custDataLst>
      <p:tags r:id="rId2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77620" y="321310"/>
            <a:ext cx="9799320" cy="1031240"/>
          </a:xfrm>
        </p:spPr>
        <p:txBody>
          <a:bodyPr>
            <a:normAutofit fontScale="90000"/>
          </a:bodyPr>
          <a:p>
            <a:r>
              <a:rPr lang="zh-CN" altLang="zh-CN"/>
              <a:t>做广告的同时提升转化率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487805"/>
            <a:ext cx="9799320" cy="4847590"/>
          </a:xfrm>
        </p:spPr>
        <p:txBody>
          <a:bodyPr/>
          <a:p>
            <a:pPr algn="l"/>
            <a:r>
              <a:rPr lang="zh-CN" altLang="en-US"/>
              <a:t>。问题:产品预算用不完;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。解决:</a:t>
            </a:r>
            <a:endParaRPr lang="zh-CN" altLang="en-US"/>
          </a:p>
          <a:p>
            <a:pPr algn="l"/>
            <a:r>
              <a:rPr lang="zh-CN" altLang="en-US"/>
              <a:t>。通过试销提升产品转化率;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。最快提升Listing权重的方式是通过这种方式赠送或低价出售50-100个产品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77620" y="321310"/>
            <a:ext cx="9799320" cy="1031240"/>
          </a:xfrm>
        </p:spPr>
        <p:txBody>
          <a:bodyPr>
            <a:normAutofit fontScale="90000"/>
          </a:bodyPr>
          <a:p>
            <a:r>
              <a:rPr lang="zh-CN" altLang="zh-CN"/>
              <a:t>广告运行正确的效果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1487805"/>
            <a:ext cx="9799320" cy="4847590"/>
          </a:xfrm>
        </p:spPr>
        <p:txBody>
          <a:bodyPr/>
          <a:p>
            <a:pPr algn="l"/>
            <a:r>
              <a:rPr lang="zh-CN" altLang="en-US">
                <a:sym typeface="+mn-ea"/>
              </a:rPr>
              <a:t>。</a:t>
            </a:r>
            <a:r>
              <a:rPr lang="zh-CN" altLang="en-US"/>
              <a:t>广告开支上升;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。前1周开支高，转化低,后面转化率会稳步提升;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。订单量持续增加;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。BSR快速上升;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。产品自然排名快速上升;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6340" y="2913380"/>
            <a:ext cx="9799320" cy="1031240"/>
          </a:xfrm>
        </p:spPr>
        <p:txBody>
          <a:bodyPr>
            <a:normAutofit/>
          </a:bodyPr>
          <a:p>
            <a:r>
              <a:rPr lang="en-US" altLang="zh-CN"/>
              <a:t>XIAKE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5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5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5175_4*l_h_i*1_1_1"/>
  <p:tag name="KSO_WM_TEMPLATE_CATEGORY" val="custom"/>
  <p:tag name="KSO_WM_TEMPLATE_INDEX" val="20205175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0"/>
</p:tagLst>
</file>

<file path=ppt/tags/tag66.xml><?xml version="1.0" encoding="utf-8"?>
<p:tagLst xmlns:p="http://schemas.openxmlformats.org/presentationml/2006/main">
  <p:tag name="KSO_WM_UNIT_ISCONTENTSTITLE" val="0"/>
  <p:tag name="KSO_WM_UNIT_PRESET_TEXT" val="单击输入章节标题......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5175_4*l_h_f*1_1_1"/>
  <p:tag name="KSO_WM_TEMPLATE_CATEGORY" val="custom"/>
  <p:tag name="KSO_WM_TEMPLATE_INDEX" val="20205175"/>
  <p:tag name="KSO_WM_UNIT_LAYERLEVEL" val="1_1_1"/>
  <p:tag name="KSO_WM_TAG_VERSION" val="1.0"/>
  <p:tag name="KSO_WM_BEAUTIFY_FLAG" val="#wm#"/>
  <p:tag name="KSO_WM_UNIT_SHOW_EDIT_AREA_INDICATION" val="1"/>
  <p:tag name="KSO_WM_UNIT_TEXT_FILL_FORE_SCHEMECOLOR_INDEX" val="14"/>
  <p:tag name="KSO_WM_UNIT_TEXT_FILL_TYPE" val="1"/>
  <p:tag name="KSO_WM_UNIT_USESOURCEFORMAT_APPLY" val="0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custom20205175_4*l_h_i*1_2_1"/>
  <p:tag name="KSO_WM_TEMPLATE_CATEGORY" val="custom"/>
  <p:tag name="KSO_WM_TEMPLATE_INDEX" val="20205175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0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custom20205175_4*l_h_i*1_3_1"/>
  <p:tag name="KSO_WM_TEMPLATE_CATEGORY" val="custom"/>
  <p:tag name="KSO_WM_TEMPLATE_INDEX" val="20205175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0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custom20205175_4*l_h_i*1_4_1"/>
  <p:tag name="KSO_WM_TEMPLATE_CATEGORY" val="custom"/>
  <p:tag name="KSO_WM_TEMPLATE_INDEX" val="20205175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0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05175_4*i*2"/>
  <p:tag name="KSO_WM_TEMPLATE_CATEGORY" val="custom"/>
  <p:tag name="KSO_WM_TEMPLATE_INDEX" val="20205175"/>
  <p:tag name="KSO_WM_UNIT_LAYERLEVEL" val="1"/>
  <p:tag name="KSO_WM_TAG_VERSION" val="1.0"/>
  <p:tag name="KSO_WM_BEAUTIFY_FLAG" val="#wm#"/>
  <p:tag name="KSO_WM_UNIT_LINE_FORE_SCHEMECOLOR_INDEX" val="13"/>
  <p:tag name="KSO_WM_UNIT_LINE_FILL_TYPE" val="2"/>
  <p:tag name="KSO_WM_UNIT_USESOURCEFORMAT_APPLY" val="0"/>
</p:tagLst>
</file>

<file path=ppt/tags/tag71.xml><?xml version="1.0" encoding="utf-8"?>
<p:tagLst xmlns:p="http://schemas.openxmlformats.org/presentationml/2006/main">
  <p:tag name="KSO_WM_UNIT_ISCONTENTSTITLE" val="1"/>
  <p:tag name="KSO_WM_UNIT_PRESET_TEXT" val="目录"/>
  <p:tag name="KSO_WM_UNIT_NOCLEAR" val="1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5175_4*a*1"/>
  <p:tag name="KSO_WM_TEMPLATE_CATEGORY" val="custom"/>
  <p:tag name="KSO_WM_TEMPLATE_INDEX" val="20205175"/>
  <p:tag name="KSO_WM_UNIT_LAYERLEVEL" val="1"/>
  <p:tag name="KSO_WM_TAG_VERSION" val="1.0"/>
  <p:tag name="KSO_WM_BEAUTIFY_FLAG" val="#wm#"/>
  <p:tag name="KSO_WM_UNIT_ISNUMDGMTITLE" val="0"/>
  <p:tag name="KSO_WM_UNIT_TEXT_FILL_FORE_SCHEMECOLOR_INDEX" val="14"/>
  <p:tag name="KSO_WM_UNIT_TEXT_FILL_TYPE" val="1"/>
  <p:tag name="KSO_WM_UNIT_USESOURCEFORMAT_APPLY" val="0"/>
</p:tagLst>
</file>

<file path=ppt/tags/tag72.xml><?xml version="1.0" encoding="utf-8"?>
<p:tagLst xmlns:p="http://schemas.openxmlformats.org/presentationml/2006/main">
  <p:tag name="KSO_WM_UNIT_ISCONTENTSTITLE" val="0"/>
  <p:tag name="KSO_WM_UNIT_PRESET_TEXT" val="CONTENTS"/>
  <p:tag name="KSO_WM_UNIT_NOCLEAR" val="1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ID" val="custom20205175_4*b*1"/>
  <p:tag name="KSO_WM_TEMPLATE_CATEGORY" val="custom"/>
  <p:tag name="KSO_WM_TEMPLATE_INDEX" val="20205175"/>
  <p:tag name="KSO_WM_UNIT_LAYERLEVEL" val="1"/>
  <p:tag name="KSO_WM_TAG_VERSION" val="1.0"/>
  <p:tag name="KSO_WM_BEAUTIFY_FLAG" val="#wm#"/>
  <p:tag name="KSO_WM_UNIT_ISNUMDGMTITLE" val="0"/>
  <p:tag name="KSO_WM_UNIT_TEXT_FILL_FORE_SCHEMECOLOR_INDEX" val="14"/>
  <p:tag name="KSO_WM_UNIT_TEXT_FILL_TYPE" val="1"/>
  <p:tag name="KSO_WM_UNIT_USESOURCEFORMAT_APPLY" val="0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05175_4*i*1"/>
  <p:tag name="KSO_WM_TEMPLATE_CATEGORY" val="custom"/>
  <p:tag name="KSO_WM_TEMPLATE_INDEX" val="20205175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74.xml><?xml version="1.0" encoding="utf-8"?>
<p:tagLst xmlns:p="http://schemas.openxmlformats.org/presentationml/2006/main">
  <p:tag name="KSO_WM_UNIT_ISCONTENTSTITLE" val="0"/>
  <p:tag name="KSO_WM_UNIT_PRESET_TEXT" val="单击输入章节标题......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05175_4*l_h_f*1_2_1"/>
  <p:tag name="KSO_WM_TEMPLATE_CATEGORY" val="custom"/>
  <p:tag name="KSO_WM_TEMPLATE_INDEX" val="20205175"/>
  <p:tag name="KSO_WM_UNIT_LAYERLEVEL" val="1_1_1"/>
  <p:tag name="KSO_WM_TAG_VERSION" val="1.0"/>
  <p:tag name="KSO_WM_BEAUTIFY_FLAG" val="#wm#"/>
  <p:tag name="KSO_WM_UNIT_SHOW_EDIT_AREA_INDICATION" val="1"/>
  <p:tag name="KSO_WM_UNIT_TEXT_FILL_FORE_SCHEMECOLOR_INDEX" val="14"/>
  <p:tag name="KSO_WM_UNIT_TEXT_FILL_TYPE" val="1"/>
  <p:tag name="KSO_WM_UNIT_USESOURCEFORMAT_APPLY" val="0"/>
</p:tagLst>
</file>

<file path=ppt/tags/tag75.xml><?xml version="1.0" encoding="utf-8"?>
<p:tagLst xmlns:p="http://schemas.openxmlformats.org/presentationml/2006/main">
  <p:tag name="KSO_WM_UNIT_ISCONTENTSTITLE" val="0"/>
  <p:tag name="KSO_WM_UNIT_PRESET_TEXT" val="单击输入章节标题......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05175_4*l_h_f*1_3_1"/>
  <p:tag name="KSO_WM_TEMPLATE_CATEGORY" val="custom"/>
  <p:tag name="KSO_WM_TEMPLATE_INDEX" val="20205175"/>
  <p:tag name="KSO_WM_UNIT_LAYERLEVEL" val="1_1_1"/>
  <p:tag name="KSO_WM_TAG_VERSION" val="1.0"/>
  <p:tag name="KSO_WM_BEAUTIFY_FLAG" val="#wm#"/>
  <p:tag name="KSO_WM_UNIT_SHOW_EDIT_AREA_INDICATION" val="1"/>
  <p:tag name="KSO_WM_UNIT_TEXT_FILL_FORE_SCHEMECOLOR_INDEX" val="14"/>
  <p:tag name="KSO_WM_UNIT_TEXT_FILL_TYPE" val="1"/>
  <p:tag name="KSO_WM_UNIT_USESOURCEFORMAT_APPLY" val="0"/>
</p:tagLst>
</file>

<file path=ppt/tags/tag76.xml><?xml version="1.0" encoding="utf-8"?>
<p:tagLst xmlns:p="http://schemas.openxmlformats.org/presentationml/2006/main">
  <p:tag name="KSO_WM_UNIT_ISCONTENTSTITLE" val="0"/>
  <p:tag name="KSO_WM_UNIT_PRESET_TEXT" val="单击输入章节标题......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05175_4*l_h_f*1_4_1"/>
  <p:tag name="KSO_WM_TEMPLATE_CATEGORY" val="custom"/>
  <p:tag name="KSO_WM_TEMPLATE_INDEX" val="20205175"/>
  <p:tag name="KSO_WM_UNIT_LAYERLEVEL" val="1_1_1"/>
  <p:tag name="KSO_WM_TAG_VERSION" val="1.0"/>
  <p:tag name="KSO_WM_BEAUTIFY_FLAG" val="#wm#"/>
  <p:tag name="KSO_WM_UNIT_SHOW_EDIT_AREA_INDICATION" val="1"/>
  <p:tag name="KSO_WM_UNIT_TEXT_FILL_FORE_SCHEMECOLOR_INDEX" val="14"/>
  <p:tag name="KSO_WM_UNIT_TEXT_FILL_TYPE" val="1"/>
  <p:tag name="KSO_WM_UNIT_USESOURCEFORMAT_APPLY" val="0"/>
</p:tagLst>
</file>

<file path=ppt/tags/tag77.xml><?xml version="1.0" encoding="utf-8"?>
<p:tagLst xmlns:p="http://schemas.openxmlformats.org/presentationml/2006/main">
  <p:tag name="KSO_WM_SLIDE_ID" val="custom20205175_4"/>
  <p:tag name="KSO_WM_TEMPLATE_SUBCATEGORY" val="19"/>
  <p:tag name="KSO_WM_TEMPLATE_MASTER_TYPE" val="0"/>
  <p:tag name="KSO_WM_TEMPLATE_COLOR_TYPE" val="1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05175"/>
  <p:tag name="KSO_WM_SLIDE_LAYOUT" val="a_b_l"/>
  <p:tag name="KSO_WM_SLIDE_LAYOUT_CNT" val="1_1_1"/>
  <p:tag name="KSO_WM_UNIT_SHOW_EDIT_AREA_INDICATION" val="1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4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9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5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0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2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5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8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1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4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6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9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2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5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8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1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4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9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1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4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6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9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2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5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7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0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5_1*b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2929</Words>
  <Application>WPS 演示</Application>
  <PresentationFormat>宽屏</PresentationFormat>
  <Paragraphs>363</Paragraphs>
  <Slides>54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2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亚马逊运营之道-运营必修十一 CPC关键词广告 - 亚马逊运营的核心</vt:lpstr>
      <vt:lpstr>PowerPoint 演示文稿</vt:lpstr>
      <vt:lpstr>第一部分:为什么没销量?</vt:lpstr>
      <vt:lpstr>1.是不是好产品?</vt:lpstr>
      <vt:lpstr>2.客户为什么拒绝?</vt:lpstr>
      <vt:lpstr>3.流量够不够?</vt:lpstr>
      <vt:lpstr>第二部分 提升曝光( Impression )</vt:lpstr>
      <vt:lpstr>1. Display Ads-横幅广告</vt:lpstr>
      <vt:lpstr>Display Ads-横幅广告</vt:lpstr>
      <vt:lpstr>2. Top of Search-顶部广告</vt:lpstr>
      <vt:lpstr>Top of Search-顶部广告</vt:lpstr>
      <vt:lpstr>3. Other-底部广告</vt:lpstr>
      <vt:lpstr>Other-底部广告</vt:lpstr>
      <vt:lpstr>4. Other (Middle of search)-搜索结果中间广告</vt:lpstr>
      <vt:lpstr>搜索结果中间广告</vt:lpstr>
      <vt:lpstr>7. Other-购物车五点下方</vt:lpstr>
      <vt:lpstr>购物车五点下方</vt:lpstr>
      <vt:lpstr>结论:如果想要提高曝光量,只 需要提高4个指标:</vt:lpstr>
      <vt:lpstr>第三部分 提升点击(CTR )</vt:lpstr>
      <vt:lpstr>影响CTR的六大指标</vt:lpstr>
      <vt:lpstr>1.产品主图:带个性化包装</vt:lpstr>
      <vt:lpstr>个性化的包装</vt:lpstr>
      <vt:lpstr>差异化体现</vt:lpstr>
      <vt:lpstr>2.产品标题:一目了然</vt:lpstr>
      <vt:lpstr>3.产品价格:有竞争力</vt:lpstr>
      <vt:lpstr>产品价格:有竞争力</vt:lpstr>
      <vt:lpstr>4.产品评价: 4星以上,越多越好</vt:lpstr>
      <vt:lpstr>5.推荐标记的叠加效果</vt:lpstr>
      <vt:lpstr>6.没有FBA库存做广告是浪费!</vt:lpstr>
      <vt:lpstr>结论:如果要提高CTR,必须</vt:lpstr>
      <vt:lpstr>第四部分 提升转化( Conversion )</vt:lpstr>
      <vt:lpstr>转化率= Listing页面的健康指数</vt:lpstr>
      <vt:lpstr>让自己的页面看_上去饱满、热闹</vt:lpstr>
      <vt:lpstr>差评绝对是转化率杀手</vt:lpstr>
      <vt:lpstr>总结:提升转化率需要</vt:lpstr>
      <vt:lpstr>第四部分 通过广告快速推广新品的方法</vt:lpstr>
      <vt:lpstr>开启广告前</vt:lpstr>
      <vt:lpstr>新卖家必须面对的问题</vt:lpstr>
      <vt:lpstr>1.每日预算定多少?</vt:lpstr>
      <vt:lpstr>2.起始时间多久?</vt:lpstr>
      <vt:lpstr>3.默认竞价(缺省竞价)</vt:lpstr>
      <vt:lpstr>默认竞价</vt:lpstr>
      <vt:lpstr>4.自动投放</vt:lpstr>
      <vt:lpstr>选择自动投放</vt:lpstr>
      <vt:lpstr>同时添加所有你需要观察的产品</vt:lpstr>
      <vt:lpstr>观察一周后的数据</vt:lpstr>
      <vt:lpstr>提示:自动投放不是必须操作的一步; </vt:lpstr>
      <vt:lpstr>5.手动投放</vt:lpstr>
      <vt:lpstr>设置方法</vt:lpstr>
      <vt:lpstr>你可以同样添加指定关键词</vt:lpstr>
      <vt:lpstr>第五部分 为广告加把火</vt:lpstr>
      <vt:lpstr>做广告的同时提升转化率</vt:lpstr>
      <vt:lpstr>广告运行正确的效果</vt:lpstr>
      <vt:lpstr>XIAKE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274</cp:revision>
  <dcterms:created xsi:type="dcterms:W3CDTF">2019-06-19T02:08:00Z</dcterms:created>
  <dcterms:modified xsi:type="dcterms:W3CDTF">2020-05-10T13:19:07Z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2052-11.1.0.9584</vt:lpwstr>
  </property>
</Properties>
</file>