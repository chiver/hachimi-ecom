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5" r:id="rId3"/>
    <p:sldId id="271" r:id="rId5"/>
    <p:sldId id="274" r:id="rId6"/>
    <p:sldId id="272" r:id="rId7"/>
    <p:sldId id="273" r:id="rId8"/>
    <p:sldId id="257" r:id="rId9"/>
    <p:sldId id="259" r:id="rId10"/>
    <p:sldId id="262" r:id="rId11"/>
    <p:sldId id="266" r:id="rId12"/>
    <p:sldId id="267" r:id="rId13"/>
    <p:sldId id="268" r:id="rId14"/>
    <p:sldId id="270" r:id="rId15"/>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哒哒 熊猫" initials="哒哒"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123.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3" Type="http://schemas.openxmlformats.org/officeDocument/2006/relationships/notesSlide" Target="../notesSlides/notesSlide1.xml"/><Relationship Id="rId12" Type="http://schemas.openxmlformats.org/officeDocument/2006/relationships/slideLayout" Target="../slideLayouts/slideLayout6.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74.xml"/><Relationship Id="rId3" Type="http://schemas.openxmlformats.org/officeDocument/2006/relationships/image" Target="../media/image2.png"/><Relationship Id="rId2" Type="http://schemas.openxmlformats.org/officeDocument/2006/relationships/tags" Target="../tags/tag73.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7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ags" Target="../tags/tag7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tags" Target="../tags/tag78.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7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81.xml"/><Relationship Id="rId5" Type="http://schemas.openxmlformats.org/officeDocument/2006/relationships/image" Target="../media/image10.png"/><Relationship Id="rId4" Type="http://schemas.openxmlformats.org/officeDocument/2006/relationships/tags" Target="../tags/tag80.xml"/><Relationship Id="rId3" Type="http://schemas.openxmlformats.org/officeDocument/2006/relationships/image" Target="../media/image9.png"/><Relationship Id="rId2" Type="http://schemas.openxmlformats.org/officeDocument/2006/relationships/tags" Target="../tags/tag79.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6.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6.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6.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2" Type="http://schemas.openxmlformats.org/officeDocument/2006/relationships/notesSlide" Target="../notesSlides/notesSlide5.xml"/><Relationship Id="rId11" Type="http://schemas.openxmlformats.org/officeDocument/2006/relationships/slideLayout" Target="../slideLayouts/slideLayout6.xml"/><Relationship Id="rId10" Type="http://schemas.openxmlformats.org/officeDocument/2006/relationships/tags" Target="../tags/tag105.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1" Type="http://schemas.openxmlformats.org/officeDocument/2006/relationships/notesSlide" Target="../notesSlides/notesSlide6.xml"/><Relationship Id="rId10" Type="http://schemas.openxmlformats.org/officeDocument/2006/relationships/slideLayout" Target="../slideLayouts/slideLayout6.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0" Type="http://schemas.openxmlformats.org/officeDocument/2006/relationships/notesSlide" Target="../notesSlides/notesSlide7.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6.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对象6"/>
          <p:cNvSpPr/>
          <p:nvPr>
            <p:custDataLst>
              <p:tags r:id="rId2"/>
            </p:custDataLst>
          </p:nvPr>
        </p:nvSpPr>
        <p:spPr>
          <a:xfrm>
            <a:off x="699969" y="1857983"/>
            <a:ext cx="4086040" cy="4048800"/>
          </a:xfrm>
          <a:custGeom>
            <a:avLst/>
            <a:gdLst/>
            <a:ahLst/>
            <a:cxnLst/>
            <a:rect l="l" t="t" r="r" b="b"/>
            <a:pathLst>
              <a:path w="4059936" h="4059936">
                <a:moveTo>
                  <a:pt x="137160" y="2359152"/>
                </a:moveTo>
                <a:cubicBezTo>
                  <a:pt x="-45720" y="2176272"/>
                  <a:pt x="-45720" y="1883664"/>
                  <a:pt x="137160" y="1700784"/>
                </a:cubicBezTo>
                <a:lnTo>
                  <a:pt x="1700784" y="137160"/>
                </a:lnTo>
                <a:cubicBezTo>
                  <a:pt x="1883664" y="-45720"/>
                  <a:pt x="2176272" y="-45720"/>
                  <a:pt x="2359152" y="137160"/>
                </a:cubicBezTo>
                <a:lnTo>
                  <a:pt x="3931920" y="1700784"/>
                </a:lnTo>
                <a:cubicBezTo>
                  <a:pt x="4105656" y="1883664"/>
                  <a:pt x="4105656" y="2176272"/>
                  <a:pt x="3931920" y="2359152"/>
                </a:cubicBezTo>
                <a:lnTo>
                  <a:pt x="2359152" y="3931920"/>
                </a:lnTo>
                <a:cubicBezTo>
                  <a:pt x="2176272" y="4105656"/>
                  <a:pt x="1883664" y="4105656"/>
                  <a:pt x="1700784" y="3931920"/>
                </a:cubicBezTo>
                <a:lnTo>
                  <a:pt x="137160" y="2359152"/>
                </a:lnTo>
              </a:path>
            </a:pathLst>
          </a:custGeom>
          <a:solidFill>
            <a:schemeClr val="accent1">
              <a:lumMod val="30000"/>
              <a:lumOff val="70000"/>
              <a:alpha val="30000"/>
            </a:schemeClr>
          </a:solidFill>
        </p:spPr>
        <p:txBody>
          <a:bodyPr lIns="0" tIns="0" rIns="0" bIns="0">
            <a:noAutofit/>
          </a:bodyPr>
          <a:lstStyle/>
          <a:p>
            <a:endParaRPr lang="zh-CN" altLang="en-US" dirty="0">
              <a:latin typeface="+mn-ea"/>
            </a:endParaRPr>
          </a:p>
        </p:txBody>
      </p:sp>
      <p:sp>
        <p:nvSpPr>
          <p:cNvPr id="14" name="对象1"/>
          <p:cNvSpPr/>
          <p:nvPr>
            <p:custDataLst>
              <p:tags r:id="rId3"/>
            </p:custDataLst>
          </p:nvPr>
        </p:nvSpPr>
        <p:spPr>
          <a:xfrm>
            <a:off x="5188762" y="3302882"/>
            <a:ext cx="6325344" cy="1143000"/>
          </a:xfrm>
          <a:custGeom>
            <a:avLst/>
            <a:gdLst/>
            <a:ahLst/>
            <a:cxnLst/>
            <a:rect l="l" t="t" r="r" b="b"/>
            <a:pathLst>
              <a:path w="6409944" h="1143000">
                <a:moveTo>
                  <a:pt x="9144" y="1143000"/>
                </a:moveTo>
                <a:lnTo>
                  <a:pt x="6391656" y="1143000"/>
                </a:lnTo>
                <a:cubicBezTo>
                  <a:pt x="6400800" y="1143000"/>
                  <a:pt x="6409944" y="1133856"/>
                  <a:pt x="6409944" y="1133856"/>
                </a:cubicBezTo>
                <a:lnTo>
                  <a:pt x="6409944" y="9144"/>
                </a:lnTo>
                <a:cubicBezTo>
                  <a:pt x="6409944" y="9144"/>
                  <a:pt x="6400800" y="0"/>
                  <a:pt x="6391656" y="0"/>
                </a:cubicBezTo>
                <a:lnTo>
                  <a:pt x="9144" y="0"/>
                </a:lnTo>
                <a:cubicBezTo>
                  <a:pt x="0" y="0"/>
                  <a:pt x="0" y="9144"/>
                  <a:pt x="0" y="18288"/>
                </a:cubicBezTo>
                <a:lnTo>
                  <a:pt x="548640" y="566928"/>
                </a:lnTo>
                <a:cubicBezTo>
                  <a:pt x="548640" y="566928"/>
                  <a:pt x="548640" y="576072"/>
                  <a:pt x="548640" y="576072"/>
                </a:cubicBezTo>
                <a:lnTo>
                  <a:pt x="0" y="1124712"/>
                </a:lnTo>
                <a:cubicBezTo>
                  <a:pt x="0" y="1133856"/>
                  <a:pt x="0" y="1143000"/>
                  <a:pt x="9144" y="1143000"/>
                </a:cubicBezTo>
              </a:path>
            </a:pathLst>
          </a:custGeom>
          <a:noFill/>
          <a:ln w="12700">
            <a:gradFill>
              <a:gsLst>
                <a:gs pos="100000">
                  <a:schemeClr val="accent2">
                    <a:lumMod val="20000"/>
                    <a:lumOff val="80000"/>
                    <a:alpha val="0"/>
                  </a:schemeClr>
                </a:gs>
                <a:gs pos="2000">
                  <a:schemeClr val="accent1"/>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36000" tIns="0" rIns="0" bIns="0" numCol="1" spcCol="0" rtlCol="0" fromWordArt="0" anchor="ctr" anchorCtr="0" forceAA="0" compatLnSpc="1">
            <a:noAutofit/>
          </a:bodyPr>
          <a:lstStyle/>
          <a:p>
            <a:pPr>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推广案例的此产品已经是公司内产品开发的同类目第二个私模产品能实现</a:t>
            </a:r>
            <a:r>
              <a:rPr lang="zh-CN" altLang="en-US" sz="1600" dirty="0">
                <a:solidFill>
                  <a:schemeClr val="tx1">
                    <a:lumMod val="85000"/>
                    <a:lumOff val="15000"/>
                  </a:schemeClr>
                </a:solidFill>
                <a:latin typeface="+mn-ea"/>
                <a:cs typeface="+mn-ea"/>
                <a:sym typeface="+mn-ea"/>
              </a:rPr>
              <a:t>此类目高价产品的功能，退货率控制在</a:t>
            </a:r>
            <a:r>
              <a:rPr lang="en-US" altLang="zh-CN" sz="1600" dirty="0">
                <a:solidFill>
                  <a:schemeClr val="tx1">
                    <a:lumMod val="85000"/>
                    <a:lumOff val="15000"/>
                  </a:schemeClr>
                </a:solidFill>
                <a:latin typeface="+mn-ea"/>
                <a:cs typeface="+mn-ea"/>
                <a:sym typeface="+mn-ea"/>
              </a:rPr>
              <a:t>4%</a:t>
            </a:r>
            <a:r>
              <a:rPr lang="zh-CN" altLang="en-US" sz="1600" dirty="0">
                <a:solidFill>
                  <a:schemeClr val="tx1">
                    <a:lumMod val="85000"/>
                    <a:lumOff val="15000"/>
                  </a:schemeClr>
                </a:solidFill>
                <a:latin typeface="+mn-ea"/>
                <a:cs typeface="+mn-ea"/>
                <a:sym typeface="+mn-ea"/>
              </a:rPr>
              <a:t>以内</a:t>
            </a:r>
            <a:endParaRPr lang="zh-CN" altLang="en-US" sz="1600" dirty="0">
              <a:solidFill>
                <a:schemeClr val="tx1">
                  <a:lumMod val="85000"/>
                  <a:lumOff val="15000"/>
                </a:schemeClr>
              </a:solidFill>
              <a:latin typeface="+mn-ea"/>
              <a:cs typeface="+mn-ea"/>
              <a:sym typeface="+mn-ea"/>
            </a:endParaRPr>
          </a:p>
        </p:txBody>
      </p:sp>
      <p:sp>
        <p:nvSpPr>
          <p:cNvPr id="16" name="对象2"/>
          <p:cNvSpPr/>
          <p:nvPr>
            <p:custDataLst>
              <p:tags r:id="rId4"/>
            </p:custDataLst>
          </p:nvPr>
        </p:nvSpPr>
        <p:spPr>
          <a:xfrm>
            <a:off x="4008209" y="2020792"/>
            <a:ext cx="7487791" cy="1132205"/>
          </a:xfrm>
          <a:custGeom>
            <a:avLst/>
            <a:gdLst>
              <a:gd name="connsiteX0" fmla="*/ 1722 w 11918"/>
              <a:gd name="connsiteY0" fmla="*/ 1783 h 1783"/>
              <a:gd name="connsiteX1" fmla="*/ 1665 w 11918"/>
              <a:gd name="connsiteY1" fmla="*/ 1754 h 1783"/>
              <a:gd name="connsiteX2" fmla="*/ 1636 w 11918"/>
              <a:gd name="connsiteY2" fmla="*/ 1740 h 1783"/>
              <a:gd name="connsiteX3" fmla="*/ 9 w 11918"/>
              <a:gd name="connsiteY3" fmla="*/ 127 h 1783"/>
              <a:gd name="connsiteX4" fmla="*/ 253 w 11918"/>
              <a:gd name="connsiteY4" fmla="*/ 8 h 1783"/>
              <a:gd name="connsiteX5" fmla="*/ 11810 w 11918"/>
              <a:gd name="connsiteY5" fmla="*/ 0 h 1783"/>
              <a:gd name="connsiteX6" fmla="*/ 11918 w 11918"/>
              <a:gd name="connsiteY6" fmla="*/ 69 h 1783"/>
              <a:gd name="connsiteX7" fmla="*/ 11918 w 11918"/>
              <a:gd name="connsiteY7" fmla="*/ 1697 h 1783"/>
              <a:gd name="connsiteX8" fmla="*/ 11831 w 11918"/>
              <a:gd name="connsiteY8" fmla="*/ 1783 h 1783"/>
              <a:gd name="connsiteX9" fmla="*/ 1722 w 11918"/>
              <a:gd name="connsiteY9" fmla="*/ 1783 h 1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18" h="1783">
                <a:moveTo>
                  <a:pt x="1722" y="1783"/>
                </a:moveTo>
                <a:cubicBezTo>
                  <a:pt x="1694" y="1783"/>
                  <a:pt x="1679" y="1769"/>
                  <a:pt x="1665" y="1754"/>
                </a:cubicBezTo>
                <a:cubicBezTo>
                  <a:pt x="1650" y="1754"/>
                  <a:pt x="1650" y="1740"/>
                  <a:pt x="1636" y="1740"/>
                </a:cubicBezTo>
                <a:lnTo>
                  <a:pt x="9" y="127"/>
                </a:lnTo>
                <a:cubicBezTo>
                  <a:pt x="-49" y="69"/>
                  <a:pt x="181" y="8"/>
                  <a:pt x="253" y="8"/>
                </a:cubicBezTo>
                <a:lnTo>
                  <a:pt x="11810" y="0"/>
                </a:lnTo>
                <a:cubicBezTo>
                  <a:pt x="11897" y="28"/>
                  <a:pt x="11918" y="12"/>
                  <a:pt x="11918" y="69"/>
                </a:cubicBezTo>
                <a:lnTo>
                  <a:pt x="11918" y="1697"/>
                </a:lnTo>
                <a:cubicBezTo>
                  <a:pt x="11918" y="1754"/>
                  <a:pt x="11874" y="1783"/>
                  <a:pt x="11831" y="1783"/>
                </a:cubicBezTo>
                <a:lnTo>
                  <a:pt x="1722" y="1783"/>
                </a:lnTo>
              </a:path>
            </a:pathLst>
          </a:custGeom>
          <a:noFill/>
          <a:ln w="12700">
            <a:gradFill>
              <a:gsLst>
                <a:gs pos="100000">
                  <a:schemeClr val="accent2">
                    <a:lumMod val="20000"/>
                    <a:lumOff val="80000"/>
                    <a:alpha val="0"/>
                  </a:schemeClr>
                </a:gs>
                <a:gs pos="2000">
                  <a:schemeClr val="accent1"/>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24000" tIns="0" rIns="0" bIns="0" numCol="1" spcCol="0" rtlCol="0" fromWordArt="0" anchor="ctr" anchorCtr="0" forceAA="0" compatLnSpc="1">
            <a:noAutofit/>
          </a:bodyPr>
          <a:lstStyle/>
          <a:p>
            <a:pPr>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此类目标配属性产品价格</a:t>
            </a:r>
            <a:r>
              <a:rPr lang="en-US" altLang="zh-CN" sz="1600" dirty="0">
                <a:solidFill>
                  <a:schemeClr val="tx1">
                    <a:lumMod val="85000"/>
                    <a:lumOff val="15000"/>
                  </a:schemeClr>
                </a:solidFill>
                <a:latin typeface="+mn-ea"/>
                <a:cs typeface="+mn-ea"/>
                <a:sym typeface="+mn-ea"/>
              </a:rPr>
              <a:t>9.9-29.9</a:t>
            </a:r>
            <a:r>
              <a:rPr lang="zh-CN" altLang="en-US" sz="1600" dirty="0">
                <a:solidFill>
                  <a:schemeClr val="tx1">
                    <a:lumMod val="85000"/>
                    <a:lumOff val="15000"/>
                  </a:schemeClr>
                </a:solidFill>
                <a:latin typeface="+mn-ea"/>
                <a:cs typeface="+mn-ea"/>
                <a:sym typeface="+mn-ea"/>
              </a:rPr>
              <a:t>美金，加装属性产品价格</a:t>
            </a:r>
            <a:r>
              <a:rPr lang="en-US" altLang="zh-CN" sz="1600" dirty="0">
                <a:solidFill>
                  <a:schemeClr val="tx1">
                    <a:lumMod val="85000"/>
                    <a:lumOff val="15000"/>
                  </a:schemeClr>
                </a:solidFill>
                <a:latin typeface="+mn-ea"/>
                <a:cs typeface="+mn-ea"/>
                <a:sym typeface="+mn-ea"/>
              </a:rPr>
              <a:t>32-49.98</a:t>
            </a:r>
            <a:r>
              <a:rPr lang="zh-CN" altLang="en-US" sz="1600" dirty="0">
                <a:solidFill>
                  <a:schemeClr val="tx1">
                    <a:lumMod val="85000"/>
                    <a:lumOff val="15000"/>
                  </a:schemeClr>
                </a:solidFill>
                <a:latin typeface="+mn-ea"/>
                <a:cs typeface="+mn-ea"/>
                <a:sym typeface="+mn-ea"/>
              </a:rPr>
              <a:t>美金</a:t>
            </a:r>
            <a:r>
              <a:rPr lang="zh-CN" altLang="en-US" sz="1600" dirty="0">
                <a:solidFill>
                  <a:schemeClr val="tx1">
                    <a:lumMod val="85000"/>
                    <a:lumOff val="15000"/>
                  </a:schemeClr>
                </a:solidFill>
                <a:latin typeface="+mn-ea"/>
                <a:cs typeface="+mn-ea"/>
                <a:sym typeface="+mn-ea"/>
              </a:rPr>
              <a:t>类目平均转化率</a:t>
            </a:r>
            <a:r>
              <a:rPr lang="en-US" altLang="zh-CN" sz="1600" dirty="0">
                <a:solidFill>
                  <a:schemeClr val="tx1">
                    <a:lumMod val="85000"/>
                    <a:lumOff val="15000"/>
                  </a:schemeClr>
                </a:solidFill>
                <a:latin typeface="+mn-ea"/>
                <a:cs typeface="+mn-ea"/>
                <a:sym typeface="+mn-ea"/>
              </a:rPr>
              <a:t>6</a:t>
            </a:r>
            <a:r>
              <a:rPr lang="en-US" altLang="zh-CN" sz="1600" dirty="0">
                <a:solidFill>
                  <a:schemeClr val="tx1">
                    <a:lumMod val="85000"/>
                    <a:lumOff val="15000"/>
                  </a:schemeClr>
                </a:solidFill>
                <a:latin typeface="+mn-ea"/>
                <a:cs typeface="+mn-ea"/>
                <a:sym typeface="+mn-ea"/>
              </a:rPr>
              <a:t>-10%</a:t>
            </a:r>
            <a:r>
              <a:rPr lang="en-US" altLang="zh-CN" sz="1600" dirty="0">
                <a:solidFill>
                  <a:schemeClr val="tx1">
                    <a:lumMod val="85000"/>
                    <a:lumOff val="15000"/>
                  </a:schemeClr>
                </a:solidFill>
                <a:latin typeface="+mn-ea"/>
                <a:cs typeface="+mn-ea"/>
                <a:sym typeface="+mn-ea"/>
              </a:rPr>
              <a:t>                                                                                                                                                       </a:t>
            </a:r>
            <a:endParaRPr lang="en-US" altLang="zh-CN" sz="1600" dirty="0">
              <a:solidFill>
                <a:schemeClr val="tx1">
                  <a:lumMod val="85000"/>
                  <a:lumOff val="15000"/>
                </a:schemeClr>
              </a:solidFill>
              <a:latin typeface="+mn-ea"/>
              <a:cs typeface="+mn-ea"/>
              <a:sym typeface="+mn-ea"/>
            </a:endParaRPr>
          </a:p>
        </p:txBody>
      </p:sp>
      <p:sp>
        <p:nvSpPr>
          <p:cNvPr id="18" name="对象3"/>
          <p:cNvSpPr/>
          <p:nvPr>
            <p:custDataLst>
              <p:tags r:id="rId5"/>
            </p:custDataLst>
          </p:nvPr>
        </p:nvSpPr>
        <p:spPr>
          <a:xfrm>
            <a:off x="3995293" y="4595361"/>
            <a:ext cx="7487791" cy="1143000"/>
          </a:xfrm>
          <a:custGeom>
            <a:avLst/>
            <a:gdLst/>
            <a:ahLst/>
            <a:cxnLst/>
            <a:rect l="l" t="t" r="r" b="b"/>
            <a:pathLst>
              <a:path w="7580376" h="1143000">
                <a:moveTo>
                  <a:pt x="1106424" y="0"/>
                </a:moveTo>
                <a:cubicBezTo>
                  <a:pt x="1088136" y="0"/>
                  <a:pt x="1078992" y="9144"/>
                  <a:pt x="1069848" y="18288"/>
                </a:cubicBezTo>
                <a:cubicBezTo>
                  <a:pt x="1060704" y="18288"/>
                  <a:pt x="1060704" y="27432"/>
                  <a:pt x="1051560" y="27432"/>
                </a:cubicBezTo>
                <a:lnTo>
                  <a:pt x="18288" y="1051560"/>
                </a:lnTo>
                <a:cubicBezTo>
                  <a:pt x="-18288" y="1088136"/>
                  <a:pt x="9144" y="1143000"/>
                  <a:pt x="54864" y="1143000"/>
                </a:cubicBezTo>
                <a:lnTo>
                  <a:pt x="7525512" y="1143000"/>
                </a:lnTo>
                <a:cubicBezTo>
                  <a:pt x="7552944" y="1143000"/>
                  <a:pt x="7580376" y="1124712"/>
                  <a:pt x="7580376" y="1088136"/>
                </a:cubicBezTo>
                <a:lnTo>
                  <a:pt x="7580376" y="54864"/>
                </a:lnTo>
                <a:cubicBezTo>
                  <a:pt x="7580376" y="18288"/>
                  <a:pt x="7552944" y="0"/>
                  <a:pt x="7525512" y="0"/>
                </a:cubicBezTo>
                <a:lnTo>
                  <a:pt x="1106424" y="0"/>
                </a:lnTo>
              </a:path>
            </a:pathLst>
          </a:custGeom>
          <a:noFill/>
          <a:ln w="12700">
            <a:gradFill>
              <a:gsLst>
                <a:gs pos="100000">
                  <a:schemeClr val="accent2">
                    <a:lumMod val="20000"/>
                    <a:lumOff val="80000"/>
                    <a:alpha val="0"/>
                  </a:schemeClr>
                </a:gs>
                <a:gs pos="2000">
                  <a:schemeClr val="accent1"/>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24000" tIns="0" rIns="0" bIns="0" numCol="1" spcCol="0" rtlCol="0" fromWordArt="0" anchor="ctr" anchorCtr="0" forceAA="0" compatLnSpc="1">
            <a:noAutofit/>
          </a:bodyPr>
          <a:lstStyle/>
          <a:p>
            <a:pPr>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销售目标是，</a:t>
            </a:r>
            <a:r>
              <a:rPr lang="en-US" altLang="zh-CN" sz="1600" dirty="0">
                <a:solidFill>
                  <a:schemeClr val="tx1">
                    <a:lumMod val="85000"/>
                    <a:lumOff val="15000"/>
                  </a:schemeClr>
                </a:solidFill>
                <a:latin typeface="+mn-ea"/>
                <a:cs typeface="+mn-ea"/>
                <a:sym typeface="+mn-ea"/>
              </a:rPr>
              <a:t>3</a:t>
            </a:r>
            <a:r>
              <a:rPr lang="zh-CN" altLang="en-US" sz="1600" dirty="0">
                <a:solidFill>
                  <a:schemeClr val="tx1">
                    <a:lumMod val="85000"/>
                    <a:lumOff val="15000"/>
                  </a:schemeClr>
                </a:solidFill>
                <a:latin typeface="+mn-ea"/>
                <a:cs typeface="+mn-ea"/>
                <a:sym typeface="+mn-ea"/>
              </a:rPr>
              <a:t>个月链接稳定后日销</a:t>
            </a:r>
            <a:r>
              <a:rPr lang="en-US" altLang="zh-CN" sz="1600" dirty="0">
                <a:solidFill>
                  <a:schemeClr val="tx1">
                    <a:lumMod val="85000"/>
                    <a:lumOff val="15000"/>
                  </a:schemeClr>
                </a:solidFill>
                <a:latin typeface="+mn-ea"/>
                <a:cs typeface="+mn-ea"/>
                <a:sym typeface="+mn-ea"/>
              </a:rPr>
              <a:t>8</a:t>
            </a:r>
            <a:r>
              <a:rPr lang="en-US" altLang="zh-CN" sz="1600" dirty="0">
                <a:solidFill>
                  <a:schemeClr val="tx1">
                    <a:lumMod val="85000"/>
                    <a:lumOff val="15000"/>
                  </a:schemeClr>
                </a:solidFill>
                <a:latin typeface="+mn-ea"/>
                <a:cs typeface="+mn-ea"/>
                <a:sym typeface="+mn-ea"/>
              </a:rPr>
              <a:t>0</a:t>
            </a:r>
            <a:r>
              <a:rPr lang="zh-CN" altLang="en-US" sz="1600" dirty="0">
                <a:solidFill>
                  <a:schemeClr val="tx1">
                    <a:lumMod val="85000"/>
                    <a:lumOff val="15000"/>
                  </a:schemeClr>
                </a:solidFill>
                <a:latin typeface="+mn-ea"/>
                <a:cs typeface="+mn-ea"/>
                <a:sym typeface="+mn-ea"/>
              </a:rPr>
              <a:t>，月销</a:t>
            </a:r>
            <a:r>
              <a:rPr lang="en-US" altLang="zh-CN" sz="1600" dirty="0">
                <a:solidFill>
                  <a:schemeClr val="tx1">
                    <a:lumMod val="85000"/>
                    <a:lumOff val="15000"/>
                  </a:schemeClr>
                </a:solidFill>
                <a:latin typeface="+mn-ea"/>
                <a:cs typeface="+mn-ea"/>
                <a:sym typeface="+mn-ea"/>
              </a:rPr>
              <a:t>24</a:t>
            </a:r>
            <a:r>
              <a:rPr lang="en-US" altLang="zh-CN" sz="1600" dirty="0">
                <a:solidFill>
                  <a:schemeClr val="tx1">
                    <a:lumMod val="85000"/>
                    <a:lumOff val="15000"/>
                  </a:schemeClr>
                </a:solidFill>
                <a:latin typeface="+mn-ea"/>
                <a:cs typeface="+mn-ea"/>
                <a:sym typeface="+mn-ea"/>
              </a:rPr>
              <a:t>00</a:t>
            </a:r>
            <a:r>
              <a:rPr lang="zh-CN" altLang="en-US" sz="1600" dirty="0">
                <a:solidFill>
                  <a:schemeClr val="tx1">
                    <a:lumMod val="85000"/>
                    <a:lumOff val="15000"/>
                  </a:schemeClr>
                </a:solidFill>
                <a:latin typeface="+mn-ea"/>
                <a:cs typeface="+mn-ea"/>
                <a:sym typeface="+mn-ea"/>
              </a:rPr>
              <a:t>单，该目标销量属于小类前</a:t>
            </a:r>
            <a:r>
              <a:rPr lang="en-US" altLang="zh-CN" sz="1600" dirty="0">
                <a:solidFill>
                  <a:schemeClr val="tx1">
                    <a:lumMod val="85000"/>
                    <a:lumOff val="15000"/>
                  </a:schemeClr>
                </a:solidFill>
                <a:latin typeface="+mn-ea"/>
                <a:cs typeface="+mn-ea"/>
                <a:sym typeface="+mn-ea"/>
              </a:rPr>
              <a:t>30</a:t>
            </a:r>
            <a:r>
              <a:rPr lang="zh-CN" altLang="en-US" sz="1600" dirty="0">
                <a:solidFill>
                  <a:schemeClr val="tx1">
                    <a:lumMod val="85000"/>
                    <a:lumOff val="15000"/>
                  </a:schemeClr>
                </a:solidFill>
                <a:latin typeface="+mn-ea"/>
                <a:cs typeface="+mn-ea"/>
                <a:sym typeface="+mn-ea"/>
              </a:rPr>
              <a:t>，黑五</a:t>
            </a:r>
            <a:r>
              <a:rPr lang="zh-CN" altLang="en-US" sz="1600" dirty="0">
                <a:solidFill>
                  <a:schemeClr val="tx1">
                    <a:lumMod val="85000"/>
                    <a:lumOff val="15000"/>
                  </a:schemeClr>
                </a:solidFill>
                <a:latin typeface="+mn-ea"/>
                <a:cs typeface="+mn-ea"/>
                <a:sym typeface="+mn-ea"/>
              </a:rPr>
              <a:t>网一之前进入小类前</a:t>
            </a:r>
            <a:r>
              <a:rPr lang="en-US" altLang="zh-CN" sz="1600" dirty="0">
                <a:solidFill>
                  <a:schemeClr val="tx1">
                    <a:lumMod val="85000"/>
                    <a:lumOff val="15000"/>
                  </a:schemeClr>
                </a:solidFill>
                <a:latin typeface="+mn-ea"/>
                <a:cs typeface="+mn-ea"/>
                <a:sym typeface="+mn-ea"/>
              </a:rPr>
              <a:t>10</a:t>
            </a:r>
            <a:endParaRPr lang="en-US" altLang="zh-CN" sz="1600" dirty="0">
              <a:solidFill>
                <a:schemeClr val="tx1">
                  <a:lumMod val="85000"/>
                  <a:lumOff val="15000"/>
                </a:schemeClr>
              </a:solidFill>
              <a:latin typeface="+mn-ea"/>
              <a:cs typeface="+mn-ea"/>
              <a:sym typeface="+mn-ea"/>
            </a:endParaRPr>
          </a:p>
        </p:txBody>
      </p:sp>
      <p:sp>
        <p:nvSpPr>
          <p:cNvPr id="2" name="对象5"/>
          <p:cNvSpPr/>
          <p:nvPr>
            <p:custDataLst>
              <p:tags r:id="rId6"/>
            </p:custDataLst>
          </p:nvPr>
        </p:nvSpPr>
        <p:spPr>
          <a:xfrm>
            <a:off x="3985349" y="1680965"/>
            <a:ext cx="731520" cy="731520"/>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chemeClr val="accent1"/>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anchor="ctr">
            <a:normAutofit/>
          </a:bodyPr>
          <a:lstStyle/>
          <a:p>
            <a:pPr algn="ctr">
              <a:spcBef>
                <a:spcPct val="0"/>
              </a:spcBef>
              <a:spcAft>
                <a:spcPct val="0"/>
              </a:spcAft>
            </a:pPr>
            <a:r>
              <a:rPr lang="en-US" altLang="zh-CN" sz="2400" b="1" smtClean="0">
                <a:latin typeface="+mn-ea"/>
                <a:cs typeface="+mn-ea"/>
                <a:sym typeface="+mn-ea"/>
              </a:rPr>
              <a:t>01</a:t>
            </a:r>
            <a:endParaRPr lang="en-US" altLang="zh-CN" sz="2400" b="1" dirty="0">
              <a:latin typeface="+mn-ea"/>
              <a:cs typeface="+mn-ea"/>
              <a:sym typeface="+mn-ea"/>
            </a:endParaRPr>
          </a:p>
        </p:txBody>
      </p:sp>
      <p:sp>
        <p:nvSpPr>
          <p:cNvPr id="4" name="对象6"/>
          <p:cNvSpPr/>
          <p:nvPr>
            <p:custDataLst>
              <p:tags r:id="rId7"/>
            </p:custDataLst>
          </p:nvPr>
        </p:nvSpPr>
        <p:spPr>
          <a:xfrm>
            <a:off x="5010821" y="3518909"/>
            <a:ext cx="731520" cy="731520"/>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chemeClr val="accent1"/>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anchor="ctr">
            <a:normAutofit/>
          </a:bodyPr>
          <a:lstStyle/>
          <a:p>
            <a:pPr algn="ctr">
              <a:spcBef>
                <a:spcPct val="0"/>
              </a:spcBef>
              <a:spcAft>
                <a:spcPct val="0"/>
              </a:spcAft>
            </a:pPr>
            <a:r>
              <a:rPr lang="en-US" altLang="zh-CN" sz="2400" b="1" smtClean="0">
                <a:latin typeface="+mn-ea"/>
                <a:cs typeface="+mn-ea"/>
                <a:sym typeface="+mn-ea"/>
              </a:rPr>
              <a:t>02</a:t>
            </a:r>
            <a:endParaRPr lang="en-US" altLang="zh-CN" sz="2400" b="1" dirty="0">
              <a:latin typeface="+mn-ea"/>
              <a:cs typeface="+mn-ea"/>
              <a:sym typeface="+mn-ea"/>
            </a:endParaRPr>
          </a:p>
        </p:txBody>
      </p:sp>
      <p:sp>
        <p:nvSpPr>
          <p:cNvPr id="9" name="对象7"/>
          <p:cNvSpPr/>
          <p:nvPr>
            <p:custDataLst>
              <p:tags r:id="rId8"/>
            </p:custDataLst>
          </p:nvPr>
        </p:nvSpPr>
        <p:spPr>
          <a:xfrm>
            <a:off x="3985349" y="5352281"/>
            <a:ext cx="731520" cy="731520"/>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chemeClr val="accent1"/>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anchor="ctr">
            <a:normAutofit/>
          </a:bodyPr>
          <a:lstStyle/>
          <a:p>
            <a:pPr algn="ctr">
              <a:spcBef>
                <a:spcPct val="0"/>
              </a:spcBef>
              <a:spcAft>
                <a:spcPct val="0"/>
              </a:spcAft>
            </a:pPr>
            <a:r>
              <a:rPr lang="en-US" altLang="zh-CN" sz="2400" b="1" smtClean="0">
                <a:latin typeface="+mn-ea"/>
                <a:cs typeface="+mn-ea"/>
                <a:sym typeface="+mn-ea"/>
              </a:rPr>
              <a:t>03</a:t>
            </a:r>
            <a:endParaRPr lang="en-US" altLang="zh-CN" sz="2400" b="1" dirty="0">
              <a:latin typeface="+mn-ea"/>
              <a:cs typeface="+mn-ea"/>
              <a:sym typeface="+mn-ea"/>
            </a:endParaRPr>
          </a:p>
        </p:txBody>
      </p:sp>
      <p:sp>
        <p:nvSpPr>
          <p:cNvPr id="17" name="对象12"/>
          <p:cNvSpPr>
            <a:spLocks noChangeAspect="1"/>
          </p:cNvSpPr>
          <p:nvPr>
            <p:custDataLst>
              <p:tags r:id="rId9"/>
            </p:custDataLst>
          </p:nvPr>
        </p:nvSpPr>
        <p:spPr>
          <a:xfrm>
            <a:off x="1148785" y="2316073"/>
            <a:ext cx="3188409" cy="3132620"/>
          </a:xfrm>
          <a:custGeom>
            <a:avLst/>
            <a:gdLst/>
            <a:ahLst/>
            <a:cxnLst/>
            <a:rect l="l" t="t" r="r" b="b"/>
            <a:pathLst>
              <a:path w="2340864" h="2340864">
                <a:moveTo>
                  <a:pt x="987552" y="73152"/>
                </a:moveTo>
                <a:lnTo>
                  <a:pt x="73152" y="987552"/>
                </a:lnTo>
                <a:cubicBezTo>
                  <a:pt x="-27432" y="1088136"/>
                  <a:pt x="-27432" y="1252728"/>
                  <a:pt x="73152" y="1353312"/>
                </a:cubicBezTo>
                <a:lnTo>
                  <a:pt x="987552" y="2267712"/>
                </a:lnTo>
                <a:cubicBezTo>
                  <a:pt x="1088136" y="2368296"/>
                  <a:pt x="1252728" y="2368296"/>
                  <a:pt x="1353312" y="2267712"/>
                </a:cubicBezTo>
                <a:lnTo>
                  <a:pt x="2267712" y="1353312"/>
                </a:lnTo>
                <a:cubicBezTo>
                  <a:pt x="2368296" y="1252728"/>
                  <a:pt x="2368296" y="1088136"/>
                  <a:pt x="2267712" y="987552"/>
                </a:cubicBezTo>
                <a:lnTo>
                  <a:pt x="1353312" y="73152"/>
                </a:lnTo>
                <a:cubicBezTo>
                  <a:pt x="1252728" y="-27432"/>
                  <a:pt x="1088136" y="-27432"/>
                  <a:pt x="987552" y="73152"/>
                </a:cubicBezTo>
              </a:path>
            </a:pathLst>
          </a:custGeom>
          <a:noFill/>
          <a:ln w="53975">
            <a:solidFill>
              <a:schemeClr val="accent1"/>
            </a:solidFill>
          </a:ln>
        </p:spPr>
        <p:txBody>
          <a:bodyPr wrap="square" lIns="360000" tIns="0" rIns="360000" bIns="0" anchor="ctr" anchorCtr="0">
            <a:noAutofit/>
          </a:bodyPr>
          <a:lstStyle/>
          <a:p>
            <a:pPr algn="ctr">
              <a:spcBef>
                <a:spcPct val="0"/>
              </a:spcBef>
              <a:spcAft>
                <a:spcPct val="0"/>
              </a:spcAft>
            </a:pPr>
            <a:r>
              <a:rPr lang="zh-CN" altLang="en-US" sz="2700" b="1" dirty="0">
                <a:solidFill>
                  <a:schemeClr val="accent1"/>
                </a:solidFill>
                <a:latin typeface="+mn-ea"/>
                <a:cs typeface="+mn-ea"/>
                <a:sym typeface="+mn-ea"/>
              </a:rPr>
              <a:t>背景介绍</a:t>
            </a:r>
            <a:endParaRPr lang="zh-CN" altLang="en-US" sz="2700" b="1" dirty="0">
              <a:solidFill>
                <a:schemeClr val="accent1"/>
              </a:solidFill>
              <a:latin typeface="+mn-ea"/>
              <a:cs typeface="+mn-ea"/>
              <a:sym typeface="+mn-ea"/>
            </a:endParaRPr>
          </a:p>
        </p:txBody>
      </p:sp>
      <p:sp>
        <p:nvSpPr>
          <p:cNvPr id="5" name="标题 4"/>
          <p:cNvSpPr>
            <a:spLocks noGrp="1"/>
          </p:cNvSpPr>
          <p:nvPr>
            <p:ph type="title"/>
            <p:custDataLst>
              <p:tags r:id="rId10"/>
            </p:custDataLst>
          </p:nvPr>
        </p:nvSpPr>
        <p:spPr/>
        <p:txBody>
          <a:bodyPr vert="horz" wrap="square" lIns="0" tIns="0" rIns="0" bIns="0" rtlCol="0" anchor="ctr" anchorCtr="0">
            <a:normAutofit/>
          </a:bodyPr>
          <a:lstStyle/>
          <a:p>
            <a:r>
              <a:rPr lang="zh-CN" altLang="en-US" dirty="0">
                <a:latin typeface="+mj-ea"/>
                <a:ea typeface="+mj-ea"/>
              </a:rPr>
              <a:t>背景</a:t>
            </a:r>
            <a:r>
              <a:rPr lang="zh-CN" altLang="en-US" dirty="0">
                <a:latin typeface="+mj-ea"/>
                <a:ea typeface="+mj-ea"/>
              </a:rPr>
              <a:t>数据</a:t>
            </a:r>
            <a:endParaRPr lang="zh-CN" altLang="en-US" dirty="0">
              <a:latin typeface="+mj-ea"/>
              <a:ea typeface="+mj-ea"/>
            </a:endParaRPr>
          </a:p>
        </p:txBody>
      </p:sp>
    </p:spTree>
    <p:custDataLst>
      <p:tags r:id="rId1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p>
            <a:r>
              <a:rPr lang="zh-CN" altLang="en-US"/>
              <a:t>类目数据，</a:t>
            </a:r>
            <a:r>
              <a:rPr lang="zh-CN" altLang="en-US"/>
              <a:t>标品</a:t>
            </a:r>
            <a:endParaRPr lang="zh-CN" altLang="en-US"/>
          </a:p>
        </p:txBody>
      </p:sp>
      <p:pic>
        <p:nvPicPr>
          <p:cNvPr id="3" name="图片 2"/>
          <p:cNvPicPr>
            <a:picLocks noChangeAspect="1"/>
          </p:cNvPicPr>
          <p:nvPr>
            <p:custDataLst>
              <p:tags r:id="rId2"/>
            </p:custDataLst>
          </p:nvPr>
        </p:nvPicPr>
        <p:blipFill>
          <a:blip r:embed="rId3"/>
          <a:stretch>
            <a:fillRect/>
          </a:stretch>
        </p:blipFill>
        <p:spPr>
          <a:xfrm>
            <a:off x="139700" y="1546225"/>
            <a:ext cx="11912600" cy="3935095"/>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p>
            <a:r>
              <a:rPr lang="zh-CN" altLang="en-US"/>
              <a:t>竞对前</a:t>
            </a:r>
            <a:r>
              <a:rPr lang="en-US" altLang="zh-CN"/>
              <a:t>4</a:t>
            </a:r>
            <a:r>
              <a:rPr lang="zh-CN" altLang="en-US"/>
              <a:t>信息，</a:t>
            </a:r>
            <a:r>
              <a:rPr lang="en-US" altLang="zh-CN"/>
              <a:t>1-4</a:t>
            </a:r>
            <a:r>
              <a:rPr lang="zh-CN" altLang="en-US"/>
              <a:t>从左到右排</a:t>
            </a:r>
            <a:r>
              <a:rPr lang="zh-CN" altLang="en-US"/>
              <a:t>序</a:t>
            </a:r>
            <a:endParaRPr lang="zh-CN" altLang="en-US"/>
          </a:p>
        </p:txBody>
      </p:sp>
      <p:pic>
        <p:nvPicPr>
          <p:cNvPr id="3" name="图片 2"/>
          <p:cNvPicPr>
            <a:picLocks noChangeAspect="1"/>
          </p:cNvPicPr>
          <p:nvPr/>
        </p:nvPicPr>
        <p:blipFill>
          <a:blip r:embed="rId2"/>
          <a:stretch>
            <a:fillRect/>
          </a:stretch>
        </p:blipFill>
        <p:spPr>
          <a:xfrm>
            <a:off x="782955" y="1566545"/>
            <a:ext cx="2724150" cy="4095750"/>
          </a:xfrm>
          <a:prstGeom prst="rect">
            <a:avLst/>
          </a:prstGeom>
        </p:spPr>
      </p:pic>
      <p:pic>
        <p:nvPicPr>
          <p:cNvPr id="4" name="图片 3"/>
          <p:cNvPicPr>
            <a:picLocks noChangeAspect="1"/>
          </p:cNvPicPr>
          <p:nvPr/>
        </p:nvPicPr>
        <p:blipFill>
          <a:blip r:embed="rId3"/>
          <a:stretch>
            <a:fillRect/>
          </a:stretch>
        </p:blipFill>
        <p:spPr>
          <a:xfrm>
            <a:off x="3507105" y="1566545"/>
            <a:ext cx="2915920" cy="4095115"/>
          </a:xfrm>
          <a:prstGeom prst="rect">
            <a:avLst/>
          </a:prstGeom>
        </p:spPr>
      </p:pic>
      <p:pic>
        <p:nvPicPr>
          <p:cNvPr id="5" name="图片 4"/>
          <p:cNvPicPr>
            <a:picLocks noChangeAspect="1"/>
          </p:cNvPicPr>
          <p:nvPr>
            <p:custDataLst>
              <p:tags r:id="rId4"/>
            </p:custDataLst>
          </p:nvPr>
        </p:nvPicPr>
        <p:blipFill>
          <a:blip r:embed="rId5"/>
          <a:stretch>
            <a:fillRect/>
          </a:stretch>
        </p:blipFill>
        <p:spPr>
          <a:xfrm>
            <a:off x="6444615" y="1433195"/>
            <a:ext cx="2721610" cy="4328160"/>
          </a:xfrm>
          <a:prstGeom prst="rect">
            <a:avLst/>
          </a:prstGeom>
        </p:spPr>
      </p:pic>
      <p:pic>
        <p:nvPicPr>
          <p:cNvPr id="7" name="图片 6"/>
          <p:cNvPicPr>
            <a:picLocks noChangeAspect="1"/>
          </p:cNvPicPr>
          <p:nvPr/>
        </p:nvPicPr>
        <p:blipFill>
          <a:blip r:embed="rId6"/>
          <a:stretch>
            <a:fillRect/>
          </a:stretch>
        </p:blipFill>
        <p:spPr>
          <a:xfrm>
            <a:off x="9187815" y="1433195"/>
            <a:ext cx="2733675" cy="4400550"/>
          </a:xfrm>
          <a:prstGeom prst="rect">
            <a:avLst/>
          </a:prstGeom>
        </p:spPr>
      </p:pic>
    </p:spTree>
    <p:custDataLst>
      <p:tags r:id="rId7"/>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normAutofit fontScale="90000"/>
          </a:bodyPr>
          <a:p>
            <a:r>
              <a:rPr lang="zh-CN" altLang="en-US"/>
              <a:t>竞对广告分析，半年内的新品，采购成本预估</a:t>
            </a:r>
            <a:r>
              <a:rPr lang="en-US" altLang="zh-CN"/>
              <a:t>11</a:t>
            </a:r>
            <a:r>
              <a:rPr lang="zh-CN" altLang="en-US"/>
              <a:t>美金</a:t>
            </a:r>
            <a:endParaRPr lang="zh-CN" altLang="en-US"/>
          </a:p>
        </p:txBody>
      </p:sp>
      <p:pic>
        <p:nvPicPr>
          <p:cNvPr id="4" name="图片 3"/>
          <p:cNvPicPr>
            <a:picLocks noChangeAspect="1"/>
          </p:cNvPicPr>
          <p:nvPr>
            <p:custDataLst>
              <p:tags r:id="rId2"/>
            </p:custDataLst>
          </p:nvPr>
        </p:nvPicPr>
        <p:blipFill>
          <a:blip r:embed="rId3"/>
          <a:stretch>
            <a:fillRect/>
          </a:stretch>
        </p:blipFill>
        <p:spPr>
          <a:xfrm>
            <a:off x="4314825" y="1877060"/>
            <a:ext cx="7644765" cy="3599180"/>
          </a:xfrm>
          <a:prstGeom prst="rect">
            <a:avLst/>
          </a:prstGeom>
        </p:spPr>
      </p:pic>
      <p:pic>
        <p:nvPicPr>
          <p:cNvPr id="5" name="图片 4"/>
          <p:cNvPicPr>
            <a:picLocks noChangeAspect="1"/>
          </p:cNvPicPr>
          <p:nvPr/>
        </p:nvPicPr>
        <p:blipFill>
          <a:blip r:embed="rId4"/>
          <a:stretch>
            <a:fillRect/>
          </a:stretch>
        </p:blipFill>
        <p:spPr>
          <a:xfrm>
            <a:off x="780415" y="1595755"/>
            <a:ext cx="2633980" cy="3983355"/>
          </a:xfrm>
          <a:prstGeom prst="rect">
            <a:avLst/>
          </a:prstGeom>
        </p:spPr>
      </p:pic>
      <p:sp>
        <p:nvSpPr>
          <p:cNvPr id="6" name="文本框 5"/>
          <p:cNvSpPr txBox="1"/>
          <p:nvPr/>
        </p:nvSpPr>
        <p:spPr>
          <a:xfrm>
            <a:off x="780415" y="5861050"/>
            <a:ext cx="10339705" cy="895985"/>
          </a:xfrm>
          <a:prstGeom prst="rect">
            <a:avLst/>
          </a:prstGeom>
          <a:noFill/>
        </p:spPr>
        <p:txBody>
          <a:bodyPr wrap="square" rtlCol="0">
            <a:noAutofit/>
          </a:bodyPr>
          <a:p>
            <a:r>
              <a:rPr lang="zh-CN" altLang="en-US"/>
              <a:t>疑问竞对站外查不到发帖情况，广告占比也很少，很少核心关键词抢首页的广告布局，这个卖家是亚马逊品牌合作的卖家，新品都会使用</a:t>
            </a:r>
            <a:r>
              <a:rPr lang="en-US" altLang="zh-CN"/>
              <a:t>newmodel,</a:t>
            </a:r>
            <a:r>
              <a:rPr lang="zh-CN" altLang="en-US"/>
              <a:t>目前还有</a:t>
            </a:r>
            <a:r>
              <a:rPr lang="en-US" altLang="zh-CN"/>
              <a:t>SD</a:t>
            </a:r>
            <a:r>
              <a:rPr lang="zh-CN" altLang="en-US"/>
              <a:t>广告，很好奇怎么弄不怎么话广告就推上去的，猜想是测评价心愿单</a:t>
            </a:r>
            <a:r>
              <a:rPr lang="zh-CN" altLang="en-US"/>
              <a:t>那些</a:t>
            </a:r>
            <a:endParaRPr lang="zh-CN" altLang="en-US"/>
          </a:p>
        </p:txBody>
      </p:sp>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p>
            <a:r>
              <a:rPr lang="en-US" altLang="zh-CN"/>
              <a:t>2023</a:t>
            </a:r>
            <a:r>
              <a:rPr lang="zh-CN" altLang="en-US"/>
              <a:t>年销量爆发的老品，现在小类第</a:t>
            </a:r>
            <a:r>
              <a:rPr lang="en-US" altLang="zh-CN"/>
              <a:t>2</a:t>
            </a:r>
            <a:endParaRPr lang="en-US" altLang="zh-CN"/>
          </a:p>
        </p:txBody>
      </p:sp>
      <p:pic>
        <p:nvPicPr>
          <p:cNvPr id="4" name="图片 3"/>
          <p:cNvPicPr>
            <a:picLocks noChangeAspect="1"/>
          </p:cNvPicPr>
          <p:nvPr>
            <p:custDataLst>
              <p:tags r:id="rId2"/>
            </p:custDataLst>
          </p:nvPr>
        </p:nvPicPr>
        <p:blipFill>
          <a:blip r:embed="rId3"/>
          <a:stretch>
            <a:fillRect/>
          </a:stretch>
        </p:blipFill>
        <p:spPr>
          <a:xfrm>
            <a:off x="739140" y="1313815"/>
            <a:ext cx="5958840" cy="3965575"/>
          </a:xfrm>
          <a:prstGeom prst="rect">
            <a:avLst/>
          </a:prstGeom>
        </p:spPr>
      </p:pic>
      <p:sp>
        <p:nvSpPr>
          <p:cNvPr id="5" name="文本框 4"/>
          <p:cNvSpPr txBox="1"/>
          <p:nvPr/>
        </p:nvSpPr>
        <p:spPr>
          <a:xfrm>
            <a:off x="883285" y="5676900"/>
            <a:ext cx="10513695" cy="645160"/>
          </a:xfrm>
          <a:prstGeom prst="rect">
            <a:avLst/>
          </a:prstGeom>
          <a:noFill/>
        </p:spPr>
        <p:txBody>
          <a:bodyPr wrap="square" rtlCol="0">
            <a:spAutoFit/>
          </a:bodyPr>
          <a:p>
            <a:r>
              <a:rPr lang="zh-CN" altLang="en-US"/>
              <a:t>开了非常多的广告，而且很多都是单个关键词单组广告活动，广告占比超过</a:t>
            </a:r>
            <a:r>
              <a:rPr lang="en-US" altLang="zh-CN"/>
              <a:t>40%</a:t>
            </a:r>
            <a:r>
              <a:rPr lang="zh-CN" altLang="en-US"/>
              <a:t>，推算淡季推广没有太多</a:t>
            </a:r>
            <a:r>
              <a:rPr lang="zh-CN" altLang="en-US"/>
              <a:t>盈利</a:t>
            </a:r>
            <a:endParaRPr lang="zh-CN" altLang="en-US"/>
          </a:p>
        </p:txBody>
      </p:sp>
      <p:pic>
        <p:nvPicPr>
          <p:cNvPr id="6" name="图片 5"/>
          <p:cNvPicPr>
            <a:picLocks noChangeAspect="1"/>
          </p:cNvPicPr>
          <p:nvPr>
            <p:custDataLst>
              <p:tags r:id="rId4"/>
            </p:custDataLst>
          </p:nvPr>
        </p:nvPicPr>
        <p:blipFill>
          <a:blip r:embed="rId5"/>
          <a:stretch>
            <a:fillRect/>
          </a:stretch>
        </p:blipFill>
        <p:spPr>
          <a:xfrm>
            <a:off x="6763385" y="1842770"/>
            <a:ext cx="5329555" cy="2702560"/>
          </a:xfrm>
          <a:prstGeom prst="rect">
            <a:avLst/>
          </a:prstGeom>
        </p:spPr>
      </p:pic>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wrap="square">
            <a:normAutofit/>
          </a:bodyPr>
          <a:lstStyle/>
          <a:p>
            <a:r>
              <a:rPr lang="zh-CN" altLang="en-US"/>
              <a:t>产品毛利计算不含</a:t>
            </a:r>
            <a:r>
              <a:rPr lang="zh-CN" altLang="en-US"/>
              <a:t>广告</a:t>
            </a:r>
            <a:endParaRPr lang="zh-CN" altLang="en-US"/>
          </a:p>
        </p:txBody>
      </p:sp>
      <p:graphicFrame>
        <p:nvGraphicFramePr>
          <p:cNvPr id="5" name="表格 4"/>
          <p:cNvGraphicFramePr/>
          <p:nvPr>
            <p:custDataLst>
              <p:tags r:id="rId3"/>
            </p:custDataLst>
          </p:nvPr>
        </p:nvGraphicFramePr>
        <p:xfrm>
          <a:off x="478155" y="1674495"/>
          <a:ext cx="10972800" cy="1503045"/>
        </p:xfrm>
        <a:graphic>
          <a:graphicData uri="http://schemas.openxmlformats.org/drawingml/2006/table">
            <a:tbl>
              <a:tblPr/>
              <a:tblGrid>
                <a:gridCol w="648970"/>
                <a:gridCol w="649605"/>
                <a:gridCol w="648970"/>
                <a:gridCol w="919480"/>
                <a:gridCol w="649605"/>
                <a:gridCol w="648970"/>
                <a:gridCol w="721360"/>
                <a:gridCol w="756920"/>
                <a:gridCol w="649605"/>
                <a:gridCol w="648970"/>
                <a:gridCol w="784225"/>
                <a:gridCol w="649605"/>
                <a:gridCol w="648970"/>
                <a:gridCol w="648970"/>
                <a:gridCol w="649605"/>
                <a:gridCol w="648970"/>
              </a:tblGrid>
              <a:tr h="501015">
                <a:tc gridSpan="16">
                  <a:txBody>
                    <a:bodyPr/>
                    <a:p>
                      <a:pPr indent="0" algn="ctr">
                        <a:buNone/>
                      </a:pPr>
                      <a:r>
                        <a:rPr lang="zh-CN" sz="1000" b="0">
                          <a:solidFill>
                            <a:srgbClr val="000000"/>
                          </a:solidFill>
                          <a:latin typeface="Arial" panose="020B0604020202020204" pitchFamily="34" charset="0"/>
                          <a:ea typeface="宋体" panose="02010600030101010101" pitchFamily="2" charset="-122"/>
                        </a:rPr>
                        <a:t>毛利计算（不包含广告）</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501015">
                <a:tc>
                  <a:txBody>
                    <a:bodyPr/>
                    <a:p>
                      <a:pPr indent="0" algn="ctr">
                        <a:buNone/>
                      </a:pPr>
                      <a:r>
                        <a:rPr lang="zh-CN" sz="1000" b="0">
                          <a:solidFill>
                            <a:srgbClr val="000000"/>
                          </a:solidFill>
                          <a:latin typeface="Arial" panose="020B0604020202020204" pitchFamily="34" charset="0"/>
                          <a:ea typeface="宋体" panose="02010600030101010101" pitchFamily="2" charset="-122"/>
                        </a:rPr>
                        <a:t>汇率</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价格</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会员秒杀</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宋体" panose="02010600030101010101" pitchFamily="2" charset="-122"/>
                        </a:rPr>
                        <a:t>coupon/code</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折后价</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FBA配送</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亚马逊佣金</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亚马逊佣金</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每单回款</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仓储费</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coupon费用</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产品成本</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海运费</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退货成本</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毛利</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宋体" panose="02010600030101010101" pitchFamily="2" charset="-122"/>
                        </a:rPr>
                        <a:t>毛利率</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01015">
                <a:tc>
                  <a:txBody>
                    <a:bodyPr/>
                    <a:p>
                      <a:pPr indent="0">
                        <a:buNone/>
                      </a:pPr>
                      <a:r>
                        <a:rPr lang="en-US" sz="1000" b="0">
                          <a:solidFill>
                            <a:srgbClr val="000000"/>
                          </a:solidFill>
                          <a:latin typeface="宋体" panose="02010600030101010101" pitchFamily="2" charset="-122"/>
                        </a:rPr>
                        <a:t>7.00 </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49.99</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0%</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50%</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25</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4.3</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15%</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3.75</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16.95</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0.03</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0.6</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4.5</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0.5</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1</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10.82</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rPr>
                        <a:t>43.28%</a:t>
                      </a:r>
                      <a:endParaRPr lang="en-US" altLang="en-US" sz="1000" b="0">
                        <a:solidFill>
                          <a:srgbClr val="000000"/>
                        </a:solidFill>
                        <a:latin typeface="宋体" panose="02010600030101010101" pitchFamily="2"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6" name="标题 16"/>
          <p:cNvSpPr>
            <a:spLocks noGrp="1"/>
          </p:cNvSpPr>
          <p:nvPr>
            <p:custDataLst>
              <p:tags r:id="rId4"/>
            </p:custDataLst>
          </p:nvPr>
        </p:nvSpPr>
        <p:spPr>
          <a:xfrm>
            <a:off x="482035" y="3800545"/>
            <a:ext cx="10969200" cy="705600"/>
          </a:xfrm>
          <a:prstGeom prst="rect">
            <a:avLst/>
          </a:prstGeom>
        </p:spPr>
        <p:txBody>
          <a:bodyPr vert="horz" wrap="square"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t>广告</a:t>
            </a:r>
            <a:r>
              <a:rPr lang="en-US" altLang="zh-CN"/>
              <a:t>CPC</a:t>
            </a:r>
            <a:r>
              <a:rPr lang="zh-CN" altLang="en-US"/>
              <a:t>计算</a:t>
            </a:r>
            <a:endParaRPr lang="zh-CN" altLang="en-US"/>
          </a:p>
        </p:txBody>
      </p:sp>
      <p:sp>
        <p:nvSpPr>
          <p:cNvPr id="7" name="标题 16"/>
          <p:cNvSpPr>
            <a:spLocks noGrp="1"/>
          </p:cNvSpPr>
          <p:nvPr>
            <p:custDataLst>
              <p:tags r:id="rId5"/>
            </p:custDataLst>
          </p:nvPr>
        </p:nvSpPr>
        <p:spPr>
          <a:xfrm>
            <a:off x="481965" y="4604385"/>
            <a:ext cx="10968990" cy="800100"/>
          </a:xfrm>
          <a:prstGeom prst="rect">
            <a:avLst/>
          </a:prstGeom>
        </p:spPr>
        <p:txBody>
          <a:bodyPr vert="horz" wrap="square"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rgbClr val="FF0000"/>
                </a:solidFill>
              </a:rPr>
              <a:t>最高</a:t>
            </a:r>
            <a:r>
              <a:rPr lang="en-US" altLang="zh-CN">
                <a:solidFill>
                  <a:srgbClr val="FF0000"/>
                </a:solidFill>
              </a:rPr>
              <a:t>CPC=0.43*0.10*25=1.05</a:t>
            </a:r>
            <a:endParaRPr lang="en-US" altLang="zh-CN">
              <a:solidFill>
                <a:srgbClr val="FF0000"/>
              </a:solidFill>
            </a:endParaRPr>
          </a:p>
        </p:txBody>
      </p:sp>
      <p:sp>
        <p:nvSpPr>
          <p:cNvPr id="8" name="标题 16"/>
          <p:cNvSpPr>
            <a:spLocks noGrp="1"/>
          </p:cNvSpPr>
          <p:nvPr>
            <p:custDataLst>
              <p:tags r:id="rId6"/>
            </p:custDataLst>
          </p:nvPr>
        </p:nvSpPr>
        <p:spPr>
          <a:xfrm>
            <a:off x="478860" y="5499805"/>
            <a:ext cx="10969200" cy="705600"/>
          </a:xfrm>
          <a:prstGeom prst="rect">
            <a:avLst/>
          </a:prstGeom>
        </p:spPr>
        <p:txBody>
          <a:bodyPr vert="horz" wrap="square"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solidFill>
                  <a:srgbClr val="FF0000"/>
                </a:solidFill>
              </a:rPr>
              <a:t>最低</a:t>
            </a:r>
            <a:r>
              <a:rPr lang="en-US" altLang="zh-CN">
                <a:solidFill>
                  <a:srgbClr val="FF0000"/>
                </a:solidFill>
              </a:rPr>
              <a:t>CPC=0.43*0.06*25=0.645</a:t>
            </a:r>
            <a:endParaRPr lang="en-US" altLang="zh-CN">
              <a:solidFill>
                <a:srgbClr val="FF0000"/>
              </a:solidFill>
            </a:endParaRPr>
          </a:p>
        </p:txBody>
      </p:sp>
      <p:sp>
        <p:nvSpPr>
          <p:cNvPr id="9" name="文本框 8"/>
          <p:cNvSpPr txBox="1"/>
          <p:nvPr/>
        </p:nvSpPr>
        <p:spPr>
          <a:xfrm>
            <a:off x="481965" y="3439160"/>
            <a:ext cx="4064000" cy="368300"/>
          </a:xfrm>
          <a:prstGeom prst="rect">
            <a:avLst/>
          </a:prstGeom>
          <a:noFill/>
        </p:spPr>
        <p:txBody>
          <a:bodyPr wrap="square" rtlCol="0">
            <a:spAutoFit/>
          </a:bodyPr>
          <a:p>
            <a:r>
              <a:rPr lang="zh-CN" altLang="en-US">
                <a:solidFill>
                  <a:srgbClr val="FF0000"/>
                </a:solidFill>
              </a:rPr>
              <a:t>竞对的采购成本价格在</a:t>
            </a:r>
            <a:r>
              <a:rPr lang="en-US" altLang="zh-CN">
                <a:solidFill>
                  <a:srgbClr val="FF0000"/>
                </a:solidFill>
              </a:rPr>
              <a:t>7-10</a:t>
            </a:r>
            <a:r>
              <a:rPr lang="zh-CN" altLang="en-US">
                <a:solidFill>
                  <a:srgbClr val="FF0000"/>
                </a:solidFill>
              </a:rPr>
              <a:t>美金之间</a:t>
            </a:r>
            <a:endParaRPr lang="zh-CN" altLang="en-US">
              <a:solidFill>
                <a:srgbClr val="FF0000"/>
              </a:solidFill>
            </a:endParaRPr>
          </a:p>
        </p:txBody>
      </p:sp>
    </p:spTree>
    <p:custDataLst>
      <p:tags r:id="rId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wrap="square">
            <a:normAutofit/>
          </a:bodyPr>
          <a:lstStyle/>
          <a:p>
            <a:r>
              <a:rPr lang="zh-CN" altLang="en-US"/>
              <a:t>推广</a:t>
            </a:r>
            <a:r>
              <a:rPr lang="zh-CN" altLang="en-US"/>
              <a:t>策略</a:t>
            </a:r>
            <a:endParaRPr lang="zh-CN" altLang="en-US"/>
          </a:p>
        </p:txBody>
      </p:sp>
      <p:sp>
        <p:nvSpPr>
          <p:cNvPr id="2" name="文本框 1"/>
          <p:cNvSpPr txBox="1"/>
          <p:nvPr/>
        </p:nvSpPr>
        <p:spPr>
          <a:xfrm>
            <a:off x="608965" y="1455420"/>
            <a:ext cx="7881620" cy="386080"/>
          </a:xfrm>
          <a:prstGeom prst="rect">
            <a:avLst/>
          </a:prstGeom>
          <a:noFill/>
        </p:spPr>
        <p:txBody>
          <a:bodyPr wrap="square" rtlCol="0">
            <a:noAutofit/>
          </a:bodyPr>
          <a:p>
            <a:r>
              <a:rPr lang="zh-CN" altLang="en-US"/>
              <a:t>产品确定大货之后马上空运</a:t>
            </a:r>
            <a:r>
              <a:rPr lang="en-US" altLang="zh-CN"/>
              <a:t>280</a:t>
            </a:r>
            <a:r>
              <a:rPr lang="zh-CN" altLang="en-US"/>
              <a:t>个过去，</a:t>
            </a:r>
            <a:r>
              <a:rPr lang="zh-CN" altLang="en-US"/>
              <a:t>首批大货数量</a:t>
            </a:r>
            <a:r>
              <a:rPr lang="en-US" altLang="zh-CN"/>
              <a:t>2000</a:t>
            </a:r>
            <a:r>
              <a:rPr lang="zh-CN" altLang="en-US"/>
              <a:t>个</a:t>
            </a:r>
            <a:endParaRPr lang="zh-CN" altLang="en-US"/>
          </a:p>
        </p:txBody>
      </p:sp>
      <p:sp>
        <p:nvSpPr>
          <p:cNvPr id="3" name="文本框 2"/>
          <p:cNvSpPr txBox="1"/>
          <p:nvPr/>
        </p:nvSpPr>
        <p:spPr>
          <a:xfrm>
            <a:off x="674370" y="1956435"/>
            <a:ext cx="6062345" cy="426720"/>
          </a:xfrm>
          <a:prstGeom prst="rect">
            <a:avLst/>
          </a:prstGeom>
          <a:noFill/>
        </p:spPr>
        <p:txBody>
          <a:bodyPr wrap="square" rtlCol="0">
            <a:noAutofit/>
          </a:bodyPr>
          <a:p>
            <a:r>
              <a:rPr lang="en-US" altLang="zh-CN"/>
              <a:t>A</a:t>
            </a:r>
            <a:r>
              <a:rPr lang="zh-CN" altLang="en-US"/>
              <a:t>链接：</a:t>
            </a:r>
            <a:r>
              <a:rPr lang="en-US" altLang="zh-CN"/>
              <a:t>40</a:t>
            </a:r>
            <a:r>
              <a:rPr lang="zh-CN" altLang="en-US"/>
              <a:t>个参加</a:t>
            </a:r>
            <a:r>
              <a:rPr lang="en-US" altLang="zh-CN"/>
              <a:t>VINE</a:t>
            </a:r>
            <a:r>
              <a:rPr lang="zh-CN" altLang="en-US"/>
              <a:t>计划，定价</a:t>
            </a:r>
            <a:r>
              <a:rPr lang="en-US" altLang="zh-CN"/>
              <a:t>25</a:t>
            </a:r>
            <a:r>
              <a:rPr lang="zh-CN" altLang="en-US"/>
              <a:t>美金，目标获取</a:t>
            </a:r>
            <a:r>
              <a:rPr lang="zh-CN" altLang="en-US"/>
              <a:t>评论</a:t>
            </a:r>
            <a:endParaRPr lang="zh-CN" altLang="en-US"/>
          </a:p>
        </p:txBody>
      </p:sp>
      <p:sp>
        <p:nvSpPr>
          <p:cNvPr id="4" name="文本框 3"/>
          <p:cNvSpPr txBox="1"/>
          <p:nvPr/>
        </p:nvSpPr>
        <p:spPr>
          <a:xfrm>
            <a:off x="674370" y="2498725"/>
            <a:ext cx="10838180" cy="718185"/>
          </a:xfrm>
          <a:prstGeom prst="rect">
            <a:avLst/>
          </a:prstGeom>
          <a:noFill/>
        </p:spPr>
        <p:txBody>
          <a:bodyPr wrap="square" rtlCol="0">
            <a:noAutofit/>
          </a:bodyPr>
          <a:p>
            <a:r>
              <a:rPr lang="en-US" altLang="zh-CN"/>
              <a:t>B</a:t>
            </a:r>
            <a:r>
              <a:rPr lang="zh-CN" altLang="en-US"/>
              <a:t>链接：</a:t>
            </a:r>
            <a:r>
              <a:rPr lang="en-US" altLang="zh-CN"/>
              <a:t>120</a:t>
            </a:r>
            <a:r>
              <a:rPr lang="zh-CN" altLang="en-US"/>
              <a:t>个，</a:t>
            </a:r>
            <a:r>
              <a:rPr lang="en-US" altLang="zh-CN"/>
              <a:t>A</a:t>
            </a:r>
            <a:r>
              <a:rPr lang="zh-CN" altLang="en-US"/>
              <a:t>链接领完</a:t>
            </a:r>
            <a:r>
              <a:rPr lang="en-US" altLang="zh-CN"/>
              <a:t>VINE</a:t>
            </a:r>
            <a:r>
              <a:rPr lang="zh-CN" altLang="en-US"/>
              <a:t>有第一个评之后开售并且也会参加</a:t>
            </a:r>
            <a:r>
              <a:rPr lang="en-US" altLang="zh-CN"/>
              <a:t>VINE</a:t>
            </a:r>
            <a:r>
              <a:rPr lang="zh-CN" altLang="en-US"/>
              <a:t>计划</a:t>
            </a:r>
            <a:r>
              <a:rPr lang="en-US" altLang="zh-CN"/>
              <a:t>30</a:t>
            </a:r>
            <a:r>
              <a:rPr lang="zh-CN" altLang="en-US"/>
              <a:t>个，采用高价高折扣，定价策略参考上图，</a:t>
            </a:r>
            <a:r>
              <a:rPr lang="en-US" altLang="zh-CN"/>
              <a:t>B</a:t>
            </a:r>
            <a:r>
              <a:rPr lang="zh-CN" altLang="en-US"/>
              <a:t>链接</a:t>
            </a:r>
            <a:r>
              <a:rPr lang="zh-CN" altLang="en-US">
                <a:sym typeface="+mn-ea"/>
              </a:rPr>
              <a:t>开售后站内</a:t>
            </a:r>
            <a:r>
              <a:rPr lang="en-US" altLang="zh-CN">
                <a:sym typeface="+mn-ea"/>
              </a:rPr>
              <a:t>50%COUPON,</a:t>
            </a:r>
            <a:r>
              <a:rPr lang="zh-CN" altLang="en-US">
                <a:sym typeface="+mn-ea"/>
              </a:rPr>
              <a:t>社媒</a:t>
            </a:r>
            <a:r>
              <a:rPr lang="en-US" altLang="zh-CN">
                <a:sym typeface="+mn-ea"/>
              </a:rPr>
              <a:t>40%</a:t>
            </a:r>
            <a:r>
              <a:rPr lang="zh-CN" altLang="en-US">
                <a:sym typeface="+mn-ea"/>
              </a:rPr>
              <a:t>的</a:t>
            </a:r>
            <a:r>
              <a:rPr lang="en-US" altLang="zh-CN">
                <a:sym typeface="+mn-ea"/>
              </a:rPr>
              <a:t>code</a:t>
            </a:r>
            <a:r>
              <a:rPr lang="zh-CN" altLang="en-US">
                <a:sym typeface="+mn-ea"/>
              </a:rPr>
              <a:t>放站外，此链接的目的测试站外情况</a:t>
            </a:r>
            <a:endParaRPr lang="zh-CN" altLang="en-US"/>
          </a:p>
          <a:p>
            <a:endParaRPr lang="zh-CN" altLang="en-US"/>
          </a:p>
        </p:txBody>
      </p:sp>
      <p:sp>
        <p:nvSpPr>
          <p:cNvPr id="5" name="文本框 4"/>
          <p:cNvSpPr txBox="1"/>
          <p:nvPr/>
        </p:nvSpPr>
        <p:spPr>
          <a:xfrm>
            <a:off x="770890" y="3550920"/>
            <a:ext cx="4308475" cy="473710"/>
          </a:xfrm>
          <a:prstGeom prst="rect">
            <a:avLst/>
          </a:prstGeom>
          <a:noFill/>
        </p:spPr>
        <p:txBody>
          <a:bodyPr wrap="square" rtlCol="0">
            <a:noAutofit/>
          </a:bodyPr>
          <a:p>
            <a:endParaRPr lang="zh-CN" altLang="en-US"/>
          </a:p>
        </p:txBody>
      </p:sp>
      <p:sp>
        <p:nvSpPr>
          <p:cNvPr id="6" name="文本框 5"/>
          <p:cNvSpPr txBox="1"/>
          <p:nvPr>
            <p:custDataLst>
              <p:tags r:id="rId3"/>
            </p:custDataLst>
          </p:nvPr>
        </p:nvSpPr>
        <p:spPr>
          <a:xfrm>
            <a:off x="674370" y="3297555"/>
            <a:ext cx="10838180" cy="911225"/>
          </a:xfrm>
          <a:prstGeom prst="rect">
            <a:avLst/>
          </a:prstGeom>
          <a:noFill/>
        </p:spPr>
        <p:txBody>
          <a:bodyPr wrap="square" rtlCol="0">
            <a:noAutofit/>
          </a:bodyPr>
          <a:p>
            <a:r>
              <a:rPr lang="en-US" altLang="zh-CN"/>
              <a:t>C</a:t>
            </a:r>
            <a:r>
              <a:rPr lang="zh-CN" altLang="en-US"/>
              <a:t>链接：</a:t>
            </a:r>
            <a:r>
              <a:rPr lang="en-US" altLang="zh-CN"/>
              <a:t>120</a:t>
            </a:r>
            <a:r>
              <a:rPr lang="zh-CN" altLang="en-US"/>
              <a:t>个，</a:t>
            </a:r>
            <a:r>
              <a:rPr lang="en-US" altLang="zh-CN"/>
              <a:t>A</a:t>
            </a:r>
            <a:r>
              <a:rPr lang="zh-CN" altLang="en-US"/>
              <a:t>链接领完</a:t>
            </a:r>
            <a:r>
              <a:rPr lang="en-US" altLang="zh-CN"/>
              <a:t>VINE</a:t>
            </a:r>
            <a:r>
              <a:rPr lang="zh-CN" altLang="en-US"/>
              <a:t>有第</a:t>
            </a:r>
            <a:r>
              <a:rPr lang="en-US" altLang="zh-CN"/>
              <a:t>10</a:t>
            </a:r>
            <a:r>
              <a:rPr lang="zh-CN" altLang="en-US"/>
              <a:t>个评之后合并开售并且也会参加</a:t>
            </a:r>
            <a:r>
              <a:rPr lang="en-US" altLang="zh-CN"/>
              <a:t>VINE</a:t>
            </a:r>
            <a:r>
              <a:rPr lang="zh-CN" altLang="en-US"/>
              <a:t>计划</a:t>
            </a:r>
            <a:r>
              <a:rPr lang="en-US" altLang="zh-CN"/>
              <a:t>30</a:t>
            </a:r>
            <a:r>
              <a:rPr lang="zh-CN" altLang="en-US"/>
              <a:t>个，采用高价高折扣，定价策略参考上图，</a:t>
            </a:r>
            <a:r>
              <a:rPr lang="en-US" altLang="zh-CN"/>
              <a:t>C</a:t>
            </a:r>
            <a:r>
              <a:rPr lang="zh-CN" altLang="en-US"/>
              <a:t>链接</a:t>
            </a:r>
            <a:r>
              <a:rPr lang="zh-CN" altLang="en-US">
                <a:sym typeface="+mn-ea"/>
              </a:rPr>
              <a:t>开售后站内</a:t>
            </a:r>
            <a:r>
              <a:rPr lang="en-US" altLang="zh-CN">
                <a:sym typeface="+mn-ea"/>
              </a:rPr>
              <a:t>50%COUPON,</a:t>
            </a:r>
            <a:r>
              <a:rPr lang="zh-CN" altLang="en-US">
                <a:sym typeface="+mn-ea"/>
              </a:rPr>
              <a:t>正常开广告，安排持续一周的原价成交形成划线价广告策略如下，</a:t>
            </a:r>
            <a:r>
              <a:rPr lang="en-US" altLang="zh-CN">
                <a:sym typeface="+mn-ea"/>
              </a:rPr>
              <a:t>C</a:t>
            </a:r>
            <a:r>
              <a:rPr lang="zh-CN" altLang="en-US">
                <a:sym typeface="+mn-ea"/>
              </a:rPr>
              <a:t>链接为正式推广的链接，</a:t>
            </a:r>
            <a:r>
              <a:rPr lang="en-US" altLang="zh-CN">
                <a:sym typeface="+mn-ea"/>
              </a:rPr>
              <a:t>B</a:t>
            </a:r>
            <a:r>
              <a:rPr lang="zh-CN" altLang="en-US">
                <a:sym typeface="+mn-ea"/>
              </a:rPr>
              <a:t>链接会在开售</a:t>
            </a:r>
            <a:r>
              <a:rPr lang="en-US" altLang="zh-CN">
                <a:sym typeface="+mn-ea"/>
              </a:rPr>
              <a:t>1</a:t>
            </a:r>
            <a:r>
              <a:rPr lang="zh-CN" altLang="en-US">
                <a:sym typeface="+mn-ea"/>
              </a:rPr>
              <a:t>周后合并进来</a:t>
            </a:r>
            <a:endParaRPr lang="zh-CN" altLang="en-US"/>
          </a:p>
          <a:p>
            <a:endParaRPr lang="zh-CN" altLang="en-US"/>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wrap="square">
            <a:normAutofit/>
          </a:bodyPr>
          <a:lstStyle/>
          <a:p>
            <a:r>
              <a:rPr lang="zh-CN" altLang="en-US"/>
              <a:t>第一周</a:t>
            </a:r>
            <a:r>
              <a:rPr lang="zh-CN" altLang="en-US"/>
              <a:t>广告</a:t>
            </a:r>
            <a:endParaRPr lang="zh-CN" altLang="en-US"/>
          </a:p>
        </p:txBody>
      </p:sp>
      <p:sp>
        <p:nvSpPr>
          <p:cNvPr id="2" name="文本框 1"/>
          <p:cNvSpPr txBox="1"/>
          <p:nvPr/>
        </p:nvSpPr>
        <p:spPr>
          <a:xfrm>
            <a:off x="709930" y="1446530"/>
            <a:ext cx="5282565" cy="473075"/>
          </a:xfrm>
          <a:prstGeom prst="rect">
            <a:avLst/>
          </a:prstGeom>
          <a:noFill/>
        </p:spPr>
        <p:txBody>
          <a:bodyPr wrap="square" rtlCol="0">
            <a:noAutofit/>
          </a:bodyPr>
          <a:p>
            <a:r>
              <a:rPr lang="zh-CN" altLang="en-US">
                <a:solidFill>
                  <a:srgbClr val="FF0000"/>
                </a:solidFill>
              </a:rPr>
              <a:t>广告目标：打收录，同时测试</a:t>
            </a:r>
            <a:r>
              <a:rPr lang="en-US" altLang="zh-CN">
                <a:solidFill>
                  <a:srgbClr val="FF0000"/>
                </a:solidFill>
              </a:rPr>
              <a:t>CPC</a:t>
            </a:r>
            <a:r>
              <a:rPr lang="zh-CN" altLang="en-US">
                <a:solidFill>
                  <a:srgbClr val="FF0000"/>
                </a:solidFill>
              </a:rPr>
              <a:t>价格</a:t>
            </a:r>
            <a:endParaRPr lang="zh-CN" altLang="en-US">
              <a:solidFill>
                <a:srgbClr val="FF0000"/>
              </a:solidFill>
            </a:endParaRPr>
          </a:p>
        </p:txBody>
      </p:sp>
      <p:sp>
        <p:nvSpPr>
          <p:cNvPr id="3" name="文本框 2"/>
          <p:cNvSpPr txBox="1"/>
          <p:nvPr/>
        </p:nvSpPr>
        <p:spPr>
          <a:xfrm>
            <a:off x="608330" y="1920240"/>
            <a:ext cx="5137150" cy="753745"/>
          </a:xfrm>
          <a:prstGeom prst="rect">
            <a:avLst/>
          </a:prstGeom>
          <a:noFill/>
        </p:spPr>
        <p:txBody>
          <a:bodyPr wrap="square" rtlCol="0">
            <a:noAutofit/>
          </a:bodyPr>
          <a:p>
            <a:r>
              <a:rPr lang="zh-CN" altLang="en-US"/>
              <a:t>广告策略</a:t>
            </a:r>
            <a:r>
              <a:rPr lang="en-US" altLang="zh-CN"/>
              <a:t>1</a:t>
            </a:r>
            <a:r>
              <a:rPr lang="zh-CN" altLang="en-US"/>
              <a:t>：自动广告紧密匹配</a:t>
            </a:r>
            <a:r>
              <a:rPr lang="en-US" altLang="zh-CN"/>
              <a:t>3</a:t>
            </a:r>
            <a:r>
              <a:rPr lang="zh-CN" altLang="en-US"/>
              <a:t>组前置否词，</a:t>
            </a:r>
            <a:endParaRPr lang="zh-CN" altLang="en-US"/>
          </a:p>
          <a:p>
            <a:r>
              <a:rPr lang="en-US" altLang="zh-CN"/>
              <a:t>3</a:t>
            </a:r>
            <a:r>
              <a:rPr lang="zh-CN" altLang="en-US"/>
              <a:t>种</a:t>
            </a:r>
            <a:r>
              <a:rPr lang="zh-CN" altLang="en-US"/>
              <a:t>竞价</a:t>
            </a:r>
            <a:endParaRPr lang="zh-CN" altLang="en-US"/>
          </a:p>
        </p:txBody>
      </p:sp>
      <p:sp>
        <p:nvSpPr>
          <p:cNvPr id="4" name="文本框 3"/>
          <p:cNvSpPr txBox="1"/>
          <p:nvPr/>
        </p:nvSpPr>
        <p:spPr>
          <a:xfrm>
            <a:off x="6473190" y="1920240"/>
            <a:ext cx="5650230" cy="629920"/>
          </a:xfrm>
          <a:prstGeom prst="rect">
            <a:avLst/>
          </a:prstGeom>
          <a:noFill/>
        </p:spPr>
        <p:txBody>
          <a:bodyPr wrap="square" rtlCol="0">
            <a:noAutofit/>
          </a:bodyPr>
          <a:p>
            <a:r>
              <a:rPr lang="zh-CN" altLang="en-US"/>
              <a:t>广告策略</a:t>
            </a:r>
            <a:r>
              <a:rPr lang="en-US" altLang="zh-CN"/>
              <a:t>2</a:t>
            </a:r>
            <a:r>
              <a:rPr lang="zh-CN" altLang="en-US"/>
              <a:t>：手动长长尾核心词</a:t>
            </a:r>
            <a:r>
              <a:rPr lang="en-US" altLang="zh-CN"/>
              <a:t>10-20</a:t>
            </a:r>
            <a:r>
              <a:rPr lang="zh-CN" altLang="en-US"/>
              <a:t>个</a:t>
            </a:r>
            <a:r>
              <a:rPr lang="en-US" altLang="zh-CN"/>
              <a:t>SP</a:t>
            </a:r>
            <a:r>
              <a:rPr lang="zh-CN" altLang="en-US"/>
              <a:t>精准匹配，固定竞价（</a:t>
            </a:r>
            <a:r>
              <a:rPr lang="en-US" altLang="zh-CN"/>
              <a:t>2-5</a:t>
            </a:r>
            <a:r>
              <a:rPr lang="en-US" altLang="zh-CN"/>
              <a:t>W</a:t>
            </a:r>
            <a:r>
              <a:rPr lang="zh-CN" altLang="en-US"/>
              <a:t>以内）</a:t>
            </a:r>
            <a:endParaRPr lang="zh-CN" altLang="en-US"/>
          </a:p>
        </p:txBody>
      </p:sp>
      <p:sp>
        <p:nvSpPr>
          <p:cNvPr id="5" name="文本框 4"/>
          <p:cNvSpPr txBox="1"/>
          <p:nvPr/>
        </p:nvSpPr>
        <p:spPr>
          <a:xfrm>
            <a:off x="709930" y="2674620"/>
            <a:ext cx="4116705" cy="446405"/>
          </a:xfrm>
          <a:prstGeom prst="rect">
            <a:avLst/>
          </a:prstGeom>
          <a:noFill/>
        </p:spPr>
        <p:txBody>
          <a:bodyPr wrap="square" rtlCol="0">
            <a:noAutofit/>
          </a:bodyPr>
          <a:p>
            <a:r>
              <a:rPr lang="en-US" altLang="zh-CN"/>
              <a:t>A:</a:t>
            </a:r>
            <a:r>
              <a:rPr lang="zh-CN" altLang="en-US"/>
              <a:t>最高建议竞价</a:t>
            </a:r>
            <a:r>
              <a:rPr lang="en-US" altLang="zh-CN"/>
              <a:t>0.7</a:t>
            </a:r>
            <a:endParaRPr lang="en-US" altLang="zh-CN"/>
          </a:p>
        </p:txBody>
      </p:sp>
      <p:sp>
        <p:nvSpPr>
          <p:cNvPr id="6" name="文本框 5"/>
          <p:cNvSpPr txBox="1"/>
          <p:nvPr>
            <p:custDataLst>
              <p:tags r:id="rId3"/>
            </p:custDataLst>
          </p:nvPr>
        </p:nvSpPr>
        <p:spPr>
          <a:xfrm>
            <a:off x="709930" y="3509010"/>
            <a:ext cx="4116705" cy="446405"/>
          </a:xfrm>
          <a:prstGeom prst="rect">
            <a:avLst/>
          </a:prstGeom>
          <a:noFill/>
        </p:spPr>
        <p:txBody>
          <a:bodyPr wrap="square" rtlCol="0">
            <a:noAutofit/>
          </a:bodyPr>
          <a:p>
            <a:r>
              <a:rPr lang="en-US" altLang="zh-CN"/>
              <a:t>C:</a:t>
            </a:r>
            <a:r>
              <a:rPr lang="zh-CN" altLang="en-US"/>
              <a:t>最高建议竞价</a:t>
            </a:r>
            <a:r>
              <a:rPr lang="en-US" altLang="zh-CN"/>
              <a:t>1.5</a:t>
            </a:r>
            <a:endParaRPr lang="en-US" altLang="zh-CN"/>
          </a:p>
        </p:txBody>
      </p:sp>
      <p:sp>
        <p:nvSpPr>
          <p:cNvPr id="7" name="文本框 6"/>
          <p:cNvSpPr txBox="1"/>
          <p:nvPr>
            <p:custDataLst>
              <p:tags r:id="rId4"/>
            </p:custDataLst>
          </p:nvPr>
        </p:nvSpPr>
        <p:spPr>
          <a:xfrm>
            <a:off x="709930" y="3121025"/>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8" name="文本框 7"/>
          <p:cNvSpPr txBox="1"/>
          <p:nvPr/>
        </p:nvSpPr>
        <p:spPr>
          <a:xfrm>
            <a:off x="6473190" y="2674620"/>
            <a:ext cx="4116705" cy="446405"/>
          </a:xfrm>
          <a:prstGeom prst="rect">
            <a:avLst/>
          </a:prstGeom>
          <a:noFill/>
        </p:spPr>
        <p:txBody>
          <a:bodyPr wrap="square" rtlCol="0">
            <a:noAutofit/>
          </a:bodyPr>
          <a:p>
            <a:r>
              <a:rPr lang="en-US" altLang="zh-CN"/>
              <a:t>A:</a:t>
            </a:r>
            <a:r>
              <a:rPr lang="zh-CN" altLang="en-US"/>
              <a:t>最高建议竞价</a:t>
            </a:r>
            <a:r>
              <a:rPr lang="en-US" altLang="zh-CN"/>
              <a:t>0.7</a:t>
            </a:r>
            <a:endParaRPr lang="en-US" altLang="zh-CN"/>
          </a:p>
        </p:txBody>
      </p:sp>
      <p:sp>
        <p:nvSpPr>
          <p:cNvPr id="9" name="文本框 8"/>
          <p:cNvSpPr txBox="1"/>
          <p:nvPr>
            <p:custDataLst>
              <p:tags r:id="rId5"/>
            </p:custDataLst>
          </p:nvPr>
        </p:nvSpPr>
        <p:spPr>
          <a:xfrm>
            <a:off x="6473190" y="3509010"/>
            <a:ext cx="4116705" cy="446405"/>
          </a:xfrm>
          <a:prstGeom prst="rect">
            <a:avLst/>
          </a:prstGeom>
          <a:noFill/>
        </p:spPr>
        <p:txBody>
          <a:bodyPr wrap="square" rtlCol="0">
            <a:noAutofit/>
          </a:bodyPr>
          <a:p>
            <a:r>
              <a:rPr lang="en-US" altLang="zh-CN"/>
              <a:t>C:</a:t>
            </a:r>
            <a:r>
              <a:rPr lang="zh-CN" altLang="en-US"/>
              <a:t>最高建议竞价</a:t>
            </a:r>
            <a:r>
              <a:rPr lang="en-US" altLang="zh-CN"/>
              <a:t>0.82+BID</a:t>
            </a:r>
            <a:endParaRPr lang="en-US" altLang="zh-CN"/>
          </a:p>
        </p:txBody>
      </p:sp>
      <p:sp>
        <p:nvSpPr>
          <p:cNvPr id="10" name="文本框 9"/>
          <p:cNvSpPr txBox="1"/>
          <p:nvPr>
            <p:custDataLst>
              <p:tags r:id="rId6"/>
            </p:custDataLst>
          </p:nvPr>
        </p:nvSpPr>
        <p:spPr>
          <a:xfrm>
            <a:off x="6473190" y="3121025"/>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11" name="文本框 10"/>
          <p:cNvSpPr txBox="1"/>
          <p:nvPr/>
        </p:nvSpPr>
        <p:spPr>
          <a:xfrm>
            <a:off x="709930" y="4307840"/>
            <a:ext cx="6096000" cy="368300"/>
          </a:xfrm>
          <a:prstGeom prst="rect">
            <a:avLst/>
          </a:prstGeom>
          <a:noFill/>
        </p:spPr>
        <p:txBody>
          <a:bodyPr wrap="square" rtlCol="0" anchor="t">
            <a:spAutoFit/>
          </a:bodyPr>
          <a:p>
            <a:r>
              <a:rPr lang="zh-CN" altLang="en-US">
                <a:solidFill>
                  <a:srgbClr val="FF0000"/>
                </a:solidFill>
                <a:sym typeface="+mn-ea"/>
              </a:rPr>
              <a:t>预算是每个广告活动</a:t>
            </a:r>
            <a:r>
              <a:rPr lang="en-US" altLang="zh-CN">
                <a:solidFill>
                  <a:srgbClr val="FF0000"/>
                </a:solidFill>
                <a:sym typeface="+mn-ea"/>
              </a:rPr>
              <a:t>5-10</a:t>
            </a:r>
            <a:r>
              <a:rPr lang="zh-CN" altLang="en-US">
                <a:solidFill>
                  <a:srgbClr val="FF0000"/>
                </a:solidFill>
                <a:sym typeface="+mn-ea"/>
              </a:rPr>
              <a:t>次点击</a:t>
            </a:r>
            <a:endParaRPr lang="zh-CN" altLang="en-US">
              <a:solidFill>
                <a:srgbClr val="FF0000"/>
              </a:solidFill>
              <a:sym typeface="+mn-ea"/>
            </a:endParaRPr>
          </a:p>
        </p:txBody>
      </p:sp>
    </p:spTree>
    <p:custDataLst>
      <p:tags r:id="rId7"/>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wrap="square">
            <a:normAutofit/>
          </a:bodyPr>
          <a:lstStyle/>
          <a:p>
            <a:r>
              <a:rPr lang="zh-CN" altLang="en-US"/>
              <a:t>第</a:t>
            </a:r>
            <a:r>
              <a:rPr lang="zh-CN" altLang="en-US"/>
              <a:t>二周</a:t>
            </a:r>
            <a:r>
              <a:rPr lang="zh-CN" altLang="en-US"/>
              <a:t>广告</a:t>
            </a:r>
            <a:endParaRPr lang="zh-CN" altLang="en-US"/>
          </a:p>
        </p:txBody>
      </p:sp>
      <p:sp>
        <p:nvSpPr>
          <p:cNvPr id="2" name="文本框 1"/>
          <p:cNvSpPr txBox="1"/>
          <p:nvPr/>
        </p:nvSpPr>
        <p:spPr>
          <a:xfrm>
            <a:off x="709930" y="1446530"/>
            <a:ext cx="7256145" cy="472440"/>
          </a:xfrm>
          <a:prstGeom prst="rect">
            <a:avLst/>
          </a:prstGeom>
          <a:noFill/>
        </p:spPr>
        <p:txBody>
          <a:bodyPr wrap="square" rtlCol="0">
            <a:noAutofit/>
          </a:bodyPr>
          <a:p>
            <a:r>
              <a:rPr lang="zh-CN" altLang="en-US">
                <a:solidFill>
                  <a:srgbClr val="FF0000"/>
                </a:solidFill>
              </a:rPr>
              <a:t>广告目标：部分关键词上首页，</a:t>
            </a:r>
            <a:r>
              <a:rPr lang="zh-CN" altLang="en-US">
                <a:solidFill>
                  <a:srgbClr val="FF0000"/>
                </a:solidFill>
              </a:rPr>
              <a:t>拓词，同时测试</a:t>
            </a:r>
            <a:r>
              <a:rPr lang="en-US" altLang="zh-CN">
                <a:solidFill>
                  <a:srgbClr val="FF0000"/>
                </a:solidFill>
              </a:rPr>
              <a:t>CPC</a:t>
            </a:r>
            <a:r>
              <a:rPr lang="zh-CN" altLang="en-US">
                <a:solidFill>
                  <a:srgbClr val="FF0000"/>
                </a:solidFill>
              </a:rPr>
              <a:t>价格</a:t>
            </a:r>
            <a:endParaRPr lang="zh-CN" altLang="en-US">
              <a:solidFill>
                <a:srgbClr val="FF0000"/>
              </a:solidFill>
            </a:endParaRPr>
          </a:p>
        </p:txBody>
      </p:sp>
      <p:sp>
        <p:nvSpPr>
          <p:cNvPr id="3" name="文本框 2"/>
          <p:cNvSpPr txBox="1"/>
          <p:nvPr/>
        </p:nvSpPr>
        <p:spPr>
          <a:xfrm>
            <a:off x="608330" y="1920240"/>
            <a:ext cx="5137150" cy="753745"/>
          </a:xfrm>
          <a:prstGeom prst="rect">
            <a:avLst/>
          </a:prstGeom>
          <a:noFill/>
        </p:spPr>
        <p:txBody>
          <a:bodyPr wrap="square" rtlCol="0">
            <a:noAutofit/>
          </a:bodyPr>
          <a:p>
            <a:r>
              <a:rPr lang="zh-CN" altLang="en-US"/>
              <a:t>广告策略</a:t>
            </a:r>
            <a:r>
              <a:rPr lang="en-US" altLang="zh-CN"/>
              <a:t>3</a:t>
            </a:r>
            <a:r>
              <a:rPr lang="zh-CN" altLang="en-US"/>
              <a:t>：自动广告同类</a:t>
            </a:r>
            <a:r>
              <a:rPr lang="en-US" altLang="zh-CN"/>
              <a:t>3</a:t>
            </a:r>
            <a:r>
              <a:rPr lang="zh-CN" altLang="en-US"/>
              <a:t>组前置否词，</a:t>
            </a:r>
            <a:endParaRPr lang="zh-CN" altLang="en-US"/>
          </a:p>
          <a:p>
            <a:r>
              <a:rPr lang="en-US" altLang="zh-CN"/>
              <a:t>3</a:t>
            </a:r>
            <a:r>
              <a:rPr lang="zh-CN" altLang="en-US"/>
              <a:t>种竞价</a:t>
            </a:r>
            <a:endParaRPr lang="zh-CN" altLang="en-US"/>
          </a:p>
        </p:txBody>
      </p:sp>
      <p:sp>
        <p:nvSpPr>
          <p:cNvPr id="4" name="文本框 3"/>
          <p:cNvSpPr txBox="1"/>
          <p:nvPr/>
        </p:nvSpPr>
        <p:spPr>
          <a:xfrm>
            <a:off x="6473190" y="1920240"/>
            <a:ext cx="5650230" cy="629920"/>
          </a:xfrm>
          <a:prstGeom prst="rect">
            <a:avLst/>
          </a:prstGeom>
          <a:noFill/>
        </p:spPr>
        <p:txBody>
          <a:bodyPr wrap="square" rtlCol="0">
            <a:noAutofit/>
          </a:bodyPr>
          <a:p>
            <a:r>
              <a:rPr lang="zh-CN" altLang="en-US"/>
              <a:t>广告策略</a:t>
            </a:r>
            <a:r>
              <a:rPr lang="en-US" altLang="zh-CN"/>
              <a:t>4</a:t>
            </a:r>
            <a:r>
              <a:rPr lang="zh-CN" altLang="en-US"/>
              <a:t>：手动长长尾核心词</a:t>
            </a:r>
            <a:r>
              <a:rPr lang="en-US" altLang="zh-CN"/>
              <a:t>10-20</a:t>
            </a:r>
            <a:r>
              <a:rPr lang="zh-CN" altLang="en-US"/>
              <a:t>个</a:t>
            </a:r>
            <a:r>
              <a:rPr lang="en-US" altLang="zh-CN"/>
              <a:t>SP</a:t>
            </a:r>
            <a:r>
              <a:rPr lang="zh-CN" altLang="en-US"/>
              <a:t>精准匹配，固定竞价（</a:t>
            </a:r>
            <a:r>
              <a:rPr lang="en-US" altLang="zh-CN"/>
              <a:t>1-2W</a:t>
            </a:r>
            <a:r>
              <a:rPr lang="zh-CN" altLang="en-US"/>
              <a:t>以内）</a:t>
            </a:r>
            <a:endParaRPr lang="zh-CN" altLang="en-US"/>
          </a:p>
        </p:txBody>
      </p:sp>
      <p:sp>
        <p:nvSpPr>
          <p:cNvPr id="5" name="文本框 4"/>
          <p:cNvSpPr txBox="1"/>
          <p:nvPr/>
        </p:nvSpPr>
        <p:spPr>
          <a:xfrm>
            <a:off x="709930" y="2674620"/>
            <a:ext cx="4116705" cy="446405"/>
          </a:xfrm>
          <a:prstGeom prst="rect">
            <a:avLst/>
          </a:prstGeom>
          <a:noFill/>
        </p:spPr>
        <p:txBody>
          <a:bodyPr wrap="square" rtlCol="0">
            <a:noAutofit/>
          </a:bodyPr>
          <a:p>
            <a:r>
              <a:rPr lang="en-US" altLang="zh-CN"/>
              <a:t>A:</a:t>
            </a:r>
            <a:r>
              <a:rPr lang="zh-CN" altLang="en-US"/>
              <a:t>最高建议竞价</a:t>
            </a:r>
            <a:r>
              <a:rPr lang="en-US" altLang="zh-CN"/>
              <a:t>0.7</a:t>
            </a:r>
            <a:endParaRPr lang="en-US" altLang="zh-CN"/>
          </a:p>
        </p:txBody>
      </p:sp>
      <p:sp>
        <p:nvSpPr>
          <p:cNvPr id="6" name="文本框 5"/>
          <p:cNvSpPr txBox="1"/>
          <p:nvPr>
            <p:custDataLst>
              <p:tags r:id="rId3"/>
            </p:custDataLst>
          </p:nvPr>
        </p:nvSpPr>
        <p:spPr>
          <a:xfrm>
            <a:off x="709930" y="3509010"/>
            <a:ext cx="4116705" cy="446405"/>
          </a:xfrm>
          <a:prstGeom prst="rect">
            <a:avLst/>
          </a:prstGeom>
          <a:noFill/>
        </p:spPr>
        <p:txBody>
          <a:bodyPr wrap="square" rtlCol="0">
            <a:noAutofit/>
          </a:bodyPr>
          <a:p>
            <a:r>
              <a:rPr lang="en-US" altLang="zh-CN"/>
              <a:t>C:</a:t>
            </a:r>
            <a:r>
              <a:rPr lang="zh-CN" altLang="en-US"/>
              <a:t>最高建议竞价</a:t>
            </a:r>
            <a:r>
              <a:rPr lang="en-US" altLang="zh-CN"/>
              <a:t>1.5</a:t>
            </a:r>
            <a:endParaRPr lang="en-US" altLang="zh-CN"/>
          </a:p>
        </p:txBody>
      </p:sp>
      <p:sp>
        <p:nvSpPr>
          <p:cNvPr id="7" name="文本框 6"/>
          <p:cNvSpPr txBox="1"/>
          <p:nvPr>
            <p:custDataLst>
              <p:tags r:id="rId4"/>
            </p:custDataLst>
          </p:nvPr>
        </p:nvSpPr>
        <p:spPr>
          <a:xfrm>
            <a:off x="709930" y="3121025"/>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8" name="文本框 7"/>
          <p:cNvSpPr txBox="1"/>
          <p:nvPr/>
        </p:nvSpPr>
        <p:spPr>
          <a:xfrm>
            <a:off x="6473190" y="2674620"/>
            <a:ext cx="4116705" cy="446405"/>
          </a:xfrm>
          <a:prstGeom prst="rect">
            <a:avLst/>
          </a:prstGeom>
          <a:noFill/>
        </p:spPr>
        <p:txBody>
          <a:bodyPr wrap="square" rtlCol="0">
            <a:noAutofit/>
          </a:bodyPr>
          <a:p>
            <a:r>
              <a:rPr lang="en-US" altLang="zh-CN"/>
              <a:t>A:</a:t>
            </a:r>
            <a:r>
              <a:rPr lang="zh-CN" altLang="en-US"/>
              <a:t>最高建议竞价</a:t>
            </a:r>
            <a:r>
              <a:rPr lang="en-US" altLang="zh-CN"/>
              <a:t>0.7</a:t>
            </a:r>
            <a:endParaRPr lang="en-US" altLang="zh-CN"/>
          </a:p>
        </p:txBody>
      </p:sp>
      <p:sp>
        <p:nvSpPr>
          <p:cNvPr id="9" name="文本框 8"/>
          <p:cNvSpPr txBox="1"/>
          <p:nvPr>
            <p:custDataLst>
              <p:tags r:id="rId5"/>
            </p:custDataLst>
          </p:nvPr>
        </p:nvSpPr>
        <p:spPr>
          <a:xfrm>
            <a:off x="6473190" y="3509010"/>
            <a:ext cx="4116705" cy="446405"/>
          </a:xfrm>
          <a:prstGeom prst="rect">
            <a:avLst/>
          </a:prstGeom>
          <a:noFill/>
        </p:spPr>
        <p:txBody>
          <a:bodyPr wrap="square" rtlCol="0">
            <a:noAutofit/>
          </a:bodyPr>
          <a:p>
            <a:r>
              <a:rPr lang="en-US" altLang="zh-CN"/>
              <a:t>C:</a:t>
            </a:r>
            <a:r>
              <a:rPr lang="zh-CN" altLang="en-US"/>
              <a:t>最高建议竞价</a:t>
            </a:r>
            <a:r>
              <a:rPr lang="en-US" altLang="zh-CN"/>
              <a:t>0</a:t>
            </a:r>
            <a:r>
              <a:rPr lang="en-US" altLang="zh-CN"/>
              <a:t>.92+BID</a:t>
            </a:r>
            <a:endParaRPr lang="en-US" altLang="zh-CN"/>
          </a:p>
        </p:txBody>
      </p:sp>
      <p:sp>
        <p:nvSpPr>
          <p:cNvPr id="10" name="文本框 9"/>
          <p:cNvSpPr txBox="1"/>
          <p:nvPr>
            <p:custDataLst>
              <p:tags r:id="rId6"/>
            </p:custDataLst>
          </p:nvPr>
        </p:nvSpPr>
        <p:spPr>
          <a:xfrm>
            <a:off x="6473190" y="3121025"/>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11" name="文本框 10"/>
          <p:cNvSpPr txBox="1"/>
          <p:nvPr/>
        </p:nvSpPr>
        <p:spPr>
          <a:xfrm>
            <a:off x="506730" y="4104005"/>
            <a:ext cx="8830310" cy="753745"/>
          </a:xfrm>
          <a:prstGeom prst="rect">
            <a:avLst/>
          </a:prstGeom>
          <a:noFill/>
        </p:spPr>
        <p:txBody>
          <a:bodyPr wrap="square" rtlCol="0">
            <a:noAutofit/>
          </a:bodyPr>
          <a:p>
            <a:r>
              <a:rPr lang="zh-CN" altLang="en-US"/>
              <a:t>广告策略</a:t>
            </a:r>
            <a:r>
              <a:rPr lang="en-US" altLang="zh-CN"/>
              <a:t>5</a:t>
            </a:r>
            <a:r>
              <a:rPr lang="zh-CN" altLang="en-US"/>
              <a:t>：广告策略</a:t>
            </a:r>
            <a:r>
              <a:rPr lang="en-US" altLang="zh-CN"/>
              <a:t>2</a:t>
            </a:r>
            <a:r>
              <a:rPr lang="zh-CN" altLang="en-US"/>
              <a:t>的核心词词组开启手动</a:t>
            </a:r>
            <a:r>
              <a:rPr lang="en-US" altLang="zh-CN"/>
              <a:t>-</a:t>
            </a:r>
            <a:r>
              <a:rPr lang="zh-CN" altLang="en-US"/>
              <a:t>词组匹配</a:t>
            </a:r>
            <a:r>
              <a:rPr lang="en-US" altLang="zh-CN"/>
              <a:t>-</a:t>
            </a:r>
            <a:r>
              <a:rPr lang="zh-CN" altLang="en-US"/>
              <a:t>固定</a:t>
            </a:r>
            <a:r>
              <a:rPr lang="zh-CN" altLang="en-US"/>
              <a:t>竞价</a:t>
            </a:r>
            <a:endParaRPr lang="zh-CN" altLang="en-US"/>
          </a:p>
        </p:txBody>
      </p:sp>
      <p:sp>
        <p:nvSpPr>
          <p:cNvPr id="12" name="文本框 11"/>
          <p:cNvSpPr txBox="1"/>
          <p:nvPr/>
        </p:nvSpPr>
        <p:spPr>
          <a:xfrm>
            <a:off x="608330" y="4858385"/>
            <a:ext cx="4116705" cy="446405"/>
          </a:xfrm>
          <a:prstGeom prst="rect">
            <a:avLst/>
          </a:prstGeom>
          <a:noFill/>
        </p:spPr>
        <p:txBody>
          <a:bodyPr wrap="square" rtlCol="0">
            <a:noAutofit/>
          </a:bodyPr>
          <a:p>
            <a:r>
              <a:rPr lang="en-US" altLang="zh-CN"/>
              <a:t>A:</a:t>
            </a:r>
            <a:r>
              <a:rPr lang="zh-CN" altLang="en-US"/>
              <a:t>最高建议竞价</a:t>
            </a:r>
            <a:r>
              <a:rPr lang="en-US" altLang="zh-CN"/>
              <a:t>0.7</a:t>
            </a:r>
            <a:endParaRPr lang="en-US" altLang="zh-CN"/>
          </a:p>
        </p:txBody>
      </p:sp>
      <p:sp>
        <p:nvSpPr>
          <p:cNvPr id="13" name="文本框 12"/>
          <p:cNvSpPr txBox="1"/>
          <p:nvPr>
            <p:custDataLst>
              <p:tags r:id="rId7"/>
            </p:custDataLst>
          </p:nvPr>
        </p:nvSpPr>
        <p:spPr>
          <a:xfrm>
            <a:off x="608330" y="5692775"/>
            <a:ext cx="4116705" cy="446405"/>
          </a:xfrm>
          <a:prstGeom prst="rect">
            <a:avLst/>
          </a:prstGeom>
          <a:noFill/>
        </p:spPr>
        <p:txBody>
          <a:bodyPr wrap="square" rtlCol="0">
            <a:noAutofit/>
          </a:bodyPr>
          <a:p>
            <a:r>
              <a:rPr lang="en-US" altLang="zh-CN"/>
              <a:t>C:</a:t>
            </a:r>
            <a:r>
              <a:rPr lang="zh-CN" altLang="en-US"/>
              <a:t>最高建议竞价</a:t>
            </a:r>
            <a:r>
              <a:rPr lang="en-US" altLang="zh-CN">
                <a:sym typeface="+mn-ea"/>
              </a:rPr>
              <a:t>0</a:t>
            </a:r>
            <a:r>
              <a:rPr lang="en-US" altLang="zh-CN">
                <a:sym typeface="+mn-ea"/>
              </a:rPr>
              <a:t>.82+BID</a:t>
            </a:r>
            <a:endParaRPr lang="en-US" altLang="zh-CN"/>
          </a:p>
          <a:p>
            <a:endParaRPr lang="en-US" altLang="zh-CN"/>
          </a:p>
        </p:txBody>
      </p:sp>
      <p:sp>
        <p:nvSpPr>
          <p:cNvPr id="14" name="文本框 13"/>
          <p:cNvSpPr txBox="1"/>
          <p:nvPr>
            <p:custDataLst>
              <p:tags r:id="rId8"/>
            </p:custDataLst>
          </p:nvPr>
        </p:nvSpPr>
        <p:spPr>
          <a:xfrm>
            <a:off x="608330" y="5304790"/>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15" name="文本框 14"/>
          <p:cNvSpPr txBox="1"/>
          <p:nvPr>
            <p:custDataLst>
              <p:tags r:id="rId9"/>
            </p:custDataLst>
          </p:nvPr>
        </p:nvSpPr>
        <p:spPr>
          <a:xfrm>
            <a:off x="608330" y="6198235"/>
            <a:ext cx="6197600" cy="368300"/>
          </a:xfrm>
          <a:prstGeom prst="rect">
            <a:avLst/>
          </a:prstGeom>
          <a:noFill/>
        </p:spPr>
        <p:txBody>
          <a:bodyPr wrap="square" rtlCol="0" anchor="t">
            <a:spAutoFit/>
          </a:bodyPr>
          <a:p>
            <a:r>
              <a:rPr lang="zh-CN" altLang="en-US">
                <a:solidFill>
                  <a:srgbClr val="FF0000"/>
                </a:solidFill>
                <a:sym typeface="+mn-ea"/>
              </a:rPr>
              <a:t>预算是每个广告活动</a:t>
            </a:r>
            <a:r>
              <a:rPr lang="en-US" altLang="zh-CN">
                <a:solidFill>
                  <a:srgbClr val="FF0000"/>
                </a:solidFill>
                <a:sym typeface="+mn-ea"/>
              </a:rPr>
              <a:t>5-10</a:t>
            </a:r>
            <a:r>
              <a:rPr lang="zh-CN" altLang="en-US">
                <a:solidFill>
                  <a:srgbClr val="FF0000"/>
                </a:solidFill>
                <a:sym typeface="+mn-ea"/>
              </a:rPr>
              <a:t>次点击</a:t>
            </a:r>
            <a:endParaRPr lang="zh-CN" altLang="en-US">
              <a:solidFill>
                <a:srgbClr val="FF0000"/>
              </a:solidFill>
              <a:sym typeface="+mn-ea"/>
            </a:endParaRPr>
          </a:p>
        </p:txBody>
      </p:sp>
    </p:spTree>
    <p:custDataLst>
      <p:tags r:id="rId10"/>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wrap="square">
            <a:normAutofit/>
          </a:bodyPr>
          <a:lstStyle/>
          <a:p>
            <a:r>
              <a:rPr lang="zh-CN" altLang="en-US"/>
              <a:t>第</a:t>
            </a:r>
            <a:r>
              <a:rPr lang="zh-CN" altLang="en-US"/>
              <a:t>三周</a:t>
            </a:r>
            <a:r>
              <a:rPr lang="zh-CN" altLang="en-US"/>
              <a:t>广告</a:t>
            </a:r>
            <a:endParaRPr lang="zh-CN" altLang="en-US"/>
          </a:p>
        </p:txBody>
      </p:sp>
      <p:sp>
        <p:nvSpPr>
          <p:cNvPr id="2" name="文本框 1"/>
          <p:cNvSpPr txBox="1"/>
          <p:nvPr/>
        </p:nvSpPr>
        <p:spPr>
          <a:xfrm>
            <a:off x="709930" y="1446530"/>
            <a:ext cx="10349865" cy="473075"/>
          </a:xfrm>
          <a:prstGeom prst="rect">
            <a:avLst/>
          </a:prstGeom>
          <a:noFill/>
        </p:spPr>
        <p:txBody>
          <a:bodyPr wrap="square" rtlCol="0">
            <a:noAutofit/>
          </a:bodyPr>
          <a:p>
            <a:r>
              <a:rPr lang="zh-CN" altLang="en-US">
                <a:solidFill>
                  <a:srgbClr val="FF0000"/>
                </a:solidFill>
              </a:rPr>
              <a:t>广告目标：更多关键词上首页，拓词，同时测试</a:t>
            </a:r>
            <a:r>
              <a:rPr lang="en-US" altLang="zh-CN">
                <a:solidFill>
                  <a:srgbClr val="FF0000"/>
                </a:solidFill>
              </a:rPr>
              <a:t>CPC</a:t>
            </a:r>
            <a:r>
              <a:rPr lang="zh-CN" altLang="en-US">
                <a:solidFill>
                  <a:srgbClr val="FF0000"/>
                </a:solidFill>
              </a:rPr>
              <a:t>价格</a:t>
            </a:r>
            <a:r>
              <a:rPr lang="en-US" altLang="zh-CN">
                <a:solidFill>
                  <a:srgbClr val="FF0000"/>
                </a:solidFill>
              </a:rPr>
              <a:t>,</a:t>
            </a:r>
            <a:r>
              <a:rPr lang="zh-CN" altLang="en-US">
                <a:solidFill>
                  <a:srgbClr val="FF0000"/>
                </a:solidFill>
              </a:rPr>
              <a:t>尝试核心大词测试，测试链接竞争</a:t>
            </a:r>
            <a:r>
              <a:rPr lang="zh-CN" altLang="en-US">
                <a:solidFill>
                  <a:srgbClr val="FF0000"/>
                </a:solidFill>
              </a:rPr>
              <a:t>力</a:t>
            </a:r>
            <a:endParaRPr lang="zh-CN" altLang="en-US">
              <a:solidFill>
                <a:srgbClr val="FF0000"/>
              </a:solidFill>
            </a:endParaRPr>
          </a:p>
        </p:txBody>
      </p:sp>
      <p:sp>
        <p:nvSpPr>
          <p:cNvPr id="3" name="文本框 2"/>
          <p:cNvSpPr txBox="1"/>
          <p:nvPr/>
        </p:nvSpPr>
        <p:spPr>
          <a:xfrm>
            <a:off x="608330" y="1920240"/>
            <a:ext cx="5126990" cy="571500"/>
          </a:xfrm>
          <a:prstGeom prst="rect">
            <a:avLst/>
          </a:prstGeom>
          <a:noFill/>
        </p:spPr>
        <p:txBody>
          <a:bodyPr wrap="square" rtlCol="0">
            <a:noAutofit/>
          </a:bodyPr>
          <a:p>
            <a:r>
              <a:rPr lang="zh-CN" altLang="en-US"/>
              <a:t>广告策略</a:t>
            </a:r>
            <a:r>
              <a:rPr lang="en-US" altLang="zh-CN"/>
              <a:t>6</a:t>
            </a:r>
            <a:r>
              <a:rPr lang="zh-CN" altLang="en-US"/>
              <a:t>：</a:t>
            </a:r>
            <a:r>
              <a:rPr lang="en-US" altLang="zh-CN"/>
              <a:t>20</a:t>
            </a:r>
            <a:r>
              <a:rPr lang="zh-CN" altLang="en-US"/>
              <a:t>个左右的</a:t>
            </a:r>
            <a:r>
              <a:rPr lang="zh-CN" altLang="en-US"/>
              <a:t>长尾核心词做不同素材</a:t>
            </a:r>
            <a:r>
              <a:rPr lang="en-US" altLang="zh-CN"/>
              <a:t>SBV</a:t>
            </a:r>
            <a:r>
              <a:rPr lang="zh-CN" altLang="en-US"/>
              <a:t>投放</a:t>
            </a:r>
            <a:endParaRPr lang="zh-CN" altLang="en-US"/>
          </a:p>
        </p:txBody>
      </p:sp>
      <p:sp>
        <p:nvSpPr>
          <p:cNvPr id="4" name="文本框 3"/>
          <p:cNvSpPr txBox="1"/>
          <p:nvPr/>
        </p:nvSpPr>
        <p:spPr>
          <a:xfrm>
            <a:off x="6473190" y="1920240"/>
            <a:ext cx="5650230" cy="629920"/>
          </a:xfrm>
          <a:prstGeom prst="rect">
            <a:avLst/>
          </a:prstGeom>
          <a:noFill/>
        </p:spPr>
        <p:txBody>
          <a:bodyPr wrap="square" rtlCol="0">
            <a:noAutofit/>
          </a:bodyPr>
          <a:p>
            <a:r>
              <a:rPr lang="zh-CN" altLang="en-US"/>
              <a:t>广告策略</a:t>
            </a:r>
            <a:r>
              <a:rPr lang="en-US" altLang="zh-CN"/>
              <a:t>7</a:t>
            </a:r>
            <a:r>
              <a:rPr lang="zh-CN" altLang="en-US"/>
              <a:t>：核心大词</a:t>
            </a:r>
            <a:r>
              <a:rPr lang="en-US" altLang="zh-CN"/>
              <a:t>1</a:t>
            </a:r>
            <a:r>
              <a:rPr lang="zh-CN" altLang="en-US"/>
              <a:t>个广告活动一个</a:t>
            </a:r>
            <a:r>
              <a:rPr lang="zh-CN" altLang="en-US"/>
              <a:t>词，</a:t>
            </a:r>
            <a:r>
              <a:rPr lang="en-US" altLang="zh-CN"/>
              <a:t>SP</a:t>
            </a:r>
            <a:r>
              <a:rPr lang="zh-CN" altLang="en-US"/>
              <a:t>精准匹配，固定竞价（</a:t>
            </a:r>
            <a:r>
              <a:rPr lang="en-US" altLang="zh-CN"/>
              <a:t>1W</a:t>
            </a:r>
            <a:r>
              <a:rPr lang="zh-CN" altLang="en-US"/>
              <a:t>以内）</a:t>
            </a:r>
            <a:endParaRPr lang="zh-CN" altLang="en-US"/>
          </a:p>
        </p:txBody>
      </p:sp>
      <p:sp>
        <p:nvSpPr>
          <p:cNvPr id="5" name="文本框 4"/>
          <p:cNvSpPr txBox="1"/>
          <p:nvPr/>
        </p:nvSpPr>
        <p:spPr>
          <a:xfrm>
            <a:off x="709930" y="2674620"/>
            <a:ext cx="4116705" cy="446405"/>
          </a:xfrm>
          <a:prstGeom prst="rect">
            <a:avLst/>
          </a:prstGeom>
          <a:noFill/>
        </p:spPr>
        <p:txBody>
          <a:bodyPr wrap="square" rtlCol="0">
            <a:noAutofit/>
          </a:bodyPr>
          <a:p>
            <a:r>
              <a:rPr lang="en-US" altLang="zh-CN"/>
              <a:t>A:</a:t>
            </a:r>
            <a:r>
              <a:rPr lang="zh-CN" altLang="en-US"/>
              <a:t>最</a:t>
            </a:r>
            <a:r>
              <a:rPr lang="zh-CN" altLang="en-US"/>
              <a:t>低建议竞价</a:t>
            </a:r>
            <a:r>
              <a:rPr lang="en-US" altLang="zh-CN"/>
              <a:t>0.7</a:t>
            </a:r>
            <a:endParaRPr lang="en-US" altLang="zh-CN"/>
          </a:p>
        </p:txBody>
      </p:sp>
      <p:sp>
        <p:nvSpPr>
          <p:cNvPr id="7" name="文本框 6"/>
          <p:cNvSpPr txBox="1"/>
          <p:nvPr>
            <p:custDataLst>
              <p:tags r:id="rId3"/>
            </p:custDataLst>
          </p:nvPr>
        </p:nvSpPr>
        <p:spPr>
          <a:xfrm>
            <a:off x="709930" y="3121025"/>
            <a:ext cx="4116705" cy="446405"/>
          </a:xfrm>
          <a:prstGeom prst="rect">
            <a:avLst/>
          </a:prstGeom>
          <a:noFill/>
        </p:spPr>
        <p:txBody>
          <a:bodyPr wrap="square" rtlCol="0">
            <a:noAutofit/>
          </a:bodyPr>
          <a:p>
            <a:r>
              <a:rPr lang="en-US" altLang="zh-CN"/>
              <a:t>B:</a:t>
            </a:r>
            <a:r>
              <a:rPr lang="zh-CN" altLang="en-US"/>
              <a:t>建议竞价中位数</a:t>
            </a:r>
            <a:r>
              <a:rPr lang="en-US" altLang="zh-CN"/>
              <a:t>0.8</a:t>
            </a:r>
            <a:endParaRPr lang="en-US" altLang="zh-CN"/>
          </a:p>
        </p:txBody>
      </p:sp>
      <p:sp>
        <p:nvSpPr>
          <p:cNvPr id="8" name="文本框 7"/>
          <p:cNvSpPr txBox="1"/>
          <p:nvPr/>
        </p:nvSpPr>
        <p:spPr>
          <a:xfrm>
            <a:off x="6569710" y="4550410"/>
            <a:ext cx="4116705" cy="446405"/>
          </a:xfrm>
          <a:prstGeom prst="rect">
            <a:avLst/>
          </a:prstGeom>
          <a:noFill/>
        </p:spPr>
        <p:txBody>
          <a:bodyPr wrap="square" rtlCol="0">
            <a:noAutofit/>
          </a:bodyPr>
          <a:p>
            <a:r>
              <a:rPr lang="en-US" altLang="zh-CN"/>
              <a:t>A:</a:t>
            </a:r>
            <a:r>
              <a:rPr lang="zh-CN" altLang="en-US"/>
              <a:t>建议竞价</a:t>
            </a:r>
            <a:r>
              <a:rPr lang="zh-CN" altLang="en-US"/>
              <a:t>中位数</a:t>
            </a:r>
            <a:endParaRPr lang="zh-CN" altLang="en-US"/>
          </a:p>
        </p:txBody>
      </p:sp>
      <p:sp>
        <p:nvSpPr>
          <p:cNvPr id="9" name="文本框 8"/>
          <p:cNvSpPr txBox="1"/>
          <p:nvPr>
            <p:custDataLst>
              <p:tags r:id="rId4"/>
            </p:custDataLst>
          </p:nvPr>
        </p:nvSpPr>
        <p:spPr>
          <a:xfrm>
            <a:off x="6473190" y="3509010"/>
            <a:ext cx="4116705" cy="446405"/>
          </a:xfrm>
          <a:prstGeom prst="rect">
            <a:avLst/>
          </a:prstGeom>
          <a:noFill/>
        </p:spPr>
        <p:txBody>
          <a:bodyPr wrap="square" rtlCol="0">
            <a:noAutofit/>
          </a:bodyPr>
          <a:p>
            <a:r>
              <a:rPr lang="en-US" altLang="zh-CN"/>
              <a:t>C:</a:t>
            </a:r>
            <a:r>
              <a:rPr lang="zh-CN" altLang="en-US"/>
              <a:t>最高建议竞价</a:t>
            </a:r>
            <a:r>
              <a:rPr lang="en-US" altLang="zh-CN"/>
              <a:t>1.02+BID</a:t>
            </a:r>
            <a:endParaRPr lang="en-US" altLang="zh-CN"/>
          </a:p>
        </p:txBody>
      </p:sp>
      <p:sp>
        <p:nvSpPr>
          <p:cNvPr id="10" name="文本框 9"/>
          <p:cNvSpPr txBox="1"/>
          <p:nvPr>
            <p:custDataLst>
              <p:tags r:id="rId5"/>
            </p:custDataLst>
          </p:nvPr>
        </p:nvSpPr>
        <p:spPr>
          <a:xfrm>
            <a:off x="6473190" y="3121025"/>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11" name="文本框 10"/>
          <p:cNvSpPr txBox="1"/>
          <p:nvPr/>
        </p:nvSpPr>
        <p:spPr>
          <a:xfrm>
            <a:off x="506730" y="4104005"/>
            <a:ext cx="5682615" cy="753745"/>
          </a:xfrm>
          <a:prstGeom prst="rect">
            <a:avLst/>
          </a:prstGeom>
          <a:noFill/>
        </p:spPr>
        <p:txBody>
          <a:bodyPr wrap="square" rtlCol="0">
            <a:noAutofit/>
          </a:bodyPr>
          <a:p>
            <a:r>
              <a:rPr lang="zh-CN" altLang="en-US"/>
              <a:t>广告策略</a:t>
            </a:r>
            <a:r>
              <a:rPr lang="en-US" altLang="zh-CN"/>
              <a:t>8</a:t>
            </a:r>
            <a:r>
              <a:rPr lang="zh-CN" altLang="en-US"/>
              <a:t>：广告策略</a:t>
            </a:r>
            <a:r>
              <a:rPr lang="en-US" altLang="zh-CN"/>
              <a:t>4</a:t>
            </a:r>
            <a:r>
              <a:rPr lang="zh-CN" altLang="en-US"/>
              <a:t>的核心词词组开启手动</a:t>
            </a:r>
            <a:r>
              <a:rPr lang="en-US" altLang="zh-CN"/>
              <a:t>-</a:t>
            </a:r>
            <a:r>
              <a:rPr lang="zh-CN" altLang="en-US"/>
              <a:t>词组匹配</a:t>
            </a:r>
            <a:r>
              <a:rPr lang="en-US" altLang="zh-CN"/>
              <a:t>-</a:t>
            </a:r>
            <a:r>
              <a:rPr lang="zh-CN" altLang="en-US"/>
              <a:t>固定</a:t>
            </a:r>
            <a:r>
              <a:rPr lang="zh-CN" altLang="en-US"/>
              <a:t>竞价</a:t>
            </a:r>
            <a:endParaRPr lang="zh-CN" altLang="en-US"/>
          </a:p>
        </p:txBody>
      </p:sp>
      <p:sp>
        <p:nvSpPr>
          <p:cNvPr id="12" name="文本框 11"/>
          <p:cNvSpPr txBox="1"/>
          <p:nvPr/>
        </p:nvSpPr>
        <p:spPr>
          <a:xfrm>
            <a:off x="608330" y="4858385"/>
            <a:ext cx="4116705" cy="446405"/>
          </a:xfrm>
          <a:prstGeom prst="rect">
            <a:avLst/>
          </a:prstGeom>
          <a:noFill/>
        </p:spPr>
        <p:txBody>
          <a:bodyPr wrap="square" rtlCol="0">
            <a:noAutofit/>
          </a:bodyPr>
          <a:p>
            <a:r>
              <a:rPr lang="en-US" altLang="zh-CN"/>
              <a:t>A:</a:t>
            </a:r>
            <a:r>
              <a:rPr lang="zh-CN" altLang="en-US"/>
              <a:t>最高建议竞价</a:t>
            </a:r>
            <a:r>
              <a:rPr lang="en-US" altLang="zh-CN"/>
              <a:t>0.7</a:t>
            </a:r>
            <a:endParaRPr lang="en-US" altLang="zh-CN"/>
          </a:p>
        </p:txBody>
      </p:sp>
      <p:sp>
        <p:nvSpPr>
          <p:cNvPr id="13" name="文本框 12"/>
          <p:cNvSpPr txBox="1"/>
          <p:nvPr>
            <p:custDataLst>
              <p:tags r:id="rId6"/>
            </p:custDataLst>
          </p:nvPr>
        </p:nvSpPr>
        <p:spPr>
          <a:xfrm>
            <a:off x="608330" y="5692775"/>
            <a:ext cx="4116705" cy="446405"/>
          </a:xfrm>
          <a:prstGeom prst="rect">
            <a:avLst/>
          </a:prstGeom>
          <a:noFill/>
        </p:spPr>
        <p:txBody>
          <a:bodyPr wrap="square" rtlCol="0">
            <a:noAutofit/>
          </a:bodyPr>
          <a:p>
            <a:r>
              <a:rPr lang="en-US" altLang="zh-CN"/>
              <a:t>C:</a:t>
            </a:r>
            <a:r>
              <a:rPr lang="zh-CN" altLang="en-US"/>
              <a:t>最高建议竞价</a:t>
            </a:r>
            <a:r>
              <a:rPr lang="en-US" altLang="zh-CN">
                <a:sym typeface="+mn-ea"/>
              </a:rPr>
              <a:t>0</a:t>
            </a:r>
            <a:r>
              <a:rPr lang="en-US" altLang="zh-CN">
                <a:sym typeface="+mn-ea"/>
              </a:rPr>
              <a:t>.92+BID</a:t>
            </a:r>
            <a:endParaRPr lang="en-US" altLang="zh-CN"/>
          </a:p>
          <a:p>
            <a:endParaRPr lang="en-US" altLang="zh-CN"/>
          </a:p>
        </p:txBody>
      </p:sp>
      <p:sp>
        <p:nvSpPr>
          <p:cNvPr id="14" name="文本框 13"/>
          <p:cNvSpPr txBox="1"/>
          <p:nvPr>
            <p:custDataLst>
              <p:tags r:id="rId7"/>
            </p:custDataLst>
          </p:nvPr>
        </p:nvSpPr>
        <p:spPr>
          <a:xfrm>
            <a:off x="608330" y="5304790"/>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15" name="文本框 14"/>
          <p:cNvSpPr txBox="1"/>
          <p:nvPr>
            <p:custDataLst>
              <p:tags r:id="rId8"/>
            </p:custDataLst>
          </p:nvPr>
        </p:nvSpPr>
        <p:spPr>
          <a:xfrm>
            <a:off x="608330" y="6198235"/>
            <a:ext cx="6197600" cy="368300"/>
          </a:xfrm>
          <a:prstGeom prst="rect">
            <a:avLst/>
          </a:prstGeom>
          <a:noFill/>
        </p:spPr>
        <p:txBody>
          <a:bodyPr wrap="square" rtlCol="0" anchor="t">
            <a:spAutoFit/>
          </a:bodyPr>
          <a:p>
            <a:r>
              <a:rPr lang="zh-CN" altLang="en-US">
                <a:solidFill>
                  <a:srgbClr val="FF0000"/>
                </a:solidFill>
                <a:sym typeface="+mn-ea"/>
              </a:rPr>
              <a:t>预算是每个广告活动</a:t>
            </a:r>
            <a:r>
              <a:rPr lang="en-US" altLang="zh-CN">
                <a:solidFill>
                  <a:srgbClr val="FF0000"/>
                </a:solidFill>
                <a:sym typeface="+mn-ea"/>
              </a:rPr>
              <a:t>5-10</a:t>
            </a:r>
            <a:r>
              <a:rPr lang="zh-CN" altLang="en-US">
                <a:solidFill>
                  <a:srgbClr val="FF0000"/>
                </a:solidFill>
                <a:sym typeface="+mn-ea"/>
              </a:rPr>
              <a:t>次点击</a:t>
            </a:r>
            <a:endParaRPr lang="zh-CN" altLang="en-US">
              <a:solidFill>
                <a:srgbClr val="FF0000"/>
              </a:solidFill>
              <a:sym typeface="+mn-ea"/>
            </a:endParaRPr>
          </a:p>
        </p:txBody>
      </p:sp>
      <p:sp>
        <p:nvSpPr>
          <p:cNvPr id="16" name="文本框 15"/>
          <p:cNvSpPr txBox="1"/>
          <p:nvPr/>
        </p:nvSpPr>
        <p:spPr>
          <a:xfrm>
            <a:off x="6371590" y="4014470"/>
            <a:ext cx="5682615" cy="753745"/>
          </a:xfrm>
          <a:prstGeom prst="rect">
            <a:avLst/>
          </a:prstGeom>
          <a:noFill/>
        </p:spPr>
        <p:txBody>
          <a:bodyPr wrap="square" rtlCol="0">
            <a:noAutofit/>
          </a:bodyPr>
          <a:p>
            <a:r>
              <a:rPr lang="zh-CN" altLang="en-US"/>
              <a:t>广告策略</a:t>
            </a:r>
            <a:r>
              <a:rPr lang="en-US" altLang="zh-CN"/>
              <a:t>9</a:t>
            </a:r>
            <a:r>
              <a:rPr lang="zh-CN" altLang="en-US"/>
              <a:t>：开启竞品手动</a:t>
            </a:r>
            <a:r>
              <a:rPr lang="en-US" altLang="zh-CN"/>
              <a:t>ASIN</a:t>
            </a:r>
            <a:r>
              <a:rPr lang="zh-CN" altLang="en-US"/>
              <a:t>定位</a:t>
            </a:r>
            <a:endParaRPr lang="zh-CN" altLang="en-US"/>
          </a:p>
        </p:txBody>
      </p:sp>
    </p:spTree>
    <p:custDataLst>
      <p:tags r:id="rId9"/>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wrap="square">
            <a:normAutofit/>
          </a:bodyPr>
          <a:lstStyle/>
          <a:p>
            <a:r>
              <a:rPr lang="zh-CN" altLang="en-US"/>
              <a:t>第</a:t>
            </a:r>
            <a:r>
              <a:rPr lang="zh-CN" altLang="en-US"/>
              <a:t>四周</a:t>
            </a:r>
            <a:r>
              <a:rPr lang="zh-CN" altLang="en-US"/>
              <a:t>广告</a:t>
            </a:r>
            <a:endParaRPr lang="zh-CN" altLang="en-US"/>
          </a:p>
        </p:txBody>
      </p:sp>
      <p:sp>
        <p:nvSpPr>
          <p:cNvPr id="2" name="文本框 1"/>
          <p:cNvSpPr txBox="1"/>
          <p:nvPr/>
        </p:nvSpPr>
        <p:spPr>
          <a:xfrm>
            <a:off x="709930" y="1446530"/>
            <a:ext cx="7256145" cy="472440"/>
          </a:xfrm>
          <a:prstGeom prst="rect">
            <a:avLst/>
          </a:prstGeom>
          <a:noFill/>
        </p:spPr>
        <p:txBody>
          <a:bodyPr wrap="square" rtlCol="0">
            <a:noAutofit/>
          </a:bodyPr>
          <a:p>
            <a:r>
              <a:rPr lang="zh-CN" altLang="en-US">
                <a:solidFill>
                  <a:srgbClr val="FF0000"/>
                </a:solidFill>
              </a:rPr>
              <a:t>广告目标：</a:t>
            </a:r>
            <a:r>
              <a:rPr lang="zh-CN" altLang="en-US">
                <a:solidFill>
                  <a:srgbClr val="FF0000"/>
                </a:solidFill>
              </a:rPr>
              <a:t>更多关键词上首页，</a:t>
            </a:r>
            <a:r>
              <a:rPr lang="zh-CN" altLang="en-US">
                <a:solidFill>
                  <a:srgbClr val="FF0000"/>
                </a:solidFill>
              </a:rPr>
              <a:t>拓词，同时测试</a:t>
            </a:r>
            <a:r>
              <a:rPr lang="en-US" altLang="zh-CN">
                <a:solidFill>
                  <a:srgbClr val="FF0000"/>
                </a:solidFill>
              </a:rPr>
              <a:t>CPC</a:t>
            </a:r>
            <a:r>
              <a:rPr lang="zh-CN" altLang="en-US">
                <a:solidFill>
                  <a:srgbClr val="FF0000"/>
                </a:solidFill>
              </a:rPr>
              <a:t>价格</a:t>
            </a:r>
            <a:endParaRPr lang="zh-CN" altLang="en-US">
              <a:solidFill>
                <a:srgbClr val="FF0000"/>
              </a:solidFill>
            </a:endParaRPr>
          </a:p>
        </p:txBody>
      </p:sp>
      <p:sp>
        <p:nvSpPr>
          <p:cNvPr id="3" name="文本框 2"/>
          <p:cNvSpPr txBox="1"/>
          <p:nvPr/>
        </p:nvSpPr>
        <p:spPr>
          <a:xfrm>
            <a:off x="608330" y="1920240"/>
            <a:ext cx="5137150" cy="753745"/>
          </a:xfrm>
          <a:prstGeom prst="rect">
            <a:avLst/>
          </a:prstGeom>
          <a:noFill/>
        </p:spPr>
        <p:txBody>
          <a:bodyPr wrap="square" rtlCol="0">
            <a:noAutofit/>
          </a:bodyPr>
          <a:p>
            <a:r>
              <a:rPr lang="zh-CN" altLang="en-US"/>
              <a:t>广告策略</a:t>
            </a:r>
            <a:r>
              <a:rPr lang="en-US" altLang="zh-CN"/>
              <a:t>10</a:t>
            </a:r>
            <a:r>
              <a:rPr lang="zh-CN" altLang="en-US"/>
              <a:t>：自动广告宽泛</a:t>
            </a:r>
            <a:r>
              <a:rPr lang="en-US" altLang="zh-CN"/>
              <a:t>+</a:t>
            </a:r>
            <a:r>
              <a:rPr lang="zh-CN" altLang="en-US"/>
              <a:t>关联</a:t>
            </a:r>
            <a:r>
              <a:rPr lang="en-US" altLang="zh-CN"/>
              <a:t>3</a:t>
            </a:r>
            <a:r>
              <a:rPr lang="zh-CN" altLang="en-US"/>
              <a:t>组前置否词，</a:t>
            </a:r>
            <a:endParaRPr lang="zh-CN" altLang="en-US"/>
          </a:p>
          <a:p>
            <a:r>
              <a:rPr lang="en-US" altLang="zh-CN"/>
              <a:t>3</a:t>
            </a:r>
            <a:r>
              <a:rPr lang="zh-CN" altLang="en-US"/>
              <a:t>种竞价</a:t>
            </a:r>
            <a:endParaRPr lang="zh-CN" altLang="en-US"/>
          </a:p>
        </p:txBody>
      </p:sp>
      <p:sp>
        <p:nvSpPr>
          <p:cNvPr id="4" name="文本框 3"/>
          <p:cNvSpPr txBox="1"/>
          <p:nvPr/>
        </p:nvSpPr>
        <p:spPr>
          <a:xfrm>
            <a:off x="6473190" y="1920240"/>
            <a:ext cx="5650230" cy="629920"/>
          </a:xfrm>
          <a:prstGeom prst="rect">
            <a:avLst/>
          </a:prstGeom>
          <a:noFill/>
        </p:spPr>
        <p:txBody>
          <a:bodyPr wrap="square" rtlCol="0">
            <a:noAutofit/>
          </a:bodyPr>
          <a:p>
            <a:r>
              <a:rPr lang="zh-CN" altLang="en-US"/>
              <a:t>广告策略</a:t>
            </a:r>
            <a:r>
              <a:rPr lang="en-US" altLang="zh-CN"/>
              <a:t>11</a:t>
            </a:r>
            <a:r>
              <a:rPr lang="zh-CN" altLang="en-US"/>
              <a:t>：共性关键词核心词</a:t>
            </a:r>
            <a:r>
              <a:rPr lang="en-US" altLang="zh-CN"/>
              <a:t>2-5</a:t>
            </a:r>
            <a:r>
              <a:rPr lang="zh-CN" altLang="en-US"/>
              <a:t>个</a:t>
            </a:r>
            <a:r>
              <a:rPr lang="en-US" altLang="zh-CN"/>
              <a:t>SP</a:t>
            </a:r>
            <a:r>
              <a:rPr lang="zh-CN" altLang="en-US"/>
              <a:t>广泛匹配，固定竞价，单词单广告</a:t>
            </a:r>
            <a:r>
              <a:rPr lang="zh-CN" altLang="en-US"/>
              <a:t>活动</a:t>
            </a:r>
            <a:endParaRPr lang="zh-CN" altLang="en-US"/>
          </a:p>
        </p:txBody>
      </p:sp>
      <p:sp>
        <p:nvSpPr>
          <p:cNvPr id="5" name="文本框 4"/>
          <p:cNvSpPr txBox="1"/>
          <p:nvPr/>
        </p:nvSpPr>
        <p:spPr>
          <a:xfrm>
            <a:off x="709930" y="2674620"/>
            <a:ext cx="4116705" cy="446405"/>
          </a:xfrm>
          <a:prstGeom prst="rect">
            <a:avLst/>
          </a:prstGeom>
          <a:noFill/>
        </p:spPr>
        <p:txBody>
          <a:bodyPr wrap="square" rtlCol="0">
            <a:noAutofit/>
          </a:bodyPr>
          <a:p>
            <a:r>
              <a:rPr lang="en-US" altLang="zh-CN"/>
              <a:t>A:</a:t>
            </a:r>
            <a:r>
              <a:rPr lang="zh-CN" altLang="en-US"/>
              <a:t>最高建议竞价</a:t>
            </a:r>
            <a:r>
              <a:rPr lang="en-US" altLang="zh-CN"/>
              <a:t>0.7</a:t>
            </a:r>
            <a:endParaRPr lang="en-US" altLang="zh-CN"/>
          </a:p>
        </p:txBody>
      </p:sp>
      <p:sp>
        <p:nvSpPr>
          <p:cNvPr id="6" name="文本框 5"/>
          <p:cNvSpPr txBox="1"/>
          <p:nvPr>
            <p:custDataLst>
              <p:tags r:id="rId3"/>
            </p:custDataLst>
          </p:nvPr>
        </p:nvSpPr>
        <p:spPr>
          <a:xfrm>
            <a:off x="709930" y="3509010"/>
            <a:ext cx="4116705" cy="446405"/>
          </a:xfrm>
          <a:prstGeom prst="rect">
            <a:avLst/>
          </a:prstGeom>
          <a:noFill/>
        </p:spPr>
        <p:txBody>
          <a:bodyPr wrap="square" rtlCol="0">
            <a:noAutofit/>
          </a:bodyPr>
          <a:p>
            <a:r>
              <a:rPr lang="en-US" altLang="zh-CN"/>
              <a:t>C:</a:t>
            </a:r>
            <a:r>
              <a:rPr lang="zh-CN" altLang="en-US"/>
              <a:t>最高建议竞价</a:t>
            </a:r>
            <a:r>
              <a:rPr lang="en-US" altLang="zh-CN"/>
              <a:t>1.5</a:t>
            </a:r>
            <a:endParaRPr lang="en-US" altLang="zh-CN"/>
          </a:p>
        </p:txBody>
      </p:sp>
      <p:sp>
        <p:nvSpPr>
          <p:cNvPr id="7" name="文本框 6"/>
          <p:cNvSpPr txBox="1"/>
          <p:nvPr>
            <p:custDataLst>
              <p:tags r:id="rId4"/>
            </p:custDataLst>
          </p:nvPr>
        </p:nvSpPr>
        <p:spPr>
          <a:xfrm>
            <a:off x="709930" y="3121025"/>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8" name="文本框 7"/>
          <p:cNvSpPr txBox="1"/>
          <p:nvPr/>
        </p:nvSpPr>
        <p:spPr>
          <a:xfrm>
            <a:off x="6473190" y="2674620"/>
            <a:ext cx="4116705" cy="446405"/>
          </a:xfrm>
          <a:prstGeom prst="rect">
            <a:avLst/>
          </a:prstGeom>
          <a:noFill/>
        </p:spPr>
        <p:txBody>
          <a:bodyPr wrap="square" rtlCol="0">
            <a:noAutofit/>
          </a:bodyPr>
          <a:p>
            <a:r>
              <a:rPr lang="en-US" altLang="zh-CN"/>
              <a:t>A:</a:t>
            </a:r>
            <a:r>
              <a:rPr lang="zh-CN" altLang="en-US"/>
              <a:t>最高建议竞价</a:t>
            </a:r>
            <a:r>
              <a:rPr lang="en-US" altLang="zh-CN"/>
              <a:t>0.7</a:t>
            </a:r>
            <a:endParaRPr lang="en-US" altLang="zh-CN"/>
          </a:p>
        </p:txBody>
      </p:sp>
      <p:sp>
        <p:nvSpPr>
          <p:cNvPr id="9" name="文本框 8"/>
          <p:cNvSpPr txBox="1"/>
          <p:nvPr>
            <p:custDataLst>
              <p:tags r:id="rId5"/>
            </p:custDataLst>
          </p:nvPr>
        </p:nvSpPr>
        <p:spPr>
          <a:xfrm>
            <a:off x="6473190" y="3509010"/>
            <a:ext cx="4116705" cy="446405"/>
          </a:xfrm>
          <a:prstGeom prst="rect">
            <a:avLst/>
          </a:prstGeom>
          <a:noFill/>
        </p:spPr>
        <p:txBody>
          <a:bodyPr wrap="square" rtlCol="0">
            <a:noAutofit/>
          </a:bodyPr>
          <a:p>
            <a:r>
              <a:rPr lang="en-US" altLang="zh-CN"/>
              <a:t>C:</a:t>
            </a:r>
            <a:r>
              <a:rPr lang="zh-CN" altLang="en-US"/>
              <a:t>最高建议竞价</a:t>
            </a:r>
            <a:r>
              <a:rPr lang="en-US" altLang="zh-CN"/>
              <a:t>0</a:t>
            </a:r>
            <a:r>
              <a:rPr lang="en-US" altLang="zh-CN"/>
              <a:t>.92+BID</a:t>
            </a:r>
            <a:endParaRPr lang="en-US" altLang="zh-CN"/>
          </a:p>
        </p:txBody>
      </p:sp>
      <p:sp>
        <p:nvSpPr>
          <p:cNvPr id="10" name="文本框 9"/>
          <p:cNvSpPr txBox="1"/>
          <p:nvPr>
            <p:custDataLst>
              <p:tags r:id="rId6"/>
            </p:custDataLst>
          </p:nvPr>
        </p:nvSpPr>
        <p:spPr>
          <a:xfrm>
            <a:off x="6473190" y="3121025"/>
            <a:ext cx="4116705" cy="446405"/>
          </a:xfrm>
          <a:prstGeom prst="rect">
            <a:avLst/>
          </a:prstGeom>
          <a:noFill/>
        </p:spPr>
        <p:txBody>
          <a:bodyPr wrap="square" rtlCol="0">
            <a:noAutofit/>
          </a:bodyPr>
          <a:p>
            <a:r>
              <a:rPr lang="en-US" altLang="zh-CN"/>
              <a:t>B:</a:t>
            </a:r>
            <a:r>
              <a:rPr lang="zh-CN" altLang="en-US"/>
              <a:t>最高建议竞价</a:t>
            </a:r>
            <a:endParaRPr lang="en-US" altLang="zh-CN"/>
          </a:p>
        </p:txBody>
      </p:sp>
      <p:sp>
        <p:nvSpPr>
          <p:cNvPr id="15" name="文本框 14"/>
          <p:cNvSpPr txBox="1"/>
          <p:nvPr>
            <p:custDataLst>
              <p:tags r:id="rId7"/>
            </p:custDataLst>
          </p:nvPr>
        </p:nvSpPr>
        <p:spPr>
          <a:xfrm>
            <a:off x="709930" y="4481830"/>
            <a:ext cx="6197600" cy="368300"/>
          </a:xfrm>
          <a:prstGeom prst="rect">
            <a:avLst/>
          </a:prstGeom>
          <a:noFill/>
        </p:spPr>
        <p:txBody>
          <a:bodyPr wrap="square" rtlCol="0" anchor="t">
            <a:spAutoFit/>
          </a:bodyPr>
          <a:p>
            <a:r>
              <a:rPr lang="zh-CN" altLang="en-US">
                <a:solidFill>
                  <a:srgbClr val="FF0000"/>
                </a:solidFill>
                <a:sym typeface="+mn-ea"/>
              </a:rPr>
              <a:t>预算是每个广告活动</a:t>
            </a:r>
            <a:r>
              <a:rPr lang="en-US" altLang="zh-CN">
                <a:solidFill>
                  <a:srgbClr val="FF0000"/>
                </a:solidFill>
                <a:sym typeface="+mn-ea"/>
              </a:rPr>
              <a:t>5-10</a:t>
            </a:r>
            <a:r>
              <a:rPr lang="zh-CN" altLang="en-US">
                <a:solidFill>
                  <a:srgbClr val="FF0000"/>
                </a:solidFill>
                <a:sym typeface="+mn-ea"/>
              </a:rPr>
              <a:t>次点击</a:t>
            </a:r>
            <a:endParaRPr lang="zh-CN" altLang="en-US">
              <a:solidFill>
                <a:srgbClr val="FF0000"/>
              </a:solidFill>
              <a:sym typeface="+mn-ea"/>
            </a:endParaRPr>
          </a:p>
        </p:txBody>
      </p:sp>
    </p:spTree>
    <p:custDataLst>
      <p:tags r:id="rId8"/>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5" name="文本框 14"/>
          <p:cNvSpPr txBox="1"/>
          <p:nvPr>
            <p:custDataLst>
              <p:tags r:id="rId2"/>
            </p:custDataLst>
          </p:nvPr>
        </p:nvSpPr>
        <p:spPr>
          <a:xfrm>
            <a:off x="3114675" y="1510665"/>
            <a:ext cx="6218555" cy="1421130"/>
          </a:xfrm>
          <a:prstGeom prst="rect">
            <a:avLst/>
          </a:prstGeom>
          <a:noFill/>
        </p:spPr>
        <p:txBody>
          <a:bodyPr wrap="square" rtlCol="0" anchor="t">
            <a:noAutofit/>
          </a:bodyPr>
          <a:p>
            <a:r>
              <a:rPr lang="zh-CN" altLang="en-US" sz="9600">
                <a:solidFill>
                  <a:schemeClr val="tx1"/>
                </a:solidFill>
                <a:sym typeface="+mn-ea"/>
              </a:rPr>
              <a:t>感谢聆听</a:t>
            </a:r>
            <a:endParaRPr lang="zh-CN" altLang="en-US" sz="9600">
              <a:solidFill>
                <a:schemeClr val="tx1"/>
              </a:solidFill>
              <a:sym typeface="+mn-ea"/>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1636_2*n_h_i*1_1_3"/>
  <p:tag name="KSO_WM_TEMPLATE_CATEGORY" val="diagram"/>
  <p:tag name="KSO_WM_TEMPLATE_INDEX" val="20231636"/>
  <p:tag name="KSO_WM_UNIT_LAYERLEVEL" val="1_1_1"/>
  <p:tag name="KSO_WM_TAG_VERSION" val="3.0"/>
  <p:tag name="KSO_WM_DIAGRAM_VERSION" val="3"/>
  <p:tag name="KSO_WM_DIAGRAM_MAX_ITEMCNT" val="6"/>
  <p:tag name="KSO_WM_DIAGRAM_MIN_ITEMCNT" val="2"/>
  <p:tag name="KSO_WM_DIAGRAM_VIRTUALLY_FRAME" val="{&quot;height&quot;:351.6748962402344,&quot;width&quot;:853.7556762695312}"/>
  <p:tag name="KSO_WM_DIAGRAM_COLOR_MATCH_VALUE" val="{&quot;shape&quot;:{&quot;fill&quot;:{&quot;solid&quot;:{&quot;brightness&quot;:0.699999988079071,&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7"/>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36_2*n_h_h_f*1_2_2_1"/>
  <p:tag name="KSO_WM_TEMPLATE_CATEGORY" val="diagram"/>
  <p:tag name="KSO_WM_TEMPLATE_INDEX" val="20231636"/>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2_1"/>
  <p:tag name="KSO_WM_UNIT_VALUE" val="104"/>
  <p:tag name="KSO_WM_DIAGRAM_VERSION" val="3"/>
  <p:tag name="KSO_WM_DIAGRAM_COLOR_TRICK" val="1"/>
  <p:tag name="KSO_WM_DIAGRAM_COLOR_TEXT_CAN_REMOVE" val="n"/>
  <p:tag name="KSO_WM_DIAGRAM_MAX_ITEMCNT" val="6"/>
  <p:tag name="KSO_WM_DIAGRAM_MIN_ITEMCNT" val="2"/>
  <p:tag name="KSO_WM_DIAGRAM_VIRTUALLY_FRAME" val="{&quot;height&quot;:351.6748962402344,&quot;width&quot;:853.7556762695312}"/>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
  <p:tag name="KSO_WM_UNIT_TEXT_FILL_TYPE" val="1"/>
  <p:tag name="KSO_WM_UNIT_PRESET_TEXT" val="单击此处输入你的项正文，文字是您思想的提炼，请尽量言简意赅的阐述观点，单击此处输入你的项正文"/>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36_2*n_h_h_f*1_2_1_1"/>
  <p:tag name="KSO_WM_TEMPLATE_CATEGORY" val="diagram"/>
  <p:tag name="KSO_WM_TEMPLATE_INDEX" val="20231636"/>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1_1"/>
  <p:tag name="KSO_WM_UNIT_VALUE" val="116"/>
  <p:tag name="KSO_WM_DIAGRAM_VERSION" val="3"/>
  <p:tag name="KSO_WM_DIAGRAM_COLOR_TRICK" val="1"/>
  <p:tag name="KSO_WM_DIAGRAM_COLOR_TEXT_CAN_REMOVE" val="n"/>
  <p:tag name="KSO_WM_DIAGRAM_MAX_ITEMCNT" val="6"/>
  <p:tag name="KSO_WM_DIAGRAM_MIN_ITEMCNT" val="2"/>
  <p:tag name="KSO_WM_DIAGRAM_VIRTUALLY_FRAME" val="{&quot;height&quot;:351.6748962402344,&quot;width&quot;:853.7556762695312}"/>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
  <p:tag name="KSO_WM_UNIT_TEXT_FILL_TYPE" val="1"/>
  <p:tag name="KSO_WM_UNIT_PRESET_TEXT" val="单击此处输入你的项正文，文字是您思想的提炼，请尽量言简意赅的阐述观点，单击此处输入你的项正文"/>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36_2*n_h_h_f*1_2_3_1"/>
  <p:tag name="KSO_WM_TEMPLATE_CATEGORY" val="diagram"/>
  <p:tag name="KSO_WM_TEMPLATE_INDEX" val="20231636"/>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3_1"/>
  <p:tag name="KSO_WM_UNIT_VALUE" val="116"/>
  <p:tag name="KSO_WM_DIAGRAM_VERSION" val="3"/>
  <p:tag name="KSO_WM_DIAGRAM_COLOR_TRICK" val="1"/>
  <p:tag name="KSO_WM_DIAGRAM_COLOR_TEXT_CAN_REMOVE" val="n"/>
  <p:tag name="KSO_WM_DIAGRAM_MAX_ITEMCNT" val="6"/>
  <p:tag name="KSO_WM_DIAGRAM_MIN_ITEMCNT" val="2"/>
  <p:tag name="KSO_WM_DIAGRAM_VIRTUALLY_FRAME" val="{&quot;height&quot;:351.6748962402344,&quot;width&quot;:853.7556762695312}"/>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
  <p:tag name="KSO_WM_UNIT_TEXT_FILL_TYPE" val="1"/>
  <p:tag name="KSO_WM_UNIT_PRESET_TEXT" val="单击此处输入你的项正文，文字是您思想的提炼，请尽量言简意赅的阐述观点，单击此处输入你的项正文"/>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636_2*n_h_h_i*1_2_1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1.6748962402344,&quot;width&quot;:853.7556762695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636_2*n_h_h_i*1_2_2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1.6748962402344,&quot;width&quot;:853.7556762695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2"/>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3_1"/>
  <p:tag name="KSO_WM_UNIT_ID" val="diagram20231636_2*n_h_h_i*1_2_3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1.6748962402344,&quot;width&quot;:853.7556762695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3"/>
</p:tagLst>
</file>

<file path=ppt/tags/tag7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36_2*n_h_a*1_1_1"/>
  <p:tag name="KSO_WM_TEMPLATE_CATEGORY" val="diagram"/>
  <p:tag name="KSO_WM_TEMPLATE_INDEX" val="20231636"/>
  <p:tag name="KSO_WM_UNIT_LAYERLEVEL" val="1_1_1"/>
  <p:tag name="KSO_WM_TAG_VERSION" val="3.0"/>
  <p:tag name="KSO_WM_DIAGRAM_GROUP_CODE" val="n1-1"/>
  <p:tag name="KSO_WM_UNIT_TYPE" val="n_h_a"/>
  <p:tag name="KSO_WM_UNIT_INDEX" val="1_1_1"/>
  <p:tag name="KSO_WM_UNIT_ISCONTENTSTITLE" val="0"/>
  <p:tag name="KSO_WM_UNIT_ISNUMDGMTITLE" val="0"/>
  <p:tag name="KSO_WM_UNIT_NOCLEAR" val="0"/>
  <p:tag name="KSO_WM_DIAGRAM_VERSION" val="3"/>
  <p:tag name="KSO_WM_DIAGRAM_COLOR_TRICK" val="1"/>
  <p:tag name="KSO_WM_DIAGRAM_COLOR_TEXT_CAN_REMOVE" val="n"/>
  <p:tag name="KSO_WM_DIAGRAM_MAX_ITEMCNT" val="6"/>
  <p:tag name="KSO_WM_DIAGRAM_MIN_ITEMCNT" val="2"/>
  <p:tag name="KSO_WM_DIAGRAM_VIRTUALLY_FRAME" val="{&quot;height&quot;:351.6748962402344,&quot;width&quot;:853.755676269531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0"/>
  <p:tag name="KSO_WM_UNIT_LINE_FORE_SCHEMECOLOR_INDEX" val="5"/>
  <p:tag name="KSO_WM_UNIT_TEXT_FILL_FORE_SCHEMECOLOR_INDEX" val="1"/>
  <p:tag name="KSO_WM_UNIT_TEXT_FILL_TYPE" val="1"/>
  <p:tag name="KSO_WM_UNIT_PRESET_TEXT" val="添加项标题"/>
</p:tagLst>
</file>

<file path=ppt/tags/tag71.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n1-1"/>
  <p:tag name="KSO_WM_UNIT_TYPE" val="a"/>
  <p:tag name="KSO_WM_UNIT_INDEX" val="1"/>
  <p:tag name="KSO_WM_UNIT_ID" val="diagram20231636_2*a*1"/>
  <p:tag name="KSO_WM_TEMPLATE_CATEGORY" val="diagram"/>
  <p:tag name="KSO_WM_TEMPLATE_INDEX" val="20231636"/>
  <p:tag name="KSO_WM_UNIT_LAYERLEVEL" val="1"/>
  <p:tag name="KSO_WM_TAG_VERSION" val="3.0"/>
  <p:tag name="KSO_WM_BEAUTIFY_FLAG" val="#wm#"/>
  <p:tag name="KSO_WM_UNIT_PRESET_TEXT" val="单击此处添加标题"/>
</p:tagLst>
</file>

<file path=ppt/tags/tag72.xml><?xml version="1.0" encoding="utf-8"?>
<p:tagLst xmlns:p="http://schemas.openxmlformats.org/presentationml/2006/main">
  <p:tag name="KSO_WM_SLIDE_ID" val="diagram2023163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636"/>
  <p:tag name="KSO_WM_SLIDE_TYPE" val="text"/>
  <p:tag name="KSO_WM_SLIDE_SUBTYPE" val="diag"/>
  <p:tag name="KSO_WM_SLIDE_SIZE" val="851.507*346.68"/>
  <p:tag name="KSO_WM_SLIDE_POSITION" val="55.1157*132.359"/>
  <p:tag name="KSO_WM_SLIDE_LAYOUT" val="a_n"/>
  <p:tag name="KSO_WM_SLIDE_LAYOUT_CNT" val="1_1"/>
  <p:tag name="KSO_WM_SPECIAL_SOURCE" val="bdnull"/>
  <p:tag name="KSO_WM_DIAGRAM_GROUP_CODE" val="n1-1"/>
  <p:tag name="KSO_WM_SLIDE_DIAGTYPE" val="n"/>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wm#"/>
  <p:tag name="KSO_WM_TEMPLATE_CATEGORY" val="diagram"/>
  <p:tag name="KSO_WM_TEMPLATE_INDEX" val="20231636"/>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wm#"/>
  <p:tag name="KSO_WM_TEMPLATE_CATEGORY" val="diagram"/>
  <p:tag name="KSO_WM_TEMPLATE_INDEX" val="20231636"/>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wm#"/>
  <p:tag name="KSO_WM_TEMPLATE_CATEGORY" val="diagram"/>
  <p:tag name="KSO_WM_TEMPLATE_INDEX" val="20231636"/>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wm#"/>
  <p:tag name="KSO_WM_TEMPLATE_CATEGORY" val="diagram"/>
  <p:tag name="KSO_WM_TEMPLATE_INDEX" val="20231636"/>
</p:tagLst>
</file>

<file path=ppt/tags/tag8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wm#"/>
  <p:tag name="KSO_WM_UNIT_PRESET_TEXT" val="单击此处添加标题"/>
</p:tagLst>
</file>

<file path=ppt/tags/tag83.xml><?xml version="1.0" encoding="utf-8"?>
<p:tagLst xmlns:p="http://schemas.openxmlformats.org/presentationml/2006/main">
  <p:tag name="TABLE_ENDDRAG_ORIGIN_RECT" val="864*118"/>
  <p:tag name="TABLE_ENDDRAG_RECT" val="48*232*864*118"/>
</p:tagLst>
</file>

<file path=ppt/tags/tag8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
  <p:tag name="KSO_WM_UNIT_PRESET_TEXT" val="单击此处添加标题"/>
</p:tagLst>
</file>

<file path=ppt/tags/tag8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
  <p:tag name="KSO_WM_UNIT_PRESET_TEXT" val="单击此处添加标题"/>
</p:tagLst>
</file>

<file path=ppt/tags/tag8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
  <p:tag name="KSO_WM_UNIT_PRESET_TEXT" val="单击此处添加标题"/>
</p:tagLst>
</file>

<file path=ppt/tags/tag87.xml><?xml version="1.0" encoding="utf-8"?>
<p:tagLst xmlns:p="http://schemas.openxmlformats.org/presentationml/2006/main">
  <p:tag name="KSO_WM_SLIDE_ID" val="diagram202309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70"/>
  <p:tag name="KSO_WM_SLIDE_TYPE" val="text"/>
  <p:tag name="KSO_WM_SLIDE_SUBTYPE" val="diag"/>
  <p:tag name="KSO_WM_SLIDE_SIZE" val="577.6*237.3"/>
  <p:tag name="KSO_WM_SLIDE_POSITION" val="195.25*173.75"/>
  <p:tag name="KSO_WM_SLIDE_LAYOUT" val="a_l"/>
  <p:tag name="KSO_WM_SLIDE_LAYOUT_CNT" val="1_1"/>
  <p:tag name="KSO_WM_SPECIAL_SOURCE" val="bdnull"/>
  <p:tag name="KSO_WM_DIAGRAM_GROUP_CODE" val="l1-1"/>
  <p:tag name="KSO_WM_SLIDE_DIAGTYPE" val="l"/>
</p:tagLst>
</file>

<file path=ppt/tags/tag8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wm#"/>
  <p:tag name="KSO_WM_UNIT_PRESET_TEXT" val="单击此处添加标题"/>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SLIDE_ID" val="diagram202309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70"/>
  <p:tag name="KSO_WM_SLIDE_TYPE" val="text"/>
  <p:tag name="KSO_WM_SLIDE_SUBTYPE" val="diag"/>
  <p:tag name="KSO_WM_SLIDE_SIZE" val="577.6*237.3"/>
  <p:tag name="KSO_WM_SLIDE_POSITION" val="195.25*173.75"/>
  <p:tag name="KSO_WM_SLIDE_LAYOUT" val="a_l"/>
  <p:tag name="KSO_WM_SLIDE_LAYOUT_CNT" val="1_1"/>
  <p:tag name="KSO_WM_SPECIAL_SOURCE" val="bdnull"/>
  <p:tag name="KSO_WM_DIAGRAM_GROUP_CODE" val="l1-1"/>
  <p:tag name="KSO_WM_SLIDE_DIAGTYPE" val="l"/>
</p:tagLst>
</file>

<file path=ppt/tags/tag9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wm#"/>
  <p:tag name="KSO_WM_UNIT_PRESET_TEXT" val="单击此处添加标题"/>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SLIDE_ID" val="diagram202309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70"/>
  <p:tag name="KSO_WM_SLIDE_TYPE" val="text"/>
  <p:tag name="KSO_WM_SLIDE_SUBTYPE" val="diag"/>
  <p:tag name="KSO_WM_SLIDE_SIZE" val="577.6*237.3"/>
  <p:tag name="KSO_WM_SLIDE_POSITION" val="195.25*173.75"/>
  <p:tag name="KSO_WM_SLIDE_LAYOUT" val="a_l"/>
  <p:tag name="KSO_WM_SLIDE_LAYOUT_CNT" val="1_1"/>
  <p:tag name="KSO_WM_SPECIAL_SOURCE" val="bdnull"/>
  <p:tag name="KSO_WM_DIAGRAM_GROUP_CODE" val="l1-1"/>
  <p:tag name="KSO_WM_SLIDE_DIAGTYPE" val="l"/>
</p:tagLst>
</file>

<file path=ppt/tags/tag9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wm#"/>
  <p:tag name="KSO_WM_UNIT_PRESET_TEXT" val="单击此处添加标题"/>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SLIDE_ID" val="diagram202309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70"/>
  <p:tag name="KSO_WM_SLIDE_TYPE" val="text"/>
  <p:tag name="KSO_WM_SLIDE_SUBTYPE" val="diag"/>
  <p:tag name="KSO_WM_SLIDE_SIZE" val="577.6*237.3"/>
  <p:tag name="KSO_WM_SLIDE_POSITION" val="195.25*173.75"/>
  <p:tag name="KSO_WM_SLIDE_LAYOUT" val="a_l"/>
  <p:tag name="KSO_WM_SLIDE_LAYOUT_CNT" val="1_1"/>
  <p:tag name="KSO_WM_SPECIAL_SOURCE" val="bdnull"/>
  <p:tag name="KSO_WM_DIAGRAM_GROUP_CODE" val="l1-1"/>
  <p:tag name="KSO_WM_SLIDE_DIAGTYPE" val="l"/>
</p:tagLst>
</file>

<file path=ppt/tags/tag10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wm#"/>
  <p:tag name="KSO_WM_UNIT_PRESET_TEXT" val="单击此处添加标题"/>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SLIDE_ID" val="diagram202309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70"/>
  <p:tag name="KSO_WM_SLIDE_TYPE" val="text"/>
  <p:tag name="KSO_WM_SLIDE_SUBTYPE" val="diag"/>
  <p:tag name="KSO_WM_SLIDE_SIZE" val="577.6*237.3"/>
  <p:tag name="KSO_WM_SLIDE_POSITION" val="195.25*173.75"/>
  <p:tag name="KSO_WM_SLIDE_LAYOUT" val="a_l"/>
  <p:tag name="KSO_WM_SLIDE_LAYOUT_CNT" val="1_1"/>
  <p:tag name="KSO_WM_SPECIAL_SOURCE" val="bdnull"/>
  <p:tag name="KSO_WM_DIAGRAM_GROUP_CODE" val="l1-1"/>
  <p:tag name="KSO_WM_SLIDE_DIAGTYPE" val="l"/>
</p:tagLst>
</file>

<file path=ppt/tags/tag11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70_2*a*1"/>
  <p:tag name="KSO_WM_TEMPLATE_CATEGORY" val="diagram"/>
  <p:tag name="KSO_WM_TEMPLATE_INDEX" val="20230970"/>
  <p:tag name="KSO_WM_UNIT_LAYERLEVEL" val="1"/>
  <p:tag name="KSO_WM_TAG_VERSION" val="3.0"/>
  <p:tag name="KSO_WM_BEAUTIFY_FLAG" val="#wm#"/>
  <p:tag name="KSO_WM_UNIT_PRESET_TEXT" val="单击此处添加标题"/>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SLIDE_ID" val="diagram202309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70"/>
  <p:tag name="KSO_WM_SLIDE_TYPE" val="text"/>
  <p:tag name="KSO_WM_SLIDE_SUBTYPE" val="diag"/>
  <p:tag name="KSO_WM_SLIDE_SIZE" val="577.6*237.3"/>
  <p:tag name="KSO_WM_SLIDE_POSITION" val="195.25*173.75"/>
  <p:tag name="KSO_WM_SLIDE_LAYOUT" val="a_l"/>
  <p:tag name="KSO_WM_SLIDE_LAYOUT_CNT" val="1_1"/>
  <p:tag name="KSO_WM_SPECIAL_SOURCE" val="bdnull"/>
  <p:tag name="KSO_WM_DIAGRAM_GROUP_CODE" val="l1-1"/>
  <p:tag name="KSO_WM_SLIDE_DIAGTYPE" val="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SLIDE_ID" val="diagram202309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0970"/>
  <p:tag name="KSO_WM_SLIDE_TYPE" val="text"/>
  <p:tag name="KSO_WM_SLIDE_SUBTYPE" val="diag"/>
  <p:tag name="KSO_WM_SLIDE_SIZE" val="577.6*237.3"/>
  <p:tag name="KSO_WM_SLIDE_POSITION" val="195.25*173.75"/>
  <p:tag name="KSO_WM_SLIDE_LAYOUT" val="a_l"/>
  <p:tag name="KSO_WM_SLIDE_LAYOUT_CNT" val="1_1"/>
  <p:tag name="KSO_WM_SPECIAL_SOURCE" val="bdnull"/>
  <p:tag name="KSO_WM_DIAGRAM_GROUP_CODE" val="l1-1"/>
  <p:tag name="KSO_WM_SLIDE_DIAGTYPE" val="l"/>
</p:tagLst>
</file>

<file path=ppt/tags/tag123.xml><?xml version="1.0" encoding="utf-8"?>
<p:tagLst xmlns:p="http://schemas.openxmlformats.org/presentationml/2006/main">
  <p:tag name="commondata" val="eyJoZGlkIjoiNGE3OWMzMzE0ZTBkNmE4MTYxZmE2YTc2ODMyMjcyNDY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2088</Words>
  <Application>WPS 演示</Application>
  <PresentationFormat>宽屏</PresentationFormat>
  <Paragraphs>257</Paragraphs>
  <Slides>12</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宋体</vt:lpstr>
      <vt:lpstr>Wingdings</vt:lpstr>
      <vt:lpstr>Wingdings</vt:lpstr>
      <vt:lpstr>微软雅黑</vt:lpstr>
      <vt:lpstr>Arial Unicode MS</vt:lpstr>
      <vt:lpstr>Calibri</vt:lpstr>
      <vt:lpstr>WPS</vt:lpstr>
      <vt:lpstr>背景数据</vt:lpstr>
      <vt:lpstr>类目数据，标品</vt:lpstr>
      <vt:lpstr>竞对前4信息，1-4从左到右排序</vt:lpstr>
      <vt:lpstr>竞对广告分析，半年内的新品，采购成本预估11美金</vt:lpstr>
      <vt:lpstr>2023年销量爆发的老品，现在小类第2</vt:lpstr>
      <vt:lpstr>产品毛利计算不含广告</vt:lpstr>
      <vt:lpstr>推广策略</vt:lpstr>
      <vt:lpstr>第一周广告</vt:lpstr>
      <vt:lpstr>第二周广告</vt:lpstr>
      <vt:lpstr>第三周广告</vt:lpstr>
      <vt:lpstr>第四周广告</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Steve Luo</cp:lastModifiedBy>
  <cp:revision>160</cp:revision>
  <dcterms:created xsi:type="dcterms:W3CDTF">2019-06-19T02:08:00Z</dcterms:created>
  <dcterms:modified xsi:type="dcterms:W3CDTF">2024-01-29T10:12:08Z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2052-12.1.0.16250</vt:lpwstr>
  </property>
  <property fmtid="{D5CDD505-2E9C-101B-9397-08002B2CF9AE}" pid="3" name="ICV">
    <vt:lpwstr>CE299C6579F049B1999F2C08B631EB72_13</vt:lpwstr>
  </property>
</Properties>
</file>