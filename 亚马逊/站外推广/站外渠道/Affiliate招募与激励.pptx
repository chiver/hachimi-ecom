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21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0" r:id="rId5"/>
    <p:sldMasterId id="2147483671" r:id="rId6"/>
  </p:sldMasterIdLst>
  <p:notesMasterIdLst>
    <p:notesMasterId r:id="rId7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2BC41DE-F100-4D06-ACE8-7CCC2861F421}">
  <a:tblStyle styleId="{02BC41DE-F100-4D06-ACE8-7CCC2861F42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3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2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2.xml"/><Relationship Id="rId6" Type="http://schemas.openxmlformats.org/officeDocument/2006/relationships/slideMaster" Target="slideMasters/slideMaster2.xml"/><Relationship Id="rId18" Type="http://schemas.openxmlformats.org/officeDocument/2006/relationships/slide" Target="slides/slide1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8a7b9d31f0_2_39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g8a7b9d31f0_2_39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8a7b9d31f0_2_44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g8a7b9d31f0_2_44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8a7b9d31f0_2_49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2" name="Google Shape;102;g8a7b9d31f0_2_49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8a7b9d31f0_2_54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8" name="Google Shape;108;g8a7b9d31f0_2_54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8a7b9d31f0_2_59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8a7b9d31f0_2_59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8a7b9d31f0_2_64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g8a7b9d31f0_2_64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8a7b9d31f0_2_69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g8a7b9d31f0_2_69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8a7b9d31f0_2_74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g8a7b9d31f0_2_74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8a7b9d31f0_2_79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g8a7b9d31f0_2_79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8a7b9d31f0_2_84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g8a7b9d31f0_2_84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8a7b9d31f0_2_89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g8a7b9d31f0_2_89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g8a7b9d31f0_2_95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7" name="Google Shape;157;g8a7b9d31f0_2_95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g8a7b9d31f0_2_101:notes"/>
          <p:cNvSpPr txBox="1"/>
          <p:nvPr>
            <p:ph idx="1" type="body"/>
          </p:nvPr>
        </p:nvSpPr>
        <p:spPr>
          <a:xfrm>
            <a:off x="685778" y="4343395"/>
            <a:ext cx="5486395" cy="4114779"/>
          </a:xfrm>
          <a:prstGeom prst="rect">
            <a:avLst/>
          </a:prstGeom>
        </p:spPr>
        <p:txBody>
          <a:bodyPr anchorCtr="0" anchor="t" bIns="86075" lIns="86075" spcFirstLastPara="1" rIns="86075" wrap="square" tIns="860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g8a7b9d31f0_2_101:notes"/>
          <p:cNvSpPr/>
          <p:nvPr>
            <p:ph idx="2" type="sldImg"/>
          </p:nvPr>
        </p:nvSpPr>
        <p:spPr>
          <a:xfrm>
            <a:off x="1143213" y="685782"/>
            <a:ext cx="4572225" cy="3428997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2.jp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幻灯片" type="title">
  <p:cSld name="TITLE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 txBox="1"/>
          <p:nvPr>
            <p:ph type="ctrTitle"/>
          </p:nvPr>
        </p:nvSpPr>
        <p:spPr>
          <a:xfrm>
            <a:off x="685800" y="2118837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  <a:defRPr>
                <a:solidFill>
                  <a:srgbClr val="157D5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5" name="Google Shape;55;p14"/>
          <p:cNvSpPr txBox="1"/>
          <p:nvPr>
            <p:ph idx="1" type="subTitle"/>
          </p:nvPr>
        </p:nvSpPr>
        <p:spPr>
          <a:xfrm>
            <a:off x="1371600" y="3043238"/>
            <a:ext cx="6400800" cy="5657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0F6146"/>
              </a:buClr>
              <a:buSzPts val="1800"/>
              <a:buNone/>
              <a:defRPr sz="1800">
                <a:solidFill>
                  <a:srgbClr val="0F6146"/>
                </a:solidFill>
              </a:defRPr>
            </a:lvl1pPr>
            <a:lvl2pPr lvl="1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5pPr>
            <a:lvl6pPr lvl="5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lvl="6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lvl="7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lvl="8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内容" type="obj">
  <p:cSld name="OBJECT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8" name="Google Shape;58;p15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节标题" type="secHead">
  <p:cSld name="SECTION_HEAD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6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100"/>
              <a:buFont typeface="Calibri"/>
              <a:buNone/>
              <a:defRPr sz="41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1" name="Google Shape;61;p16"/>
          <p:cNvSpPr txBox="1"/>
          <p:nvPr>
            <p:ph idx="1" type="body"/>
          </p:nvPr>
        </p:nvSpPr>
        <p:spPr>
          <a:xfrm>
            <a:off x="623888" y="3442098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888888"/>
              </a:buClr>
              <a:buSzPts val="1100"/>
              <a:buNone/>
              <a:defRPr sz="1100">
                <a:solidFill>
                  <a:srgbClr val="888888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两栏内容" type="twoObj">
  <p:cSld name="TWO_OBJECTS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7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4" name="Google Shape;64;p17"/>
          <p:cNvSpPr txBox="1"/>
          <p:nvPr>
            <p:ph idx="1" type="body"/>
          </p:nvPr>
        </p:nvSpPr>
        <p:spPr>
          <a:xfrm>
            <a:off x="457200" y="1200150"/>
            <a:ext cx="4032504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  <p:sp>
        <p:nvSpPr>
          <p:cNvPr id="65" name="Google Shape;65;p17"/>
          <p:cNvSpPr txBox="1"/>
          <p:nvPr>
            <p:ph idx="2" type="body"/>
          </p:nvPr>
        </p:nvSpPr>
        <p:spPr>
          <a:xfrm>
            <a:off x="4654296" y="1200150"/>
            <a:ext cx="4032504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比较" type="twoTxTwoObj">
  <p:cSld name="TWO_OBJECTS_WITH_TEXT"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8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8" name="Google Shape;68;p18"/>
          <p:cNvSpPr txBox="1"/>
          <p:nvPr>
            <p:ph idx="1" type="body"/>
          </p:nvPr>
        </p:nvSpPr>
        <p:spPr>
          <a:xfrm>
            <a:off x="890081" y="1333829"/>
            <a:ext cx="3655181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9" name="Google Shape;69;p18"/>
          <p:cNvSpPr txBox="1"/>
          <p:nvPr>
            <p:ph idx="2" type="body"/>
          </p:nvPr>
        </p:nvSpPr>
        <p:spPr>
          <a:xfrm>
            <a:off x="890081" y="1999034"/>
            <a:ext cx="3655181" cy="2643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  <p:sp>
        <p:nvSpPr>
          <p:cNvPr id="70" name="Google Shape;70;p18"/>
          <p:cNvSpPr txBox="1"/>
          <p:nvPr>
            <p:ph idx="3" type="body"/>
          </p:nvPr>
        </p:nvSpPr>
        <p:spPr>
          <a:xfrm>
            <a:off x="4692704" y="1333829"/>
            <a:ext cx="3673182" cy="617934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None/>
              <a:defRPr sz="1900"/>
            </a:lvl1pPr>
            <a:lvl2pPr indent="-228600" lvl="1" marL="9144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indent="-2286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18"/>
          <p:cNvSpPr txBox="1"/>
          <p:nvPr>
            <p:ph idx="4" type="body"/>
          </p:nvPr>
        </p:nvSpPr>
        <p:spPr>
          <a:xfrm>
            <a:off x="4692704" y="1999034"/>
            <a:ext cx="3673182" cy="2643213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仅标题" type="titleOnly">
  <p:cSld name="TITLE_ONLY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空白" type="blank">
  <p:cSld name="BLANK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内容与标题" type="objTx">
  <p:cSld name="OBJECT_WITH_CAPTION_TEXT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7" name="Google Shape;77;p21"/>
          <p:cNvSpPr txBox="1"/>
          <p:nvPr>
            <p:ph idx="1" type="body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8300" lvl="0" marL="4572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Char char="•"/>
              <a:defRPr sz="2200"/>
            </a:lvl1pPr>
            <a:lvl2pPr indent="-349250" lvl="1" marL="91440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Char char="–"/>
              <a:defRPr sz="1900"/>
            </a:lvl2pPr>
            <a:lvl3pPr indent="-330200" lvl="2" marL="137160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 sz="1400"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 sz="1400"/>
            </a:lvl9pPr>
          </a:lstStyle>
          <a:p/>
        </p:txBody>
      </p:sp>
      <p:sp>
        <p:nvSpPr>
          <p:cNvPr id="78" name="Google Shape;78;p21"/>
          <p:cNvSpPr txBox="1"/>
          <p:nvPr>
            <p:ph idx="2" type="body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1pPr>
            <a:lvl2pPr indent="-228600" lvl="1" marL="914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2pPr>
            <a:lvl3pPr indent="-228600" lvl="2" marL="1371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700"/>
              <a:buNone/>
              <a:defRPr sz="700"/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图片与标题" type="picTx">
  <p:cSld name="PICTURE_WITH_CAPTION_TEXT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2"/>
          <p:cNvSpPr txBox="1"/>
          <p:nvPr>
            <p:ph type="title"/>
          </p:nvPr>
        </p:nvSpPr>
        <p:spPr>
          <a:xfrm>
            <a:off x="629841" y="342900"/>
            <a:ext cx="3124012" cy="1200150"/>
          </a:xfrm>
          <a:prstGeom prst="rect">
            <a:avLst/>
          </a:prstGeom>
          <a:noFill/>
          <a:ln>
            <a:noFill/>
          </a:ln>
        </p:spPr>
        <p:txBody>
          <a:bodyPr anchorCtr="0" anchor="b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200"/>
              <a:buFont typeface="Calibri"/>
              <a:buNone/>
              <a:defRPr sz="22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1" name="Google Shape;81;p22"/>
          <p:cNvSpPr/>
          <p:nvPr>
            <p:ph idx="2" type="pic"/>
          </p:nvPr>
        </p:nvSpPr>
        <p:spPr>
          <a:xfrm>
            <a:off x="3887391" y="342901"/>
            <a:ext cx="4629150" cy="4052888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None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900"/>
              <a:buFont typeface="Arial"/>
              <a:buNone/>
              <a:defRPr b="0" i="0" sz="1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629841" y="1543050"/>
            <a:ext cx="3124012" cy="2858691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3pPr>
            <a:lvl4pPr indent="-228600" lvl="3" marL="1828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标题和竖排文字" type="vertTx">
  <p:cSld name="VERTICAL_TEXT"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23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5" name="Google Shape;85;p23"/>
          <p:cNvSpPr txBox="1"/>
          <p:nvPr>
            <p:ph idx="1" type="body"/>
          </p:nvPr>
        </p:nvSpPr>
        <p:spPr>
          <a:xfrm rot="5400000">
            <a:off x="2874645" y="-1217295"/>
            <a:ext cx="3394710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竖版" type="vertTitleAndTx">
  <p:cSld name="VERTICAL_TITLE_AND_VERTICAL_TEXT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4"/>
          <p:cNvSpPr txBox="1"/>
          <p:nvPr>
            <p:ph type="title"/>
          </p:nvPr>
        </p:nvSpPr>
        <p:spPr>
          <a:xfrm rot="5400000">
            <a:off x="5553551" y="1461611"/>
            <a:ext cx="4209098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88" name="Google Shape;88;p24"/>
          <p:cNvSpPr txBox="1"/>
          <p:nvPr>
            <p:ph idx="1" type="body"/>
          </p:nvPr>
        </p:nvSpPr>
        <p:spPr>
          <a:xfrm rot="5400000">
            <a:off x="1379116" y="-536154"/>
            <a:ext cx="4209098" cy="605293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indent="-317500" lvl="1" marL="914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2pPr>
            <a:lvl3pPr indent="-317500" lvl="2" marL="1371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indent="-317500" lvl="3" marL="1828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–"/>
              <a:defRPr/>
            </a:lvl4pPr>
            <a:lvl5pPr indent="-317500" lvl="4" marL="22860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5pPr>
            <a:lvl6pPr indent="-317500" lvl="5" marL="27432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6pPr>
            <a:lvl7pPr indent="-317500" lvl="6" marL="32004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7pPr>
            <a:lvl8pPr indent="-317500" lvl="7" marL="36576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8pPr>
            <a:lvl9pPr indent="-317500" lvl="8" marL="411480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Char char="»"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1.xml"/><Relationship Id="rId10" Type="http://schemas.openxmlformats.org/officeDocument/2006/relationships/slideLayout" Target="../slideLayouts/slideLayout20.xml"/><Relationship Id="rId13" Type="http://schemas.openxmlformats.org/officeDocument/2006/relationships/theme" Target="../theme/theme2.xml"/><Relationship Id="rId12" Type="http://schemas.openxmlformats.org/officeDocument/2006/relationships/slideLayout" Target="../slideLayouts/slideLayout22.xml"/><Relationship Id="rId1" Type="http://schemas.openxmlformats.org/officeDocument/2006/relationships/image" Target="../media/image1.jpg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9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900"/>
              <a:buFont typeface="Calibri"/>
              <a:buNone/>
              <a:defRPr b="0" i="0" sz="29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>
            <a:lvl1pPr indent="-368300" lvl="0" marL="457200" marR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Arial"/>
              <a:buChar char="•"/>
              <a:defRPr b="0" i="0" sz="2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–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30200" lvl="2" marL="1371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–"/>
              <a:defRPr b="0" i="0" sz="1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Char char="»"/>
              <a:defRPr b="0" i="0" sz="1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2"/>
    <p:sldLayoutId id="2147483660" r:id="rId3"/>
    <p:sldLayoutId id="2147483661" r:id="rId4"/>
    <p:sldLayoutId id="2147483662" r:id="rId5"/>
    <p:sldLayoutId id="2147483663" r:id="rId6"/>
    <p:sldLayoutId id="2147483664" r:id="rId7"/>
    <p:sldLayoutId id="2147483665" r:id="rId8"/>
    <p:sldLayoutId id="2147483666" r:id="rId9"/>
    <p:sldLayoutId id="2147483667" r:id="rId10"/>
    <p:sldLayoutId id="2147483668" r:id="rId11"/>
    <p:sldLayoutId id="2147483669" r:id="rId12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5"/>
          <p:cNvSpPr/>
          <p:nvPr/>
        </p:nvSpPr>
        <p:spPr>
          <a:xfrm>
            <a:off x="1650682" y="2125980"/>
            <a:ext cx="5842635" cy="898684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zh-CN" sz="5400" u="none" cap="none" strike="noStrike">
                <a:solidFill>
                  <a:srgbClr val="323F4F"/>
                </a:solidFill>
                <a:latin typeface="Calibri"/>
                <a:ea typeface="Calibri"/>
                <a:cs typeface="Calibri"/>
                <a:sym typeface="Calibri"/>
              </a:rPr>
              <a:t>Affiliate招募与激励</a:t>
            </a:r>
            <a:endParaRPr b="1" i="0" sz="5400" u="none" cap="none" strike="noStrike">
              <a:solidFill>
                <a:srgbClr val="323F4F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6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目录</a:t>
            </a:r>
            <a:endParaRPr sz="1100"/>
          </a:p>
        </p:txBody>
      </p:sp>
      <p:sp>
        <p:nvSpPr>
          <p:cNvPr id="99" name="Google Shape;99;p26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1651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1100"/>
          </a:p>
          <a:p>
            <a:pPr indent="-29845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CN" sz="1100"/>
              <a:t>一、Affiliate招募</a:t>
            </a:r>
            <a:endParaRPr sz="1100"/>
          </a:p>
          <a:p>
            <a:pPr indent="-1651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1100"/>
          </a:p>
          <a:p>
            <a:pPr indent="-29845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</a:pPr>
            <a:r>
              <a:rPr lang="zh-CN" sz="1100"/>
              <a:t>二、Affiliate激励</a:t>
            </a:r>
            <a:endParaRPr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7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一、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</a:t>
            </a:r>
            <a:r>
              <a:rPr lang="zh-CN" sz="1100"/>
              <a:t>招募</a:t>
            </a:r>
            <a:endParaRPr sz="1100"/>
          </a:p>
        </p:txBody>
      </p:sp>
      <p:sp>
        <p:nvSpPr>
          <p:cNvPr id="105" name="Google Shape;105;p27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zh-CN" sz="2100">
                <a:solidFill>
                  <a:srgbClr val="FF0000"/>
                </a:solidFill>
              </a:rPr>
              <a:t>招募的途径</a:t>
            </a:r>
            <a:endParaRPr b="1" sz="21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1200"/>
              <a:buNone/>
            </a:pPr>
            <a:r>
              <a:rPr b="1" lang="zh-CN" sz="1200">
                <a:solidFill>
                  <a:srgbClr val="FF0000"/>
                </a:solidFill>
              </a:rPr>
              <a:t>1.平台内招募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CN" sz="1200"/>
              <a:t>a.大部分平台会公开平台affiliate资源，可以根据筛选条件选择性招募平台内affiliate，注意如果发站内信无效，最好是私下通过邮箱发送针对性较强的招募信；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CN" sz="1200"/>
              <a:t>b.请客户经理分享适合我们项目的affiliate名单、竞争对手affiliate名单；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CN" sz="1200"/>
              <a:t>c.平台广告位（如预定每周免费newsletter，或者额外付费挂一个banner在平台首页增加项目的曝光率）；</a:t>
            </a:r>
            <a:endParaRPr sz="1200"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CN" sz="1200"/>
              <a:t>d.Affiliate互相引荐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FF0000"/>
              </a:buClr>
              <a:buSzPts val="1200"/>
              <a:buNone/>
            </a:pPr>
            <a:r>
              <a:rPr b="1" lang="zh-CN" sz="1200">
                <a:solidFill>
                  <a:srgbClr val="FF0000"/>
                </a:solidFill>
              </a:rPr>
              <a:t>2. 平台外招募</a:t>
            </a:r>
            <a:endParaRPr b="1" sz="1200">
              <a:solidFill>
                <a:srgbClr val="FF0000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CN" sz="1200"/>
              <a:t>a.行业论坛、SNS上招募--站外项目推广，inhouse affiliate尤其要注意这种招募方式；      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CN" sz="1200"/>
              <a:t>b.搜索引擎/反链/资源批量查找工具等--效率低，不建议使用；</a:t>
            </a:r>
            <a:endParaRPr sz="12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rPr lang="zh-CN" sz="1200"/>
              <a:t>c.公司内部资源利用：如pro program项目的资源导入inhouse affiliate。</a:t>
            </a:r>
            <a:endParaRPr sz="1100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rgbClr val="FF0000"/>
              </a:buClr>
              <a:buSzPts val="2100"/>
              <a:buNone/>
            </a:pPr>
            <a:r>
              <a:rPr b="1" lang="zh-CN" sz="2100">
                <a:solidFill>
                  <a:srgbClr val="FF0000"/>
                </a:solidFill>
              </a:rPr>
              <a:t>    </a:t>
            </a:r>
            <a:endParaRPr sz="11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8"/>
          <p:cNvSpPr txBox="1"/>
          <p:nvPr>
            <p:ph type="title"/>
          </p:nvPr>
        </p:nvSpPr>
        <p:spPr>
          <a:xfrm>
            <a:off x="413861" y="515779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一、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</a:t>
            </a:r>
            <a:r>
              <a:rPr lang="zh-CN" sz="1100"/>
              <a:t>招募</a:t>
            </a:r>
            <a:br>
              <a:rPr lang="zh-CN" sz="1100"/>
            </a:br>
            <a:endParaRPr sz="1100"/>
          </a:p>
        </p:txBody>
      </p:sp>
      <p:sp>
        <p:nvSpPr>
          <p:cNvPr id="111" name="Google Shape;111;p28"/>
          <p:cNvSpPr txBox="1"/>
          <p:nvPr>
            <p:ph idx="1" type="body"/>
          </p:nvPr>
        </p:nvSpPr>
        <p:spPr>
          <a:xfrm>
            <a:off x="457200" y="1330166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b="1" lang="zh-CN" sz="1500"/>
              <a:t>招募小窍门：</a:t>
            </a:r>
            <a:endParaRPr b="1" sz="15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CN" sz="1500"/>
              <a:t>a.完善平台账户信息、项目介绍页面，内容尽量详尽、有吸引力，增加匹配成功率；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CN" sz="1500"/>
              <a:t>项目介绍页面：https://www.shareasale.com/shareasale.cfm?merchantID=52031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CN" sz="1500"/>
              <a:t>b.多研究平台功能，挖掘平台上的免费曝光机会；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CN" sz="1500"/>
              <a:t>c.多途径增加和AFF的互动率，如FB群组、行业论坛、平台论坛，关注行业动态；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CN" sz="1500"/>
              <a:t>d.重视招募信：称呼负责人的名字，而不是统一写dear publishers；内容要针对AFF网站的特点；善于使用数字；排版美观，重点突出；换位思考，抓住AFF痛点；（http://missyward.com/affiliate_marketing/5-tips-to-successful-affiliate-recruiting-emails/）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CN" sz="1500"/>
              <a:t>e.为新AFF制定额外的激励计划；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CN" sz="1500"/>
              <a:t>f.优化项目数据，较高的项目转化率可以加分；</a:t>
            </a:r>
            <a:endParaRPr sz="1500"/>
          </a:p>
          <a:p>
            <a:pPr indent="0" lvl="0" marL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</a:pPr>
            <a:r>
              <a:rPr lang="zh-CN" sz="1500"/>
              <a:t>...</a:t>
            </a:r>
            <a:endParaRPr sz="15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29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一、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</a:t>
            </a:r>
            <a:r>
              <a:rPr lang="zh-CN" sz="1100"/>
              <a:t>招募</a:t>
            </a:r>
            <a:endParaRPr sz="1100"/>
          </a:p>
        </p:txBody>
      </p:sp>
      <p:sp>
        <p:nvSpPr>
          <p:cNvPr id="117" name="Google Shape;117;p29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30480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b="1" lang="zh-CN" sz="2200">
                <a:solidFill>
                  <a:srgbClr val="FF0000"/>
                </a:solidFill>
              </a:rPr>
              <a:t>招募的方法 : 邀约信  </a:t>
            </a:r>
            <a:endParaRPr b="1" sz="2200">
              <a:solidFill>
                <a:srgbClr val="FF0000"/>
              </a:solidFill>
            </a:endParaRPr>
          </a:p>
          <a:p>
            <a:pPr indent="-298450" lvl="0" marL="30480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</a:pPr>
            <a:r>
              <a:rPr b="1" lang="zh-CN" sz="1500">
                <a:solidFill>
                  <a:schemeClr val="dk1"/>
                </a:solidFill>
              </a:rPr>
              <a:t>邀约信的5大要素</a:t>
            </a:r>
            <a:endParaRPr b="1" sz="1500">
              <a:solidFill>
                <a:schemeClr val="dk1"/>
              </a:solidFill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zh-CN" sz="1200">
                <a:solidFill>
                  <a:schemeClr val="accent1"/>
                </a:solidFill>
              </a:rPr>
              <a:t>1.醒目的标题</a:t>
            </a:r>
            <a:endParaRPr sz="1200">
              <a:solidFill>
                <a:schemeClr val="accent1"/>
              </a:solidFill>
            </a:endParaRPr>
          </a:p>
          <a:p>
            <a:pPr indent="-2286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zh-CN" sz="1200">
                <a:solidFill>
                  <a:schemeClr val="accent1"/>
                </a:solidFill>
              </a:rPr>
              <a:t>2.简单明了的内容</a:t>
            </a:r>
            <a:endParaRPr sz="1200">
              <a:solidFill>
                <a:schemeClr val="accent1"/>
              </a:solidFill>
            </a:endParaRPr>
          </a:p>
          <a:p>
            <a:pPr indent="-2286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zh-CN" sz="1200">
                <a:solidFill>
                  <a:schemeClr val="accent1"/>
                </a:solidFill>
              </a:rPr>
              <a:t>3.利益诱惑</a:t>
            </a:r>
            <a:endParaRPr sz="1200">
              <a:solidFill>
                <a:schemeClr val="accent1"/>
              </a:solidFill>
            </a:endParaRPr>
          </a:p>
          <a:p>
            <a:pPr indent="-2286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zh-CN" sz="1200">
                <a:solidFill>
                  <a:schemeClr val="accent1"/>
                </a:solidFill>
              </a:rPr>
              <a:t>4.详细的个人签名</a:t>
            </a:r>
            <a:endParaRPr sz="1200">
              <a:solidFill>
                <a:schemeClr val="accent1"/>
              </a:solidFill>
            </a:endParaRPr>
          </a:p>
          <a:p>
            <a:pPr indent="-2286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sz="1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accent1"/>
              </a:buClr>
              <a:buSzPts val="1200"/>
              <a:buChar char="•"/>
            </a:pPr>
            <a:r>
              <a:rPr lang="zh-CN" sz="1200">
                <a:solidFill>
                  <a:schemeClr val="accent1"/>
                </a:solidFill>
              </a:rPr>
              <a:t>5.细节决定成败</a:t>
            </a:r>
            <a:endParaRPr sz="1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</a:pPr>
            <a:r>
              <a:t/>
            </a:r>
            <a:endParaRPr b="1" sz="12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0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br>
              <a:rPr lang="zh-CN" sz="1100"/>
            </a:br>
            <a:r>
              <a:rPr lang="zh-CN" sz="1100"/>
              <a:t>一、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</a:t>
            </a:r>
            <a:r>
              <a:rPr lang="zh-CN" sz="1100"/>
              <a:t>招募</a:t>
            </a:r>
            <a:br>
              <a:rPr lang="zh-CN" sz="1100"/>
            </a:br>
            <a:endParaRPr sz="1100"/>
          </a:p>
        </p:txBody>
      </p:sp>
      <p:sp>
        <p:nvSpPr>
          <p:cNvPr id="123" name="Google Shape;123;p30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lang="zh-CN" sz="2200">
                <a:solidFill>
                  <a:srgbClr val="FF0000"/>
                </a:solidFill>
              </a:rPr>
              <a:t>一个醒目的标题是邀约成功的前提</a:t>
            </a:r>
            <a:endParaRPr sz="2200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（1）稍微正式的标题：Sincerely cooperation with Website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（2）最新的产品作为标题：Oneplus 3 review Units for website 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（3）利益诱惑：Sponsored cooperation with Website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（4）心机标题：Re:Re: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（5）简单明了的标题：Advertising in Website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1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一、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</a:t>
            </a:r>
            <a:r>
              <a:rPr lang="zh-CN" sz="1100"/>
              <a:t>招募</a:t>
            </a:r>
            <a:endParaRPr sz="1100"/>
          </a:p>
        </p:txBody>
      </p:sp>
      <p:sp>
        <p:nvSpPr>
          <p:cNvPr id="129" name="Google Shape;129;p31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lang="zh-CN" sz="2200">
                <a:solidFill>
                  <a:srgbClr val="FF0000"/>
                </a:solidFill>
              </a:rPr>
              <a:t>越简单的内容成功率越高</a:t>
            </a:r>
            <a:endParaRPr sz="2200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一句简单的问候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一句简单的自我介绍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一句话表明来意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一句话表明合作者可以得到的好处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一句话表示期望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2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一、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</a:t>
            </a:r>
            <a:r>
              <a:rPr lang="zh-CN" sz="1100"/>
              <a:t>招募</a:t>
            </a:r>
            <a:endParaRPr sz="1100"/>
          </a:p>
        </p:txBody>
      </p:sp>
      <p:sp>
        <p:nvSpPr>
          <p:cNvPr id="135" name="Google Shape;135;p32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lang="zh-CN" sz="2200">
                <a:solidFill>
                  <a:srgbClr val="FF0000"/>
                </a:solidFill>
              </a:rPr>
              <a:t>要从合作者的角度思考，他最需要的什么，最能打动他的是什么？</a:t>
            </a:r>
            <a:endParaRPr sz="2200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大网站的编辑，最需要的是新品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大网站的广告团队，最需要的金钱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deal网站最需要的是佣金和coupon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小网站最需要的是人气和产品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大网站可以预定合作，达成长期稳定合作意向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33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一、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</a:t>
            </a:r>
            <a:r>
              <a:rPr lang="zh-CN" sz="1100"/>
              <a:t>招募</a:t>
            </a:r>
            <a:endParaRPr sz="1100"/>
          </a:p>
        </p:txBody>
      </p:sp>
      <p:sp>
        <p:nvSpPr>
          <p:cNvPr id="141" name="Google Shape;141;p33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lang="zh-CN" sz="2200">
                <a:solidFill>
                  <a:srgbClr val="FF0000"/>
                </a:solidFill>
              </a:rPr>
              <a:t>详细的个人签名是你专业素养的体现</a:t>
            </a:r>
            <a:endParaRPr sz="2200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公司的名称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公司的网址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你在公司的职位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你的Skype，Facebook，Twitter等联系方式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详细的工作地址</a:t>
            </a:r>
            <a:endParaRPr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4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一、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</a:t>
            </a:r>
            <a:r>
              <a:rPr lang="zh-CN" sz="1100"/>
              <a:t>招募</a:t>
            </a:r>
            <a:endParaRPr sz="1100"/>
          </a:p>
        </p:txBody>
      </p:sp>
      <p:sp>
        <p:nvSpPr>
          <p:cNvPr id="147" name="Google Shape;147;p34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0480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200"/>
              <a:buChar char="•"/>
            </a:pPr>
            <a:r>
              <a:rPr lang="zh-CN" sz="2200">
                <a:solidFill>
                  <a:srgbClr val="FF0000"/>
                </a:solidFill>
              </a:rPr>
              <a:t>细节的重要性</a:t>
            </a:r>
            <a:endParaRPr sz="2200" strike="noStrike">
              <a:solidFill>
                <a:srgbClr val="FF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邮件字体的大小选择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邮件发送时间的选择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邮件的排版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邮件的格式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说话的语气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3048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accent1"/>
              </a:buClr>
              <a:buSzPts val="2200"/>
              <a:buChar char="•"/>
            </a:pPr>
            <a:r>
              <a:rPr lang="zh-CN" sz="2200">
                <a:solidFill>
                  <a:schemeClr val="accent1"/>
                </a:solidFill>
              </a:rPr>
              <a:t>尽量称呼名字，不要用admin，editors，Sir，Madam等称呼，表示尊重</a:t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 strike="noStrike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-165100" lvl="0" marL="304800" rtl="0" algn="l">
              <a:lnSpc>
                <a:spcPct val="10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5"/>
          <p:cNvSpPr txBox="1"/>
          <p:nvPr>
            <p:ph type="title"/>
          </p:nvPr>
        </p:nvSpPr>
        <p:spPr>
          <a:xfrm>
            <a:off x="457200" y="385763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二、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Affiliate激励</a:t>
            </a:r>
            <a:endParaRPr sz="1100"/>
          </a:p>
        </p:txBody>
      </p:sp>
      <p:sp>
        <p:nvSpPr>
          <p:cNvPr id="153" name="Google Shape;153;p35"/>
          <p:cNvSpPr txBox="1"/>
          <p:nvPr>
            <p:ph idx="1" type="body"/>
          </p:nvPr>
        </p:nvSpPr>
        <p:spPr>
          <a:xfrm>
            <a:off x="457200" y="1200150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29845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500"/>
              <a:buChar char="•"/>
            </a:pPr>
            <a:r>
              <a:rPr b="1" lang="zh-CN" sz="1500">
                <a:solidFill>
                  <a:srgbClr val="FF0000"/>
                </a:solidFill>
              </a:rPr>
              <a:t>激励计划incentive plans/sales competitions</a:t>
            </a:r>
            <a:r>
              <a:rPr b="1" lang="zh-CN" sz="1100">
                <a:solidFill>
                  <a:srgbClr val="FF0000"/>
                </a:solidFill>
              </a:rPr>
              <a:t>：</a:t>
            </a:r>
            <a:r>
              <a:rPr lang="zh-CN" sz="1100"/>
              <a:t>旨在激发affiliate的积极性，加大推广，从而刺激销售；一般设定目标和规则，达到目标的affiliate，按照规则给与一定的佣金或者现金奖励。</a:t>
            </a:r>
            <a:endParaRPr sz="1100"/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CN" sz="1100"/>
              <a:t>           </a:t>
            </a:r>
            <a:r>
              <a:rPr b="1" lang="zh-CN" sz="1100">
                <a:solidFill>
                  <a:srgbClr val="0000FF"/>
                </a:solidFill>
              </a:rPr>
              <a:t>A. 方式</a:t>
            </a:r>
            <a:endParaRPr b="1" sz="1100">
              <a:solidFill>
                <a:srgbClr val="0000FF"/>
              </a:solidFill>
            </a:endParaRPr>
          </a:p>
          <a:p>
            <a:pPr indent="0" lvl="0" marL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rPr lang="zh-CN" sz="1100"/>
              <a:t>           </a:t>
            </a:r>
            <a:endParaRPr sz="1100"/>
          </a:p>
        </p:txBody>
      </p:sp>
      <p:graphicFrame>
        <p:nvGraphicFramePr>
          <p:cNvPr id="154" name="Google Shape;154;p35"/>
          <p:cNvGraphicFramePr/>
          <p:nvPr/>
        </p:nvGraphicFramePr>
        <p:xfrm>
          <a:off x="865822" y="1806416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{02BC41DE-F100-4D06-ACE8-7CCC2861F421}</a:tableStyleId>
              </a:tblPr>
              <a:tblGrid>
                <a:gridCol w="701025"/>
                <a:gridCol w="1895000"/>
                <a:gridCol w="4983950"/>
              </a:tblGrid>
              <a:tr h="5334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1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直接提高佣金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在活动期内短期给予affiliate更高的佣金比例，刺激affiliate加大推广。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4552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2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基于目标提高佣金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在活动期内，设定销售目标，达到设定目标的，给予提高佣金；可以针对活动期间的销售提高佣金，也可以活动期后提高佣金一段时间。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45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3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基于目标现金/产品/礼品卡等奖励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在活动期间，设定销售目标，达到设定目标的，给予现金等奖励。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454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4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竞赛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在活动期间，按照我们设定的竞赛规则评选出获胜AFF。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6"/>
          <p:cNvSpPr txBox="1"/>
          <p:nvPr>
            <p:ph type="title"/>
          </p:nvPr>
        </p:nvSpPr>
        <p:spPr>
          <a:xfrm>
            <a:off x="457200" y="451485"/>
            <a:ext cx="8229600" cy="760095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900"/>
              <a:buFont typeface="Calibri"/>
              <a:buNone/>
            </a:pPr>
            <a:r>
              <a:rPr lang="zh-CN" sz="1100"/>
              <a:t>二、</a:t>
            </a:r>
            <a:r>
              <a:rPr lang="zh-CN" sz="1100">
                <a:latin typeface="Calibri"/>
                <a:ea typeface="Calibri"/>
                <a:cs typeface="Calibri"/>
                <a:sym typeface="Calibri"/>
              </a:rPr>
              <a:t>Affiliate激励</a:t>
            </a:r>
            <a:br>
              <a:rPr lang="zh-CN" sz="1100"/>
            </a:br>
            <a:endParaRPr sz="1100"/>
          </a:p>
        </p:txBody>
      </p:sp>
      <p:sp>
        <p:nvSpPr>
          <p:cNvPr id="160" name="Google Shape;160;p36"/>
          <p:cNvSpPr txBox="1"/>
          <p:nvPr>
            <p:ph idx="1" type="body"/>
          </p:nvPr>
        </p:nvSpPr>
        <p:spPr>
          <a:xfrm>
            <a:off x="406717" y="874395"/>
            <a:ext cx="8229600" cy="3394710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-311150" lvl="0" marL="3048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FF"/>
              </a:buClr>
              <a:buSzPts val="1100"/>
              <a:buChar char="•"/>
            </a:pPr>
            <a:r>
              <a:rPr b="1" lang="zh-CN" sz="1100">
                <a:solidFill>
                  <a:srgbClr val="0000FF"/>
                </a:solidFill>
              </a:rPr>
              <a:t>B. 激励计划要素</a:t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sz="1100">
              <a:solidFill>
                <a:schemeClr val="dk1"/>
              </a:solidFill>
            </a:endParaRPr>
          </a:p>
          <a:p>
            <a:pPr indent="-241300" lvl="0" marL="30480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</a:pPr>
            <a:r>
              <a:t/>
            </a:r>
            <a:endParaRPr b="1" sz="1100">
              <a:solidFill>
                <a:srgbClr val="0000FF"/>
              </a:solidFill>
            </a:endParaRPr>
          </a:p>
        </p:txBody>
      </p:sp>
      <p:graphicFrame>
        <p:nvGraphicFramePr>
          <p:cNvPr id="161" name="Google Shape;161;p36"/>
          <p:cNvGraphicFramePr/>
          <p:nvPr/>
        </p:nvGraphicFramePr>
        <p:xfrm>
          <a:off x="717709" y="11239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{02BC41DE-F100-4D06-ACE8-7CCC2861F421}</a:tableStyleId>
              </a:tblPr>
              <a:tblGrid>
                <a:gridCol w="786275"/>
                <a:gridCol w="2668425"/>
                <a:gridCol w="3892375"/>
              </a:tblGrid>
              <a:tr h="3429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zh-CN" sz="1100" u="none" cap="none" strike="noStrike">
                          <a:solidFill>
                            <a:schemeClr val="dk1"/>
                          </a:solidFill>
                        </a:rPr>
                        <a:t>时间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一般一个月为活动期，或者是某个大型节日、活动期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时区最好是按照联盟平台默认时区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285750">
                <a:tc row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zh-CN" sz="1100" u="none" cap="none" strike="noStrike">
                          <a:solidFill>
                            <a:schemeClr val="dk1"/>
                          </a:solidFill>
                        </a:rPr>
                        <a:t>对象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所有affiliate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目标适合设定为参考时间段销售额的倍数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445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部分affiliate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比如推广某类产品的affiliate，销售、点击在某一个范围的affiliate、某个国家的affiliate等；目标设定比较灵活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285750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单个affiliate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充分了解affiliate，设定合适的目标，给予激励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285750">
                <a:tc rowSpan="4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zh-CN" sz="1100" u="none" cap="none" strike="noStrike">
                          <a:solidFill>
                            <a:schemeClr val="dk1"/>
                          </a:solidFill>
                        </a:rPr>
                        <a:t>规则/方式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直接提高佣金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/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3443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基于目标提高佣金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目标可以是参考时间段销售额的倍数，比如6月</a:t>
                      </a:r>
                      <a:endParaRPr sz="900" u="none" cap="none" strike="noStrike"/>
                    </a:p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t/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4605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基于目标现金奖励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销售额达到5月销售额的2倍；也可以是一个固定的目标销售额，比如达到2w美金额外奖励100美金，达到3w美金额外奖励150美金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460525">
                <a:tc vMerge="1"/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竞赛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形式多样，注意公平性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</a:tr>
              <a:tr h="3109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zh-CN" sz="1100" u="none" cap="none" strike="noStrike">
                          <a:solidFill>
                            <a:schemeClr val="dk1"/>
                          </a:solidFill>
                        </a:rPr>
                        <a:t>Bonus认领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最好是给一个截止日，要求affiliate在截止日之前拿销售数据证明来认领bonus</a:t>
                      </a:r>
                      <a:endParaRPr sz="900" u="none" cap="none" strike="noStrike"/>
                    </a:p>
                  </a:txBody>
                  <a:tcPr marT="34300" marB="34300" marR="68600" marL="68600"/>
                </a:tc>
                <a:tc hMerge="1"/>
              </a:tr>
              <a:tr h="4086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Calibri"/>
                        <a:buNone/>
                      </a:pPr>
                      <a:r>
                        <a:rPr b="1" lang="zh-CN" sz="1100" u="none" cap="none" strike="noStrike">
                          <a:solidFill>
                            <a:schemeClr val="dk1"/>
                          </a:solidFill>
                        </a:rPr>
                        <a:t>其他说明</a:t>
                      </a:r>
                      <a:endParaRPr b="1" sz="1100" u="none" cap="none" strike="noStrike">
                        <a:solidFill>
                          <a:schemeClr val="dk1"/>
                        </a:solidFill>
                      </a:endParaRPr>
                    </a:p>
                  </a:txBody>
                  <a:tcPr marT="34300" marB="34300" marR="68600" marL="68600"/>
                </a:tc>
                <a:tc gridSpan="2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900"/>
                        <a:buFont typeface="Calibri"/>
                        <a:buNone/>
                      </a:pPr>
                      <a:r>
                        <a:rPr lang="zh-CN" sz="900" u="none" cap="none" strike="noStrike"/>
                        <a:t>讲清楚其他需要affiliate注意的事项，比如有哪些是不能认领的情况，比如目标设定为参考时间段销售额倍数时，不包括参考时间销售额为0 的affiliate. </a:t>
                      </a:r>
                      <a:r>
                        <a:rPr lang="zh-CN" sz="900" u="none" cap="none" strike="noStrike">
                          <a:solidFill>
                            <a:srgbClr val="FF0000"/>
                          </a:solidFill>
                        </a:rPr>
                        <a:t>重要的合作者，最好是单独邮件再发送一次，确保这个消息有落实到。激励计划内容不推荐用表格的形式。</a:t>
                      </a:r>
                      <a:endParaRPr sz="900" u="none" cap="none" strike="noStrike">
                        <a:solidFill>
                          <a:srgbClr val="FF0000"/>
                        </a:solidFill>
                      </a:endParaRPr>
                    </a:p>
                  </a:txBody>
                  <a:tcPr marT="34300" marB="34300" marR="68600" marL="68600"/>
                </a:tc>
                <a:tc hMerge="1"/>
              </a:tr>
            </a:tbl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7"/>
          <p:cNvSpPr txBox="1"/>
          <p:nvPr>
            <p:ph type="ctrTitle"/>
          </p:nvPr>
        </p:nvSpPr>
        <p:spPr>
          <a:xfrm>
            <a:off x="685800" y="2118837"/>
            <a:ext cx="7772400" cy="777240"/>
          </a:xfrm>
          <a:prstGeom prst="rect">
            <a:avLst/>
          </a:prstGeom>
          <a:noFill/>
          <a:ln>
            <a:noFill/>
          </a:ln>
        </p:spPr>
        <p:txBody>
          <a:bodyPr anchorCtr="0" anchor="ctr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500"/>
              <a:buFont typeface="Calibri"/>
              <a:buNone/>
            </a:pPr>
            <a:br>
              <a:rPr b="1" lang="zh-CN" sz="4500"/>
            </a:br>
            <a:r>
              <a:rPr b="1" lang="zh-CN" sz="4500"/>
              <a:t>Thank you</a:t>
            </a:r>
            <a:br>
              <a:rPr lang="zh-CN" sz="4500"/>
            </a:br>
            <a:endParaRPr sz="4500"/>
          </a:p>
        </p:txBody>
      </p:sp>
      <p:sp>
        <p:nvSpPr>
          <p:cNvPr id="167" name="Google Shape;167;p37"/>
          <p:cNvSpPr txBox="1"/>
          <p:nvPr>
            <p:ph idx="1" type="subTitle"/>
          </p:nvPr>
        </p:nvSpPr>
        <p:spPr>
          <a:xfrm>
            <a:off x="1371600" y="3043238"/>
            <a:ext cx="6400800" cy="565785"/>
          </a:xfrm>
          <a:prstGeom prst="rect">
            <a:avLst/>
          </a:prstGeom>
          <a:noFill/>
          <a:ln>
            <a:noFill/>
          </a:ln>
        </p:spPr>
        <p:txBody>
          <a:bodyPr anchorCtr="0" anchor="t" bIns="34275" lIns="68575" spcFirstLastPara="1" rIns="68575" wrap="square" tIns="3427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F6146"/>
              </a:buClr>
              <a:buSzPts val="18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人际关系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